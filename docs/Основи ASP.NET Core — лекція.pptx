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Lst>
  <p:notesMasterIdLst>
    <p:notesMasterId r:id="rId9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notesMaster" Target="notesMasters/notesMaster1.xml"/><Relationship Id="rId94" Type="http://schemas.openxmlformats.org/officeDocument/2006/relationships/presProps" Target="presProps.xml"/><Relationship Id="rId95" Type="http://schemas.openxmlformats.org/officeDocument/2006/relationships/viewProps" Target="viewProps.xml"/><Relationship Id="rId96" Type="http://schemas.openxmlformats.org/officeDocument/2006/relationships/theme" Target="theme/theme1.xml"/><Relationship Id="rId9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Курс «Основи ASP.NET Core». Мета — не завчити набір рецептів, а зрозуміти, як улаштована платформа: що відбувається з HTTP-запитом від моменту, коли його прийняв сервер, до моменту, коли клієнт отримав відповідь. Наскрізна ідея курсу — конвеєр обробки запиту (middleware) і поверх нього — REST-архітектура. Усі концепції підкріплені 21 прикладом в одному Visual Studio solution: один проєкт = один урок, кожен запускається окремо, має коментований код, файл NOTES.md з теорією та .http-файл із готовими запитами.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Курс складається з кількох шарів. Перший — платформа: з чого взагалі складається веб-застосунок на .NET (хост, HTTP-сервер Kestrel, конвеєр middleware) і як він стартує. Другий — сам конвеєр: що таке middleware, у якому порядку вони виконуються, як розгалужувати конвеєр і куди вписувати наскрізні задачі (обробку помилок, CORS, логування). Третій — два способи оголошувати обробники запитів: Minimal API та класичні MVC-контролери; обидва працюють поверх того самого конвеєра. Четвертий — REST: як проєктувати ресурси, коди відповідей, представлення, версії. І нарешті — якість: документація OpenAPI, інтеграційні тести, базова безпека з JWT.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Матеріал поділено на дев'ять модулів. Модулі 1–2 дають головну картину: застосунок = хост + сервер + конвеєр. Модуль 3 — Dependency Injection і конфігурація, без яких не обходиться жоден компонент фреймворку. Модуль 4 показує, що маршрутизація — це теж middleware. Модулі 5–6 — Minimal API та MVC. Модуль 7 найбільший — це REST у деталях. Модуль 8 — документація і тести, модуль 9 — автентифікація й авторизація. Рекомендований порядок вивчення — саме такий: кожен наступний модуль спирається на попередні.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Щоб приклади читалися однаково, кожен Program.cs розбито на три фази життєвого циклу застосунку. Перша — реєстрація сервісів у DI-контейнері через builder.Services; тут ми лише наповнюємо контейнер, нічого ще не виконується. Друга починається після builder.Build(): це побудова конвеєра — виклики app.Use..., app.MapApiDocs тощо. Третя — оголошення endpoint-ів: app.MapGet, app.MapControllers. Завершує все app.Run(), який стартує сервер і блокує потік до сигналу зупинки. Крім коду, кожен проєкт має NOTES.md (теорія й посилання) та .http-файл, який можна відкрити прямо у Visual Studio або VS Code і надсилати запити.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Модуль 1. Тут ми відповідаємо на питання: що фізично відбувається, коли ми запускаємо dotnet run. Розберемо поняття Host, побачимо дві фази конфігурації застосунку, познайомимося з HTTP-сервером Kestrel і з поняттям середовища (Development /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 — це не тільки мова C#. Це платформа з трьох частин. CLR — середовище виконання: воно JIT-компілює проміжний код IL у машинний, керує пам'яттю через збирач сміття, забезпечує безпеку типів і багатопоточність. BCL — базові бібліотеки: колекції, LINQ, робота з файлами, HTTP-клієнт, JSON, абстракції DI. SDK — це компілятор Roslyn, система збірки MSBuild, консольний інструмент dotnet, шаблони проєктів і клієнт NuGet. ASP.NET Core — окремий фреймворк поверх усього цього, для веб і API. .NET 10 — це LTS-реліз (листопад 2025) з підтримкою на три роки; один і той самий runtime працює на Windows, Linux і macOS без перекомпіляції.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Класичний ASP.NET (2002–2015) був прив'язаний до Windows, IIS і System.Web. ASP.NET Core (2016) — це переписаний з нуля наступник. Крос-платформність: один код і один runtime усюди, зручно для контейнерів. Модульність: тонке ядро плюс NuGet-пакети, ви підключаєте лише те, що потрібно. DI від першого дня: контейнер вбудований, і сам фреймворк побудований на впровадженні залежностей. Єдина проста абстракція обробки запиту — конвеєр middleware — замість старих HTTP-модулів і handlers. Дуже висока продуктивність: Kestrel — один із найшвидших HTTP-серверів, асинхронність усюди, мінімум алокацій пам'яті. І уніфікований хост: той самий механізм для веб-застосунків, фонових воркерів, gRPC і Blazor.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Ключова ментальна модель усього курсу. Весь застосунок — це три вкладені шари. Зовнішній — Generic Host: він керує запуском і зупинкою, тримає DI-контейнер, конфігурацію, логування та фонові сервіси (IHostedService). Усередині нього — HTTP-сервер Kestrel: він приймає TCP-з'єднання, парсить HTTP і формує об'єкт HttpContext, у якому є все про запит. А всередині обробки кожного запиту працює конвеєр middleware: послідовність функцій, остання ланка якої — ваш endpoint. Коли ми пишемо app.UseCors() або app.MapGet(), ми конфігуруємо саме цей внутрішній шар.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WebApplication.CreateBuilder(args) повертає builder — на цьому етапі ми КОНФІГУРУЄМО. builder.Services — колекція для реєстрації сервісів у DI. builder.Configuration — уже готовий об'єкт конфігурації з усіма джерелами. builder.Logging — точка налаштування провайдерів логів. Потім викликаємо builder.Build() — і це межа: контейнер «запечатується», додати сервіс після цього не можна, буде виняток. Повертається app — тепер ми БУДУЄМО конвеєр (app.Use..., app.Map...) і зрештою запускаємо app.Run(), який блокує потік. Розділення навмисне: склад контейнера має бути детермінованим, тому фреймворк не дозволяє його змінювати після побудови.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CreateBuilder робить дуже багато роботи за замовчуванням, і це варто знати, щоб не дублювати. Конфігурація вже читається з appsettings.json, потім appsettings.{Environment}.json, потім User Secrets (у Development), потім зі змінних середовища, потім з аргументів командного рядка — кожне наступне джерело перекриває попередні. Логування вже налаштоване на Console, Debug і EventSource. Kestrel зареєстрований як сервер, є інтеграція з IIS. DI-контейнер створений. Середовище визначене зі змінної ASPNETCORE_ENVIRONMENT. І у Development автоматично вмикається валідація областей DI — вона ловить помилки часу життя сервісів на старті.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IHostApplicationLifetime дає три токени скасування: ApplicationStarted, ApplicationStopping, ApplicationStopped. Коли процес отримує SIGINT (Ctrl+C) або SIGTERM (від оркестратора), спрацьовує graceful shutdown: спершу ApplicationStopping, потім сервер перестає приймати нові з'єднання, але дає поточним запитам добігти до кінця — за замовчуванням до 30 секунд. Далі викликаються методи StopAsync усіх фонових сервісів у зворотному порядку реєстрації. Наприкінці спрацьовує ApplicationStopped і процес виходить. Коректне завершення критичне у Kubernetes: він надсилає SIGTERM перед видаленням поду, і якщо ви обірвете запити різко — користувачі побачать помилки.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Kestrel — крос-платформний HTTP-сервер за замовчуванням. У проді його зазвичай ставлять за реверс-проксі (Nginx, YARP, IIS), але він уміє і сам «дивитися в інтернет». На Windows є ще два варіанти: IIS in-process — модуль AspNetCoreModuleV2 хостить застосунок прямо всередині процесу w3wp.exe, це найшвидший варіант під IIS; IIS out-of-process — IIS працює лише проксі до Kestrel. І HTTP.sys — його обирають, коли потрібні Windows-автентифікація, спільне використання портів або kernel-mode кешування. Звідки береться адреса: спершу секція Kestrel:Endpoints у конфізі, потім змінна ASPNETCORE_URLS, потім виклик у коді, і лише при локальному dotnet run — launchSettings.json.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Середовище — це рядок зі змінної ASPNETCORE_ENVIRONMENT, за замовчуванням Production. Три стандартні значення: Development — детальна сторінка помилки зі стеком, Swagger/Scalar, seed-дані, гаряче перезавантаження; Staging — максимально наближене до проду для фінальних перевірок; Production — узагальнені помилки у форматі Problem Details, увімкнений HSTS, мінімум діагностики. Можна вводити власні назви, наприклад Testing, і перевіряти через env.IsEnvironment("Testing"). Головне правило безпеки: детальні сторінки помилок, документація-UI і тестові дані не повинні потрапляти в Production. launchSettings.json задає середовище лише локально й не потрапляє в опубліковану збірку.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Модуль закривають два приклади. У 01.Hosting.Minimal ми будуємо найменший осмислений застосунок на кілька рядків: бачимо builder → app → run, переконуємося, що DI, конфігурація й логування працюють з коробки, і руками ініціюємо graceful shutdown через endpoint. У 02.Hosting.ServersAndEnvironment налаштовуємо ліміти Kestrel, читаємо IWebHostEnvironment, показуємо, як appsettings.Production.json перекриває значення, і робимо endpoint, який існує лише в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Невеликий, але обов'язковий блок. REST будується на HTTP, тож перш ніж говорити про ресурси й дієслова, треба чітко розуміти, як улаштований HTTP-запит і відповідь, що означають родини кодів, і що таке stateless-взаємодія.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 — це текстовий протокол «запит — відповідь». У HTTP/1.1 він працює поверх TCP і справді читабельний; у HTTP/2 і HTTP/3 — бінарний і мультиплексований, але семантика та сама. Запит складається з рядка запиту (метод, шлях, версія), заголовків (Host, Accept, Authorization, Content-Type), порожнього рядка й необов'язкового тіла. Відповідь — з рядка статусу (версія, код, текстова причина), заголовків (Content-Type, Location, ETag, Cache-Control), порожнього рядка й тіла. У ASP.NET Core усе це загорнуто в HttpContext: HttpContext.Request і HttpContext.Response.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Методи мають дві важливі властивості. Safe — метод не змінює стан ресурсу (GET, HEAD, OPTIONS). Idempotent — повторний однаковий виклик залишає систему в тому самому стані. GET, HEAD, OPTIONS, PUT і DELETE — ідемпотентні; POST і PATCH — ні. Практичні наслідки: DELETE вже видаленого ресурсу — це 204 або 404, але ніколи 500, бо клієнт просив «щоб цього не було», і цього немає. PUT можна безпечно ретраїти при обриві мережі. А POST при ретраї створить дублікат — тому для критичних операцій використовують ключ Idempotency-Key. PATCH за замовчуванням не ідемпотентний, бо описує зміну відносно поточного стану.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Статус-коди поділені на п'ять родин за першою цифрою. 1xx — інформаційні, майже не використовуються прикладним кодом. 2xx — успіх: 200 OK з тілом, 201 Created для створення (обов'язково з заголовком Location на новий ресурс), 204 No Content для успіху без тіла. 3xx — перенаправлення й кеш: 301/302 і особливо 304 Not Modified для умовних запитів. 4xx — помилка клієнта: тут найбільше кодів, і їх треба розрізняти. 5xx — помилка сервера. Два поширені непорозуміння: 401 означає «ти не представився», а 403 — «я тебе впізнав, але доступу немає»; 404 — «ресурсу немає», а 405 — «ресурс є, але цей метод для нього не підтримується».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HttpContext — це один об'єкт, у якому зібрано все про поточний запит, і він живе рівно один запит. Request дає метод, шлях, query, заголовки, тіло як потік і розібрані значення маршруту. Response — код статусу, заголовки, тіло, методи WriteAsync/WriteAsJsonAsync і прапорець HasStarted (після нього заголовки вже незмінні). User — це ClaimsPrincipal, тобто хто виконує запит, заповнюється після автентифікації. Items — словник на час запиту, зручно передавати дані між middleware та endpoint. RequestServices — DI-провайдер поточної області. Features — низькорівневі можливості сервера. Stateless означає, що сервер не тримає жодної сесії між запитами: кожен запит самодостатній, у ньому є все потрібне.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Модуль 2 — серце курсу. Тут ми розберемо, що таке middleware технічно, як делегати вкладаються один в одного, чому код до await next і після await next виконується в різні моменти, що таке коротке замикання, і чому порядок реєстрації middleware — це найпоширеніше джерело складновловимих багів.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Головна ідея ASP.NET Core в одному реченні: запит проходить крізь послідовність middleware, як крізь шари цибулі, доходить до endpoint і повертається назад тим самим шляхом. Кожен middleware — це делегат, який отримує HttpContext і посилання на «наступний» делегат next. Middleware може виконати код на вході (до виклику next), передати керування далі, виконати код на виході (після next, коли внутрішні шари вже відпрацювали), або взагалі не викликати next — і тоді решта конвеєра, включно з endpoint, не виконається. Це зветься коротке замикання і використовується для авторизації, кешування, обмеження частоти запитів.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Технічно конвеєр — це вкладені делегати. app.Use(A); app.Use(B); app.Run(C) розгортається в A(ctx, () =&gt; B(ctx, () =&gt; C(ctx))). Виклик await next(context) — це і є виклик наступної «цибулини». Тому код, який ви написали ДО next, виконується на вході, у порядку реєстрації; а код ПІСЛЯ next — на виході, у зворотному порядку, коли стек розкручується назад. app.Use — це звичайний middleware, який МОЖЕ передати керування далі. app.Run — термінальний: у нього немає next, конвеєр завершується тут. І app.Map(path, ...) створює під-конвеєр за префіксом шляху.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 моделі поведінки middleware. Перша — наскрізний: просто await next(context), нічого не робимо, керування йде далі. Друга — обробка входу або виходу: код до чи після next; так реалізують логування, вимірювання часу, додавання заголовків до відповіді. Третя — коротке замикання: не викликати next, самому сформувати відповідь; endpoint не виконається. Важлива деталь про заголовки: після того, як почалося тіло відповіді (Response.HasStarted стало true), заголовки й код статусу змінити вже пізно. Надійний спосіб дописати заголовок з обробки на виході — Response.OnStarting(callback): колбек спрацює безпосередньо перед відправкою заголовків, коли ще нічого не «поїхало».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Порядок реєстрації middleware дорівнює порядку виконання на вході — і від нього критично залежить коректність. Канонічний порядок такий: спершу обробка винятків (щоб огорнути все нижче), потім HSTS і редирект на HTTPS, потім статичні файли (до маршрутизації, щоб не робити зайвої роботи), потім UseRouting, потім CORS, потім автентифікація й авторизація, і нарешті endpoint-и. Типові помилки: UseCors після endpoint-ів — заголовки CORS не додаються; UseAuthorization до UseRouting — атрибут [Authorize] не бачить метаданих endpoint і не працює як слід; UseExceptionHandler не першим — він не ловить винятки з middleware, що стоять над ним.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Коли middleware треба перевикористовувати або покрити тестами, його виносять у клас. Є два стилі. «За конвенцією»: звичайний клас, конструктор із першим параметром RequestDelegate, метод InvokeAsync(HttpContext). Екземпляр створюється ОДИН раз на весь застосунок, тому в конструктор можна брати лише Singleton-залежності, а Scoped — параметром InvokeAsync. Другий стиль — реалізувати інтерфейс IMiddleware: тоді екземпляр створюється на КОЖЕН запит, у конструктор можна брати Scoped-залежності, але клас треба обов'язково зареєструвати в DI. І патерн UseXxx() — метод-розширення, що ховає app.UseMiddleware&lt;T&gt;() за зрозумілою назвою, як UseRouting чи UseCors.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Іноді частині запитів потрібен інший набір middleware. Три інструменти. app.Map(path, branch) — гілка за префіксом шляху, ТЕРМІНАЛЬНА: назад в основний конвеєр не повертається, і обрізає префікс — усередині гілки Request.Path вже без нього, а Request.PathBase дорівнює префіксу. app.MapWhen(predicate, branch) — те саме, але умова довільна (заголовок, query), PathBase не чіпає. app.UseWhen(predicate, branch) — умовна ВСТАВКА middleware: якщо гілка не зробила коротке замикання, керування ПОВЕРТАЄТЬСЯ в основний конвеєр. Це і є ключова відмінність: Map завершує обробку сам, UseWhen лише додає крок.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Наскрізні задачі — це те, що потрібно майже кожному застосунку, і все це реалізовано як middleware. UseExceptionHandler перехоплює необроблені винятки й перетворює їх на відповідь у форматі Problem Details (RFC 9457). UseStatusCodePages додає тіло для «голих» статус-кодів на кшталт 404 без тексту. UseDefaultFiles + UseStaticFiles віддають файли з wwwroot і ставляться до маршрутизації. UseCors дозволяє браузерному JavaScript звертатися до вашого API з іншого origin — важливо розуміти, що CORS це послаблення обмеження браузера, а не захист сервера. Ще є стиснення й кешування відповідей.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Чотири приклади модуля. 03.Pipeline.FromScratch — конвеєр без маршрутизації взагалі: Use, Run, next, обробка входу й виходу, коротке замикання. 04.Pipeline.CustomMiddleware — два стилі middleware-класів і патерн UseXxx(). 05.Pipeline.CrossCutting — обробка помилок, ProblemDetails, статичні файли, CORS, і головне — порядок. 06.Pipeline.Branching — Map, MapWhen, UseWhen на живому прикладі, з демонстрацією повернення в основний конвеєр.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Inversion of Control — це принцип: клас не створює свої залежності сам, їх йому «вручають» ззовні. Проблема прямого підходу: якщо всередині класу написати new SqlCatalog(), клас стає жорстко зв'язаним з конкретною реалізацією, його неможливо ані підмінити, ані нормально протестувати. Рішення: клас оголошує потребу в конструкторі — наприклад, приймає ICatalog — а контейнер цю потребу задовольняє. Це і є Dependency Inversion: залежність від абстракції, а не від реалізації. Вигоди — тестованість, легка заміна реалізації, і єдине місце, де налаштовується час життя об'єктів. Увесь ASP.NET Core побудований на DI: контролери, middleware, Options, логери — все резолвиться з контейнера.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Сервіси реєструють у builder.Services до виклику Build(). Три основні методи: AddSingleton, AddScoped, AddTransient — відрізняються часом життя, про це наступні слайди. Стандартна практика — не розкидати реєстрації по Program.cs, а інкапсулювати їх у метод-розширення виду AddCatalog(), який усередині робить свої AddSingleton і повертає колекцію для ланцюжка. Саме так побудований увесь фреймворк: AddControllers(), AddAuthentication(), AddOpenApi() — це той самий патерн. Резолвинг відбувається автоматично: контейнер дивиться на параметри конструктора класу або параметри хендлера Minimal API й підставляє потрібні екземпляри. Явний атрибут [FromServices] у Minimal API зазвичай не потрібен.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 часи життя. Transient — новий екземпляр створюється при КОЖНОМУ впровадженні, навіть двічі в межах одного HTTP-запиту. Scoped — один екземпляр на область, а область у веб-застосунку — це один HTTP-запит; ASP.NET Core створює нову DI-область на кожен запит і звільняє її наприкінці. Singleton — один екземпляр на весь застосунок, від старту до зупинки. На прикладі це видно так: якщо кожен сервіс має унікальний Guid, то в межах одного запиту два Transient матимуть різні Guid, два Scoped — однаковий, а Singleton — той самий Guid завжди. Перезавантажте сторінку — Scoped зміниться, Singleton ні.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Як обирати. Transient — для легких сервісів без стану: мапери, валідатори, хелпери. Scoped — для всього, що працює з даними в межах запиту: DbContext, репозиторії, «одиниця роботи», об'єкт поточного користувача. Singleton — для інфраструктури: кеш, конфігурація, пули з'єднань, фабрика HttpClient. Практичне правило за замовчуванням: Scoped для роботи з даними, Singleton для інфраструктури без прив'язки до запиту, Transient для дрібних stateless-хелперів.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Captive dependency — «полонена залежність». Якщо Singleton у конструкторі приймає Scoped або Transient сервіс, то цей «коротший» сервіс проживе стільки ж, скільки Singleton — фактично стане Singleton. Наслідки погані: витоки пам'яті, гонки даних, застарілі значення, ObjectDisposedException на DbContext, який уже мав бути звільнений. .NET захищає від цього: у Development хост валідує області на старті й кидає виняток «Cannot consume scoped service ... from singleton». Якщо Singleton чи фоновому сервісу справді потрібен Scoped — треба впровадити IServiceScopeFactory, у потрібний момент викликати CreateScope() і резолвити сервіс уже з цієї області. І окремий антипатерн — виклик BuildServiceProvider() всередині Program.cs: він створює ДРУГИЙ контейнер з дублями синглтонів.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Конфігурація збирається з кількох провайдерів, і порядок має значення: кожне наступне джерело перекриває попередні за однаковим ключем. Порядок такий: appsettings.json, потім appsettings.{Environment}.json, потім User Secrets (тільки в Development, зберігаються поза репозиторієм), потім змінні середовища (роздільник рівнів — подвійне підкреслення, Catalog__PageSize), потім аргументи командного рядка (--Catalog:PageSize=50). Щоб побачити підсумкове значення кожного ключа й дізнатися, з якого саме джерела воно прийшло, є метод ((IConfigurationRoot)config).GetDebugView() — дуже корисно при діагностиці «чому в проді інше значення».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Патерн Options дозволяє не тягати IConfiguration по всьому коду й не читати рядкові ключі вручну. Ви один раз прив'язуєте секцію конфігурації до типізованого класу — і далі впроваджуєте IOptions&lt;T&gt;. Є три інтерфейси. IOptions&lt;T&gt; — Singleton, значення обчислюється один раз і не змінюється; підходить для більшості випадків. IOptionsSnapshot&lt;T&gt; — Scoped, перечитується раз на запит, тож зміни в appsettings.json підхопляться на наступному запиті; у middleware чи Singleton не інжектиться. IOptionsMonitor&lt;T&gt; — Singleton, але має CurrentValue й подію OnChange; це єдиний варіант «живих» опцій для middleware й фонових сервісів. Валідацію додають так: AddOptions&lt;T&gt;().Bind(section).ValidateDataAnnotations().ValidateOnStart() — і тоді помилкова конфігурація впаде на старті, а не при першому зверненні вже в проді.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Два приклади. 07.DependencyInjection.Lifetimes — три сервіси з унікальним Guid, і ми порівнюємо їхні значення в middleware та в endpoint у межах одного запиту й між запитами; окремо показуємо коректне використання Scoped із Singleton через IServiceScopeFactory. 08.Configuration.Options — ланцюжок провайдерів, GetDebugView, і три endpoint-и, що демонструють різницю між IOptions, IOptionsSnapshot та IOptionsMonitor: змінюємо appsettings.json під час роботи й дивимося, який із них оновився.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Маршрутизація в ASP.NET Core — двоетапна, і сама складається з middleware. UseRouting дивиться на запит, співставляє його з таблицею маршрутів і кладе обраний Endpoint у HttpContext — але ще НЕ виконує його. Між UseRouting і виконанням можна вставити свій middleware, який уже знає, який endpoint обрано (через context.GetEndpoint()) — це використовують, наприклад, для авторизації за метаданими. Друга фаза — UseEndpoints — власне виконує обраний endpoint. У Minimal API та при MapControllers обидва виклики додаються неявно, писати їх руками треба лише коли потрібно вклинитися між фазами.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Шаблон маршруту складається з літеральних сегментів і параметрів у фігурних дужках. {id} — обов'язковий параметр. {id:int} — з обмеженням типу: якщо сегмент не парситься як int, маршрут просто не підходить, і клієнт отримає 404, а не 400. {page:int=1} — значення за замовчуванням. {slug?} — необов'язковий. {**path} — catch-all, захоплює решту шляху разом зі слешами. Поширені обмеження: int, guid, bool, datetime, alpha, minlength(n), range(a,b), regex(...). Важливо: обмеження — це фільтр СПІВСТАВЛЕННЯ, а не валідація. І пріоритет: конкретніший шаблон виграє — /products/featured перекриє /products/{id} без будь-яких додаткових налаштувань.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Різниця, яку часто плутають. Шлях ідентифікує РЕСУРС: /products/42, /categories/laptops, /products/42/reviews. Query string — це параметри операції над колекцією: ?q=hub&amp;page=2&amp;sort=price — фільтр, сортування, пагінація. Правило: не кладіть у шлях те, що не є частиною ідентичності ресурсу. І про генерацію URL: ніколи не склеюйте адреси рядками. Використовуйте LinkGenerator або IUrlHelper — вони будують URL за ІМЕНЕМ маршруту (яке задається через .WithName) і параметрами, коректно враховуючи PathBase, кодування й версіонування.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Приклад 09.Routing.Endpoints демонструє все перелічене на живих endpoint-ах: обмеження типів, значення за замовчуванням, catch-all, пріоритет літеральних сегментів, генерацію посилань через LinkGenerator, і middleware, вставлений між фазами маршрутизації, який дописує заголовок з іменем обраного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Minimal API — компактний спосіб оголошувати endpoint-и без класів-контролерів. Хендлер — це лямбда або звичайний метод. MapGet, MapPost, MapPut, MapDelete приймають шаблон і хендлер. MapGroup створює групу з спільним префіксом, спільними метаданими, фільтрами й політиками. Результати повертають через фабрику Results: Results.Ok(x), Results.NotFound(), Results.Created(uri, body), Results.NoContent(), Results.BadRequest(msg) — усі повертають IResult, який Minimal API виконає: серіалізує тіло, виставить код і заголовки. Наступний рівень точності — TypedResults й union-тип виду Results&lt;Ok&lt;Product&gt;, NotFound&gt; як тип повернення: тоді компілятор стежить за варіантами, а OpenAPI-документ отримує всі можливі коди без ручних атрибутів.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Звідки Minimal API бере значення для кожного параметра хендлера. Якщо ім'я параметра збігається із сегментом маршруту — з route values. Якщо це простий тип і його немає в маршруті — з query string. Якщо це складний тип — з тіла запиту (JSON). Якщо тип зареєстрований у DI — з контейнера. Спеціальні типи (HttpContext, ClaimsPrincipal, CancellationToken) підставляються завжди напряму. Важлива деталь: тіло запиту можна прочитати лише ОДИН раз і лише для ОДНОГО параметра.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Ті самі джерела в таблиці, плюс явні атрибути, коли треба перевизначити правило: [FromRoute], [FromQuery], [FromBody], [FromHeader(Name="...")], [FromServices]. Колекції з query читаються так: ?tags=a&amp;tags=b дає string[]. [AsParameters] розкладає одну структуру на кілька параметрів із різних джерел одразу. А для власних типів достатньо реалізувати інтерфейс IParsable&lt;T&gt; зі статичним методом TryParse — і тоді ваш тип можна прив'язувати з route чи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Дві стратегії валідації вводу. Перша — вбудована, з'явилася в .NET 10: викликаєте AddValidation(), і моделі з атрибутами DataAnnotations (Required, Range, StringLength) перевіряються ДО виклику хендлера; при помилці автоматично повертається 400 у форматі application/problem+json з полем errors. Друга — endpoint filter через AddEndpointFilter: це «middleware рівня endpoint», він бачить уже зв'язані аргументи й потрібен для правил, яких немає в атрибутах — наприклад, звірити, що вказана категорія існує в базі. І пам'ятайте: якщо тип узагалі не зв'язався (int отримав "abc") — це помилка ПРИВ'ЯЗКИ, вона дає 400 ще раніше за валідацію, з іншим тілом.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Два приклади. 10.MinimalApi.Crud — повний набір операцій над ресурсом: MapGroup, Results, правильні коди відповідей, заголовок Location для 201, демонстрація ідемпотентності PUT і DELETE. 11.MinimalApi.BindingAndValidation — усі джерела прив'язки параметрів по черзі, [AsParameters], і дві стратегії валідації: автоматична через AddValidation та ручна крос-польова через endpoint 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Контролери — це альтернатива Minimal API. Той самий конвеєр, той самий DI, інша «форма» оголошення endpoint-ів. Коли вони доречні: багато споріднених endpoint-ів зі спільною поведінкою, потрібні фільтри й конвенції, успадкування, великі команди, яким звичніша структура «клас = ресурс». AddControllers() реєструє інфраструктуру MVC: активацію контролерів, model binding, форматери System.Text.Json, ApiExplorer. MapControllers() додає знайдені дії до таблиці маршрутів. Для API успадковують ControllerBase (без підтримки Razor View); повний Controller потрібен лише коли рендеряться HTML-уявлення.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Атрибут [ApiController] вмикає набір зручностей для API. Автоматична відповідь 400 з ValidationProblemDetails, коли ModelState невалідна — ще ДО входу в тіло методу. Інференс джерела прив'язки: складний тип автоматично береться з тіла. Обгортання проблемних статус-кодів у ProblemDetails. І вимога атрибутної маршрутизації — без [Route] буде виняток на старті. Про типи повернення: ActionResult&lt;T&gt; дозволяє повернути АБО модель (це буде 200), АБО інший результат — NotFound(), BadRequest(). IActionResult — лише результати, без «типу успіху» для OpenAPI. Просто T — завжди 200. CreatedAtAction будує 201 із заголовком Location за іменем дії, а не конкатенацією рядків.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Фільтри MVC — це «конвеєр усередині конвеєра», специфічний для MVC. Головна відмінність від middleware: фільтр знає про обрану дію, її аргументи та результат. П'ять типів у порядку від зовнішнього до внутрішнього: Authorization filter (найраніше, пускає або ні), Resource filter (після авторизації, ще до model binding — тут роблять кеш чи коротке замикання), потім model binding, потім Action filter (навколо методу дії, бачить ActionArguments), потім сама дія, потім Result filter (навколо серіалізації відповіді). Exception filter огортає Action-фільтри й саму дію — це єдине місце обробки винятків рівня MVC.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Коли що обирати — фільтр чи middleware. Middleware працює для всього конвеєра й не знає про дію та модель; порядок — за реєстрацією. Фільтр працює лише для MVC-запитів, знає ActionDescriptor, ActionArguments і Result; порядок визначається типом, властивістю Order і рівнем застосування (глобальний, на контролер, на дію). Правило: наскрізне й не-MVC (логування всіх запитів, стиснення) — це middleware. Специфічне для дій (конверт відповіді, валідація конкретних аргументів, кеш результату дії) — це фільтр. [ServiceFilter] бере екземпляр фільтра з DI, [TypeFilter] створює його на льоту.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Порівняння двох стилів. Minimal API: менше церемоній, швидкий старт, endpoint — це лямбда або метод плюс MapGroup, є endpoint filters; ідеально для малих і середніх API та мікросервісів. MVC-контролери: клас = ресурс, є успадкування, конвеєр з п'яти типів фільтрів, model binding providers, content negotiation з коробки; звичніше великим командам і легасі-кодовим базам. Головне — це не «або-або»: обидва підходи працюють поверх того самого конвеєра, і їх можна вільно поєднувати в одному застосунку.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Два приклади. 12.Mvc.Controllers — той самий CRUD, що в модулі 5, але на контролерах: [ApiController], атрибутна маршрутизація, ActionResult&lt;T&gt;, ручне додавання помилки в ModelState, CreatedAtAction. 13.Mvc.Filters — усі типи фільтрів, кожен дописує свій крок у спільний список, і у відповіді видно РЕАЛЬНИЙ порядок їх виконання; окремо — Exception filter, що перетворює виняток на 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 — це REpresentational State Transfer, архітектурний СТИЛЬ, який Рой Філдінг описав у дисертації 2000 року, розділ 5. Це саме стиль, а не протокол: набір обмежень на архітектуру розподіленої системи. HTTP — найпоширеніше, але не єдине його втілення. Ключові поняття. Ресурс — будь-що, що можна назвати: товар, замовлення, звіт; має стабільний URI-ідентифікатор. Представлення — клієнт і сервер обмінюються знімками стану ресурсу у форматі JSON чи XML, а не самими внутрішніми об'єктами. Стан застосунку рухається між клієнтом і сервером через ці представлення та посилання в них.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Шість обмежень REST. Клієнт-сервер: розділення відповідальності, UI еволюціонує окремо від зберігання даних. Без стану (stateless): кожен запит містить усе потрібне, сервер не тримає сесію — це дає горизонтальну масштабованість і надійність. Кешованість: відповідь явно позначає, чи можна її кешувати. Єдиний інтерфейс: ресурси плюс стандартні дієслова плюс представлення, за бажанням плюс гіпермедіа — це головне, що відрізняє REST. Багатошаровість: проксі, шлюзи й балансувальники прозорі для клієнта. Code-on-demand: сервер може віддати виконуваний код клієнту — єдине необов'язкове обмеження.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 різні поняття, які легко злити в одне. Ресурс — це абстракція за URI, наприклад /products/42. Представлення — конкретний знімок його стану в певний момент. Формат — це кодування представлення: JSON, XML. Один ресурс може мати кілька представлень і кілька форматів одночасно. Клієнт вказує бажаний формат заголовком Accept: application/xml — і отримує той самий ресурс, лише інакше закодований. У прикладі 15 ми навмисно робимо окремий клас представлення, відділений від доменної сутності — бо клієнт не повинен диктувати серверу внутрішню структуру.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Ідемпотентність детально. Це властивість: повторний однаковий запит не змінює стан системи ДОДАТКОВО. GET, HEAD, OPTIONS — і safe, і idempotent, читання взагалі нічого не змінює. PUT — idempotent: надіслати те саме повне представлення двічі означає двічі привести ресурс до того самого цільового стану, різниці немає. DELETE — idempotent: видалення вже видаленого повертає 204 або 404, бо клієнт хотів «щоб ресурсу не було», і його немає. POST — НЕ idempotent: кожен виклик створює новий ресурс. Навіщо це на практиці: мережа ненадійна, клієнт може не отримати відповідь і повторити запит — ідемпотентні методи безпечно ретраїти автоматично, POST — ні.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Мінімальний набір кодів, який має вміти віддавати будь-який CRUD API. 200/201/204 для різних видів успіху. 400 — синтаксично невірний запит або помилка прив'язки. 401 і 403 — не автентифікований і немає прав. 404 — ресурсу немає, 405 — метод не підтримується для цього URI (тоді сервер має віддати заголовок Allow зі списком дозволених методів). 409 Conflict — конфлікт стану, наприклад дубль унікального ключа або спроба записати поверх новішої версії. 412 і 428 — стосуються умовних запитів з ETag. 415 — сервер не вміє читати такий Content-Type, 422 — синтаксис коректний, а семантика ні. 429 — забагато запитів. 500 і 503 — помилка й недоступність сервера.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Модель зрілості Річардсона показує, наскільки API використовує можливості HTTP. Рівень 0 — один URL, один метод (зазвичай POST), фактично RPC поверх HTTP; так виглядає SOAP. Рівень 1 — з'явилося багато ресурсів з різними URI, але метод усе ще один. Рівень 2 — задіяні HTTP-дієслова й осмислені коди відповідей; на цьому рівні живе переважна більшість того, що називають «REST API», і цього цілком достатньо. Рівень 3 — додається гіпермедіа: клієнт рухається по API за посиланнями у відповідях. Рівень 3 справді корисний там, де робочі процеси складні й змінюються — замовлення, документообіг, платежі.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Практичні правила дизайну URI. Ресурс — це іменник, а не дієслово: /products/42, а не /getProduct?id=42. Колекція в множині — /products; елемент — /products/42; відношення через вкладеність — /products/42/reviews. Дії, які не лягають у CRUD, оформлюють як під-ресурс стану: POST /orders/42/cancellation читабельніше за POST /orders/42/cancel. Фільтри, сортування й пагінація — завжди в query string. І стабільність: URI ресурсу не повинен «стрибати» — версіонуйте контракт відповіді, а не ідентичність ресурсу.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Приклад 14.Rest.ResourcesAndVerbs збирає докупи всю семантику: правильні дієслова для кожної операції, коректні коди відповідей, заголовок Location для створення, і практична демонстрація ідемпотентності — виконуємо POST двічі й отримуємо два ресурси, виконуємо PUT і DELETE двічі й отримуємо той самий стан.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Друга частина модуля REST — деталі, які відрізняють акуратний API від абияк зробленого. Content negotiation, умовні запити з ETag, оптимістичне блокування, два формати PATCH, пагінація колекцій, єдиний формат помилок, версіонування й гіпермедіа.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negotiation — це коли один ресурс віддається в різних форматах залежно від заголовка Accept. Клієнт пише Accept: application/xml, сервер обирає відповідний output formatter; за замовчуванням MVC вміє JSON, XML підключається окремо. Якщо жоден форматер не підходить і ввімкнено ReturnHttpNotAcceptable — сервер віддає 406 Not Acceptable замість того, щоб мовчки повернути JSON. Аналогічно для тіла запиту працює Content-Type й input formatter, а атрибут [Consumes] звужує список прийнятних типів. Налаштування серіалізації JSON — через AddJsonOptions: іменування властивостей, ігнорування null, формат дат.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Умовні запити на основі ETag. ETag — це «версійний штамп» представлення, який сервер повертає в заголовку відповіді. Далі два сценарії. Кешування: клієнт зберіг копію й наступного разу шле If-None-Match з цим ETag; якщо на сервері та сама версія — відповідь 304 Not Modified без тіла, економимо трафік. Оптимістичне блокування: клієнт редагує ресурс і шле зміну з заголовком If-Match; якщо на сервері вже інша версія — 412 Precondition Failed. ETag виду W/"..." — слабкий (семантична еквівалентність), "..." — сильний (побайтова).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Проблема «lost update» — втрачене оновлення. Двоє клієнтів, A і B, читають версію 1 ресурсу. A зберігає свою зміну. B зберігає свою поверх — і зміни A мовчки зникли, ніхто навіть не дізнався. Рішення — оптимістичне блокування: GET повертає ETag поточної версії; PUT або PATCH клієнт зобов'язаний надіслати з заголовком If-Match; якщо між читанням і записом хтось інший змінив ресурс, ETag не збігається — сервер відповідає 412, і другий клієнт мусить отримати свіжу версію й повторити. «Оптимістичне» — бо ми не блокуємо ресурс на час редагування, а лише перевіряємо версію в момент запису. Сервер може вимагати If-Match завжди — тоді запит без нього отримає 428.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PATCH описує ЧАСТКОВУ зміну, і для цього є два стандарти. JSON Patch (RFC 6902): Content-Type application/json-patch+json, тіло — СПИСОК операцій, наприклад [{"op":"replace","path":"/price","value":42}]; підтримує add, remove, replace, move, copy і навіть test; точкові зміни в масивах за індексом. JSON Merge Patch (RFC 7386): Content-Type application/merge-patch+json, тіло — «частковий об'єкт» виду {"price":42}; простіше, лише присвоєння, значення null означає «видалити поле», масиви замінюються цілком. У .NET 10 для JSON Patch є пакет Microsoft.AspNetCore.JsonPatch.SystemTextJson — без залежності від Newtonsoft.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Пагінація колекцій — два підходи. Offset-based (page + pageSize): просто реалізувати, дозволяє «перейти на сторінку N», але нестабільний — якщо між запитами хтось вставив рядок, сторінки зсунуться, і на великих даних OFFSET у базі повільний. Cursor-based (keyset): клієнт передає «курсор» останнього побаченого елемента; стабільний при вставках, швидкий на великих обсягах, ідеальний для нескінченного скролу, але не дає стрибнути на довільну сторінку. Обов'язково задавайте максимальний pageSize. І сортування — лише за білим списком дозволених полів; ніколи не підставляйте поле з query напряму в OrderBy за рефлексією.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Details (RFC 9457) — стандартний формат тіла помилки з Content-Type application/problem+json. Поля: type (посилання на опис типу помилки), title (людиночитний заголовок), status (код), instance (URI цього запиту), і за потреби довільні розширення — тут ми додали errors зі списком проблем по полях і traceId для кореляції з логами. Викликаєте AddProblemDetails() — і фреймворк починає віддавати цей формат для всіх своїх 4xx/5xx. Вручну — Results.ValidationProblem(errors) або Results.Problem(...). Головна вигода: один формат помилок на весь API, тож клієнт пише обробку помилок один раз.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Публічний API — це контракт. Зміна форми відповіді, видалення поля, інша семантика — це breaking change, і замість того щоб «зламати всіх», вводять нову версію, а стару якийсь час підтримують паралельно. Пакет Asp.Versioning дає чотири способи вказати версію: сегмент URL (/v2/products) — видно й кешується, але URI «стрибає»; query string (?api-version=2.0); заголовок (X-Api-Version); media type (Accept: application/json;v=2.0) — найбільш «RESTful», але найскладніший для клієнтів. Можна ввімкнути кілька способів одночасно. ReportApiVersions додає у відповідь заголовки api-supported-versions і api-deprecated-versions. Адитивні зміни — нове необов'язкове поле, новий endpoint — це НЕ breaking, версію піднімати не треба.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HATEOAS — Hypermedia As The Engine Of Application State, рівень 3 Річардсона. Ідея: клієнт не «зашиває» URL-и, а рухається по API за посиланнями, які сервер повертає у відповіді в полі _links. Ключове — набір доступних посилань залежить від СТАНУ ресурсу: порожній кошик не пропонує посилання «оформити замовлення», а непорожній — пропонує. Вигоди: менша зв'язність, дозволені переходи визначає сервер в одному місці, API можна еволюціонувати без оновлення клієнтів. Формати: HAL (_links, _embedded), JSON:API, Siren, Hydra. Навіть без повного HATEOAS корисно додавати self-посилання й next/prev для колекцій — це дешево й одразу зменшує зв'язність.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Чотири приклади. 15.Rest.Representations — content negotiation JSON/XML, ETag, If-None-Match, If-Match, JSON Patch. 16.Rest.CollectionsAndErrors — пагінація, фільтр, конверт відповіді, заголовок X-Total-Count, ProblemDetails для помилок колекції. 17.Rest.Versioning — усі чотири способи вказати версію, v1 і v2 одного ресурсу одночасно, позначення застарілої версії. 18.Rest.Hypermedia — поле _links, і те, як стан кошика змінює набір доступних дій.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OpenAPI — це машиночитний опис HTTP API: шляхи, методи, параметри, схеми запиту й відповіді, коди, механізми безпеки. Раніше називався Swagger Specification. Навіщо він потрібен: з нього генерують інтерактивну документацію, клієнтські SDK на різних мовах, моки, контрактні тести в CI, його імпортують у Postman чи API-шлюз. У .NET 10 документ генерується вбудовано: AddOpenApi() у сервісах і MapOpenApi() у конвеєрі віддають /openapi/v1.json без жодних сторонніх пакетів. Ключова думка: документ — це джерело правди, а переглядачів (UI) поверх нього може бути скільки завгодно й одночасно.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Звідки береться вміст OpenAPI-документа. Шляхи, методи й параметри — з таблиці маршрутів. Схеми запиту й відповіді — з типів параметрів і типу результату; саме тому TypedResults й union-типи такі корисні. Коди відповідей — з union-типів результату, з Produces&lt;T&gt;() або атрибутів [ProducesResponseType]. Summary й description — з .WithSummary(), .WithDescription() або XML-коментарів /// над методами. Теги для групування — з .WithTags(). А приклади тіл, блок Info та опис безпеки додають через трансформери: AddDocumentTransformer, AddSchemaTransformer, AddOperationTransformer.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Переглядачі OpenAPI. Swagger UI (пакет Swashbuckle) — класика, впізнаваний вигляд, є кнопка «Try it out» для виконання запитів прямо з браузера. Scalar (пакет Scalar.AspNetCore) — сучасніший, генерує готові сніпети коду на curl, C#, JavaScript; саме на нього орієнтуються шаблони .NET 9 і новіші. Redoc — документо-орієнтований, гарний для публічних API, але лише для читання, без «Try it out». У курсі приклад 19 підключає Swagger UI на /swagger і Scalar на /scalar паралельно — обидва читають той самий /openapi/v1.json.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Тестування. Піраміда тестів: багато швидких unit-тестів на логіку методів, менше інтеграційних, зовсім небагато повільних end-to-end. Для API золота середина — інтеграційні тести через WebApplicationFactory&lt;TEntryPoint&gt;: він піднімає РЕАЛЬНИЙ застосунок у пам'яті — весь конвеєр, DI, маршрутизацію, серіалізацію — і дає HttpClient, який звертається до нього без справжньої мережі. Це найдешевший спосіб перевірити поведінку endpoint-ів «як бачить клієнт»: коди відповідей, заголовки, тіла. TEntryPoint — це клас Program цільового проєкту, тому в ньому додають public partial class Program. Через WithWebHostBuilder можна підмінити будь-яку залежність на фейк.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Два приклади. 19.OpenApi.Swagger — AddOpenApi з трансформерами (правимо Info, додаємо приклад тіла), і два UI паралельно: Swagger UI та Scalar над одним документом. 20.Testing — п'ять інтеграційних тестів проти прикладу 14: перевіряємо, що колекція повертає 200, неіснуючий ресурс — 404, створення дає 201 із коректним Location, невалідне тіло — 400, а DELETE ідемпотентний.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Останній модуль — базова безпека. Розберемо різницю між автентифікацією й авторизацією, структуру JWT-токена, схему Bearer, і механізми авторизації: [Authorize], політики, ролі, claims. Наголос — це саме основи; повноцінна безпека — окрема велика тема.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Дві різні речі, які постійно плутають. Автентифікація (AuthN) відповідає на питання «ХТО це?» — вона встановлює особу й заповнює HttpContext.User об'єктом ClaimsPrincipal. Авторизація (AuthZ) відповідає на питання «ЧИ МОЖНА?» — перевіряє права вже встановленої особи. Обидві реалізовані як middleware, і порядок критичний: UseRouting, потім UseAuthentication, потім UseAuthorization, потім endpoint-и. Про коди: 401 Unauthorized означає «ти не представився» — токена немає або він невалідний; 403 Forbidden означає «я тебе впізнав, але доступу до цього ресурсу немає». Це принципово різні ситуації.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JSON Web Token складається з трьох частин через крапку, кожна закодована base64url: header (алгоритм і тип), payload (claims — sub, role, exp і власні), signature. Підпис обчислюється або симетричним ключем через HMAC-SHA256, або асиметрично через RSA чи ECDSA. Ключове: сервер НЕ зберігає токен у себе — він лише перевіряє підпис і термін дії. Що саме перевіряти — задається через TokenValidationParameters: issuer, audience, ключ, час життя. Наслідок такої моделі: токен — це «перепустка на пред'явника», тому працювати з ним можна тільки по HTTPS, термін життя exp має бути коротким, а для тривалих сесій використовують refresh-токени.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Механізми авторизації від простого до складного. RequireAuthorization() без параметрів — вимагає будь-якого автентифікованого користувача, для приватного ресурсу. RequireRole("admin") — перевіряє claim role=admin, грубий поділ на групи. RequireClaim("scope", "...") — перевіряє довільний claim, зручно для фіч, тарифів, OAuth scopes. Політика з RequireAssertion або власним IAuthorizationRequirement — для складних правил на кшталт «вік ≥ 18» чи «користувач є власником ресурсу». Політики іменують один раз і перевикористовують, щоб логіка доступу жила в одному місці, а не розповзалася if-ами по хендлерах.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Приклад 21.Security.AuthBasics: схема JWT Bearer з перевіркою підпису й терміну, endpoint видачі токена (у реальності це окремий Identity Provider), захищені endpoint-и з .RequireAuthorization, іменована політика для ролі admin, і демонстрація, що auth-middleware стоять у конвеєрі перед endpoint-ами.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Підсумкова схема всього, про що ми говорили. Клієнт надсилає HTTP-запит. Kestrel приймає TCP-з'єднання й формує HttpContext. Запит проходить крізь конвеєр middleware — обробка помилок, статичні файли, CORS, автентифікація. UseRouting обирає endpoint за таблицею маршрутів. Endpoint виконується: резолвить залежності з DI, робить свою роботу, формує результат, який серіалізується у відповідь. І відповідь повертається назад тим самим конвеєром у зворотному порядку — кожен middleware має шанс щось із нею зробити на виході.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Карта всього курсу на одному слайді. Дев'ять модулів, 21 приклад, і ключові концепції кожного блоку. Це зручно використовувати як чеклист: якщо якийсь рядок викликає питання — поверніться до відповідного прикладу, запустіть його, почитайте NOTES.md і поекспериментуйте з .http-файлом.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Що логічно вивчати після цього курсу. Доступ до даних: Entity Framework Core або Dapper, міграції, транзакції, патерн репозиторію. Реалтайм і RPC: SignalR поверх WebSockets, gRPC. UI: Blazor у трьох варіантах, Razor Pages. Продакшн: деплой у Docker і Kubernetes, health checks, керування HTTPS-сертифікатами. Спостережуваність: структуроване логування через Serilog, OpenTelemetry, метрики, розподілене трасування. Стійкість: бібліотека Polly (retry, circuit breaker), обмеження частоти запитів, кешування через Redis або HybridCache.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Основні джерела. Документація ASP.NET Core на learn.microsoft.com — розділ Fundamentals покриває майже все з цього курсу. Специфікації, які варто хоча б переглянути: RFC 9110 про семантику HTTP, RFC 9457 про Problem Details, RFC 6902 і 7386 про PATCH, RFC 8288 про заголовок Link. І дисертація Філдінга, розділ 5 — першоджерело REST. Плюс Microsoft REST API Guidelines на GitHub — практичний посібник з дизайну.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Дякую за увагу. Найважливіше — не просто прослухати, а запустити приклади: усі 21 лежать в одному solution, кожен самодостатній, з коментарями й готовими запитами. Читайте код, читайте NOTES.md, змінюйте щось і дивіться, що зламалося — так матеріал закріплюється найкраще.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333"/>
        </a:solidFill>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1A1333"/>
          </a:solidFill>
          <a:ln/>
        </p:spPr>
      </p:sp>
      <p:sp>
        <p:nvSpPr>
          <p:cNvPr id="4" name="Text 1"/>
          <p:cNvSpPr txBox="1"/>
          <p:nvPr/>
        </p:nvSpPr>
        <p:spPr>
          <a:xfrm>
            <a:off x="914400" y="1554480"/>
            <a:ext cx="9144000" cy="365760"/>
          </a:xfrm>
          <a:prstGeom prst="rect">
            <a:avLst/>
          </a:prstGeom>
          <a:noFill/>
          <a:ln/>
        </p:spPr>
        <p:txBody>
          <a:bodyPr wrap="square" lIns="0" tIns="0" rIns="0" bIns="0" rtlCol="0" anchor="ctr"/>
          <a:lstStyle/>
          <a:p>
            <a:pPr indent="0" marL="0">
              <a:buNone/>
            </a:pPr>
            <a:r>
              <a:rPr lang="en-US" sz="1600" b="1" spc="300" kern="0" dirty="0">
                <a:solidFill>
                  <a:srgbClr val="0E9C8E"/>
                </a:solidFill>
                <a:latin typeface="Calibri" pitchFamily="34" charset="0"/>
                <a:ea typeface="Calibri" pitchFamily="34" charset="-122"/>
                <a:cs typeface="Calibri" pitchFamily="34" charset="-120"/>
              </a:rPr>
              <a:t>ЛЕКЦІЙНИЙ КУРС</a:t>
            </a:r>
            <a:endParaRPr lang="en-US" sz="1600" dirty="0"/>
          </a:p>
        </p:txBody>
      </p:sp>
      <p:sp>
        <p:nvSpPr>
          <p:cNvPr id="5" name="Text 2"/>
          <p:cNvSpPr txBox="1"/>
          <p:nvPr/>
        </p:nvSpPr>
        <p:spPr>
          <a:xfrm>
            <a:off x="914400" y="2011680"/>
            <a:ext cx="10332720" cy="128016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Основи ASP.NET Core</a:t>
            </a:r>
            <a:endParaRPr lang="en-US" sz="5400" dirty="0"/>
          </a:p>
        </p:txBody>
      </p:sp>
      <p:sp>
        <p:nvSpPr>
          <p:cNvPr id="6" name="Text 3"/>
          <p:cNvSpPr txBox="1"/>
          <p:nvPr/>
        </p:nvSpPr>
        <p:spPr>
          <a:xfrm>
            <a:off x="914400" y="3383280"/>
            <a:ext cx="10058400" cy="548640"/>
          </a:xfrm>
          <a:prstGeom prst="rect">
            <a:avLst/>
          </a:prstGeom>
          <a:noFill/>
          <a:ln/>
        </p:spPr>
        <p:txBody>
          <a:bodyPr wrap="square" lIns="0" tIns="0" rIns="0" bIns="0" rtlCol="0" anchor="ctr"/>
          <a:lstStyle/>
          <a:p>
            <a:pPr indent="0" marL="0">
              <a:buNone/>
            </a:pPr>
            <a:r>
              <a:rPr lang="en-US" sz="2000" dirty="0">
                <a:solidFill>
                  <a:srgbClr val="E7DFFA"/>
                </a:solidFill>
                <a:latin typeface="Calibri" pitchFamily="34" charset="0"/>
                <a:ea typeface="Calibri" pitchFamily="34" charset="-122"/>
                <a:cs typeface="Calibri" pitchFamily="34" charset="-120"/>
              </a:rPr>
              <a:t>Платформа · конвеєр обробки запиту · REST-архітектура</a:t>
            </a:r>
            <a:endParaRPr lang="en-US" sz="2000" dirty="0"/>
          </a:p>
        </p:txBody>
      </p:sp>
      <p:sp>
        <p:nvSpPr>
          <p:cNvPr id="7" name="Text 4"/>
          <p:cNvSpPr txBox="1"/>
          <p:nvPr/>
        </p:nvSpPr>
        <p:spPr>
          <a:xfrm>
            <a:off x="914400" y="5394960"/>
            <a:ext cx="1033272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.NET 10</a:t>
            </a:r>
            <a:pPr indent="0" marL="0">
              <a:buNone/>
            </a:pPr>
            <a:r>
              <a:rPr lang="en-US" sz="1400" dirty="0">
                <a:solidFill>
                  <a:srgbClr val="9E93C4"/>
                </a:solidFill>
                <a:latin typeface="Calibri" pitchFamily="34" charset="0"/>
                <a:ea typeface="Calibri" pitchFamily="34" charset="-122"/>
                <a:cs typeface="Calibri" pitchFamily="34" charset="-120"/>
              </a:rPr>
              <a:t>   ·   21 практичний приклад в одному solution   ·   </a:t>
            </a:r>
            <a:pPr indent="0" marL="0">
              <a:buNone/>
            </a:pPr>
            <a:r>
              <a:rPr lang="en-US" sz="1400" b="1" dirty="0">
                <a:solidFill>
                  <a:srgbClr val="FFFFFF"/>
                </a:solidFill>
                <a:latin typeface="Calibri" pitchFamily="34" charset="0"/>
                <a:ea typeface="Calibri" pitchFamily="34" charset="-122"/>
                <a:cs typeface="Calibri" pitchFamily="34" charset="-120"/>
              </a:rPr>
              <a:t>AspNet-Basics</a:t>
            </a:r>
            <a:endParaRPr lang="en-US" sz="1400" dirty="0"/>
          </a:p>
        </p:txBody>
      </p:sp>
      <p:sp>
        <p:nvSpPr>
          <p:cNvPr id="8" name="Shape 5"/>
          <p:cNvSpPr/>
          <p:nvPr/>
        </p:nvSpPr>
        <p:spPr>
          <a:xfrm>
            <a:off x="914400" y="5120640"/>
            <a:ext cx="2926080" cy="0"/>
          </a:xfrm>
          <a:prstGeom prst="line">
            <a:avLst/>
          </a:prstGeom>
          <a:noFill/>
          <a:ln w="31750">
            <a:solidFill>
              <a:srgbClr val="0E9C8E"/>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Про курс</a:t>
            </a:r>
            <a:endParaRPr lang="en-US" sz="3000" dirty="0"/>
          </a:p>
        </p:txBody>
      </p:sp>
      <p:sp>
        <p:nvSpPr>
          <p:cNvPr id="4" name="Text 1"/>
          <p:cNvSpPr txBox="1"/>
          <p:nvPr/>
        </p:nvSpPr>
        <p:spPr>
          <a:xfrm>
            <a:off x="566928" y="1243584"/>
            <a:ext cx="11057839" cy="603504"/>
          </a:xfrm>
          <a:prstGeom prst="rect">
            <a:avLst/>
          </a:prstGeom>
          <a:noFill/>
          <a:ln/>
        </p:spPr>
        <p:txBody>
          <a:bodyPr wrap="square" lIns="0" tIns="0" rIns="0" bIns="0" rtlCol="0" anchor="t"/>
          <a:lstStyle/>
          <a:p>
            <a:pPr indent="0" marL="0">
              <a:lnSpc>
                <a:spcPct val="116000"/>
              </a:lnSpc>
              <a:buNone/>
            </a:pPr>
            <a:r>
              <a:rPr lang="en-US" sz="1300" dirty="0">
                <a:solidFill>
                  <a:srgbClr val="241C3B"/>
                </a:solidFill>
                <a:latin typeface="Calibri" pitchFamily="34" charset="0"/>
                <a:ea typeface="Calibri" pitchFamily="34" charset="-122"/>
                <a:cs typeface="Calibri" pitchFamily="34" charset="-120"/>
              </a:rPr>
              <a:t>Мета — не завчити рецепти, а зрозуміти, що відбувається з HTTP-запитом від моменту, коли його прийняв сервер, до моменту, коли клієнт отримав відповідь. Курс складається з кількох шарів:</a:t>
            </a:r>
            <a:endParaRPr lang="en-US" sz="1300" dirty="0"/>
          </a:p>
        </p:txBody>
      </p:sp>
      <p:sp>
        <p:nvSpPr>
          <p:cNvPr id="5" name="Shape 2"/>
          <p:cNvSpPr/>
          <p:nvPr/>
        </p:nvSpPr>
        <p:spPr>
          <a:xfrm>
            <a:off x="566928" y="1993392"/>
            <a:ext cx="11057839" cy="658368"/>
          </a:xfrm>
          <a:prstGeom prst="roundRect">
            <a:avLst>
              <a:gd name="adj" fmla="val 6944"/>
            </a:avLst>
          </a:prstGeom>
          <a:solidFill>
            <a:srgbClr val="F3EFFD"/>
          </a:solidFill>
          <a:ln w="9525">
            <a:solidFill>
              <a:srgbClr val="D9CEF5"/>
            </a:solidFill>
            <a:prstDash val="solid"/>
          </a:ln>
        </p:spPr>
      </p:sp>
      <p:sp>
        <p:nvSpPr>
          <p:cNvPr id="6" name="Shape 3"/>
          <p:cNvSpPr/>
          <p:nvPr/>
        </p:nvSpPr>
        <p:spPr>
          <a:xfrm>
            <a:off x="768096" y="2148840"/>
            <a:ext cx="347472" cy="347472"/>
          </a:xfrm>
          <a:prstGeom prst="ellipse">
            <a:avLst/>
          </a:prstGeom>
          <a:solidFill>
            <a:srgbClr val="512BD4"/>
          </a:solidFill>
          <a:ln/>
        </p:spPr>
      </p:sp>
      <p:sp>
        <p:nvSpPr>
          <p:cNvPr id="7" name="Text 4"/>
          <p:cNvSpPr txBox="1"/>
          <p:nvPr/>
        </p:nvSpPr>
        <p:spPr>
          <a:xfrm>
            <a:off x="768096" y="21488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298448" y="1993392"/>
            <a:ext cx="10097719" cy="658368"/>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Платформа   </a:t>
            </a:r>
            <a:pPr indent="0" marL="0">
              <a:buNone/>
            </a:pPr>
            <a:r>
              <a:rPr lang="en-US" sz="1250" dirty="0">
                <a:solidFill>
                  <a:srgbClr val="6E6785"/>
                </a:solidFill>
                <a:latin typeface="Calibri" pitchFamily="34" charset="0"/>
                <a:ea typeface="Calibri" pitchFamily="34" charset="-122"/>
                <a:cs typeface="Calibri" pitchFamily="34" charset="-120"/>
              </a:rPr>
              <a:t>з чого складається веб-застосунок на .NET — хост, HTTP-сервер Kestrel, конвеєр middleware — і як він стартує</a:t>
            </a:r>
            <a:endParaRPr lang="en-US" sz="1500" dirty="0"/>
          </a:p>
        </p:txBody>
      </p:sp>
      <p:sp>
        <p:nvSpPr>
          <p:cNvPr id="9" name="Shape 6"/>
          <p:cNvSpPr/>
          <p:nvPr/>
        </p:nvSpPr>
        <p:spPr>
          <a:xfrm>
            <a:off x="566928" y="2770632"/>
            <a:ext cx="11057839" cy="658368"/>
          </a:xfrm>
          <a:prstGeom prst="roundRect">
            <a:avLst>
              <a:gd name="adj" fmla="val 6944"/>
            </a:avLst>
          </a:prstGeom>
          <a:solidFill>
            <a:srgbClr val="F3EFFD"/>
          </a:solidFill>
          <a:ln w="9525">
            <a:solidFill>
              <a:srgbClr val="D9CEF5"/>
            </a:solidFill>
            <a:prstDash val="solid"/>
          </a:ln>
        </p:spPr>
      </p:sp>
      <p:sp>
        <p:nvSpPr>
          <p:cNvPr id="10" name="Shape 7"/>
          <p:cNvSpPr/>
          <p:nvPr/>
        </p:nvSpPr>
        <p:spPr>
          <a:xfrm>
            <a:off x="768096" y="2926080"/>
            <a:ext cx="347472" cy="347472"/>
          </a:xfrm>
          <a:prstGeom prst="ellipse">
            <a:avLst/>
          </a:prstGeom>
          <a:solidFill>
            <a:srgbClr val="512BD4"/>
          </a:solidFill>
          <a:ln/>
        </p:spPr>
      </p:sp>
      <p:sp>
        <p:nvSpPr>
          <p:cNvPr id="11" name="Text 8"/>
          <p:cNvSpPr txBox="1"/>
          <p:nvPr/>
        </p:nvSpPr>
        <p:spPr>
          <a:xfrm>
            <a:off x="768096" y="29260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txBox="1"/>
          <p:nvPr/>
        </p:nvSpPr>
        <p:spPr>
          <a:xfrm>
            <a:off x="1298448" y="2770632"/>
            <a:ext cx="10097719" cy="658368"/>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Конвеєр обробки запиту   </a:t>
            </a:r>
            <a:pPr indent="0" marL="0">
              <a:buNone/>
            </a:pPr>
            <a:r>
              <a:rPr lang="en-US" sz="1250" dirty="0">
                <a:solidFill>
                  <a:srgbClr val="6E6785"/>
                </a:solidFill>
                <a:latin typeface="Calibri" pitchFamily="34" charset="0"/>
                <a:ea typeface="Calibri" pitchFamily="34" charset="-122"/>
                <a:cs typeface="Calibri" pitchFamily="34" charset="-120"/>
              </a:rPr>
              <a:t>middleware — головна ідея ASP.NET Core: порядок виконання, розгалуження, куди вписувати наскрізні задачі</a:t>
            </a:r>
            <a:endParaRPr lang="en-US" sz="1500" dirty="0"/>
          </a:p>
        </p:txBody>
      </p:sp>
      <p:sp>
        <p:nvSpPr>
          <p:cNvPr id="13" name="Shape 10"/>
          <p:cNvSpPr/>
          <p:nvPr/>
        </p:nvSpPr>
        <p:spPr>
          <a:xfrm>
            <a:off x="566928" y="3547872"/>
            <a:ext cx="11057839" cy="658368"/>
          </a:xfrm>
          <a:prstGeom prst="roundRect">
            <a:avLst>
              <a:gd name="adj" fmla="val 6944"/>
            </a:avLst>
          </a:prstGeom>
          <a:solidFill>
            <a:srgbClr val="F3EFFD"/>
          </a:solidFill>
          <a:ln w="9525">
            <a:solidFill>
              <a:srgbClr val="D9CEF5"/>
            </a:solidFill>
            <a:prstDash val="solid"/>
          </a:ln>
        </p:spPr>
      </p:sp>
      <p:sp>
        <p:nvSpPr>
          <p:cNvPr id="14" name="Shape 11"/>
          <p:cNvSpPr/>
          <p:nvPr/>
        </p:nvSpPr>
        <p:spPr>
          <a:xfrm>
            <a:off x="768096" y="3703320"/>
            <a:ext cx="347472" cy="347472"/>
          </a:xfrm>
          <a:prstGeom prst="ellipse">
            <a:avLst/>
          </a:prstGeom>
          <a:solidFill>
            <a:srgbClr val="512BD4"/>
          </a:solidFill>
          <a:ln/>
        </p:spPr>
      </p:sp>
      <p:sp>
        <p:nvSpPr>
          <p:cNvPr id="15" name="Text 12"/>
          <p:cNvSpPr txBox="1"/>
          <p:nvPr/>
        </p:nvSpPr>
        <p:spPr>
          <a:xfrm>
            <a:off x="768096" y="37033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3"/>
          <p:cNvSpPr txBox="1"/>
          <p:nvPr/>
        </p:nvSpPr>
        <p:spPr>
          <a:xfrm>
            <a:off x="1298448" y="3547872"/>
            <a:ext cx="10097719" cy="658368"/>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Два стилі API   </a:t>
            </a:r>
            <a:pPr indent="0" marL="0">
              <a:buNone/>
            </a:pPr>
            <a:r>
              <a:rPr lang="en-US" sz="1250" dirty="0">
                <a:solidFill>
                  <a:srgbClr val="6E6785"/>
                </a:solidFill>
                <a:latin typeface="Calibri" pitchFamily="34" charset="0"/>
                <a:ea typeface="Calibri" pitchFamily="34" charset="-122"/>
                <a:cs typeface="Calibri" pitchFamily="34" charset="-120"/>
              </a:rPr>
              <a:t>Minimal API та класичні MVC-контролери; обидва працюють поверх того самого конвеєра, їх можна поєднувати</a:t>
            </a:r>
            <a:endParaRPr lang="en-US" sz="1500" dirty="0"/>
          </a:p>
        </p:txBody>
      </p:sp>
      <p:sp>
        <p:nvSpPr>
          <p:cNvPr id="17" name="Shape 14"/>
          <p:cNvSpPr/>
          <p:nvPr/>
        </p:nvSpPr>
        <p:spPr>
          <a:xfrm>
            <a:off x="566928" y="4325112"/>
            <a:ext cx="11057839" cy="658368"/>
          </a:xfrm>
          <a:prstGeom prst="roundRect">
            <a:avLst>
              <a:gd name="adj" fmla="val 6944"/>
            </a:avLst>
          </a:prstGeom>
          <a:solidFill>
            <a:srgbClr val="F3EFFD"/>
          </a:solidFill>
          <a:ln w="9525">
            <a:solidFill>
              <a:srgbClr val="D9CEF5"/>
            </a:solidFill>
            <a:prstDash val="solid"/>
          </a:ln>
        </p:spPr>
      </p:sp>
      <p:sp>
        <p:nvSpPr>
          <p:cNvPr id="18" name="Shape 15"/>
          <p:cNvSpPr/>
          <p:nvPr/>
        </p:nvSpPr>
        <p:spPr>
          <a:xfrm>
            <a:off x="768096" y="4480560"/>
            <a:ext cx="347472" cy="347472"/>
          </a:xfrm>
          <a:prstGeom prst="ellipse">
            <a:avLst/>
          </a:prstGeom>
          <a:solidFill>
            <a:srgbClr val="512BD4"/>
          </a:solidFill>
          <a:ln/>
        </p:spPr>
      </p:sp>
      <p:sp>
        <p:nvSpPr>
          <p:cNvPr id="19" name="Text 16"/>
          <p:cNvSpPr txBox="1"/>
          <p:nvPr/>
        </p:nvSpPr>
        <p:spPr>
          <a:xfrm>
            <a:off x="768096" y="44805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7"/>
          <p:cNvSpPr txBox="1"/>
          <p:nvPr/>
        </p:nvSpPr>
        <p:spPr>
          <a:xfrm>
            <a:off x="1298448" y="4325112"/>
            <a:ext cx="10097719" cy="658368"/>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REST-архітектура   </a:t>
            </a:r>
            <a:pPr indent="0" marL="0">
              <a:buNone/>
            </a:pPr>
            <a:r>
              <a:rPr lang="en-US" sz="1250" dirty="0">
                <a:solidFill>
                  <a:srgbClr val="6E6785"/>
                </a:solidFill>
                <a:latin typeface="Calibri" pitchFamily="34" charset="0"/>
                <a:ea typeface="Calibri" pitchFamily="34" charset="-122"/>
                <a:cs typeface="Calibri" pitchFamily="34" charset="-120"/>
              </a:rPr>
              <a:t>як проєктувати ресурси й URI, коди відповідей, представлення, версії, гіпермедіа</a:t>
            </a:r>
            <a:endParaRPr lang="en-US" sz="1500" dirty="0"/>
          </a:p>
        </p:txBody>
      </p:sp>
      <p:sp>
        <p:nvSpPr>
          <p:cNvPr id="21" name="Shape 18"/>
          <p:cNvSpPr/>
          <p:nvPr/>
        </p:nvSpPr>
        <p:spPr>
          <a:xfrm>
            <a:off x="566928" y="5102352"/>
            <a:ext cx="11057839" cy="658368"/>
          </a:xfrm>
          <a:prstGeom prst="roundRect">
            <a:avLst>
              <a:gd name="adj" fmla="val 6944"/>
            </a:avLst>
          </a:prstGeom>
          <a:solidFill>
            <a:srgbClr val="F3EFFD"/>
          </a:solidFill>
          <a:ln w="9525">
            <a:solidFill>
              <a:srgbClr val="D9CEF5"/>
            </a:solidFill>
            <a:prstDash val="solid"/>
          </a:ln>
        </p:spPr>
      </p:sp>
      <p:sp>
        <p:nvSpPr>
          <p:cNvPr id="22" name="Shape 19"/>
          <p:cNvSpPr/>
          <p:nvPr/>
        </p:nvSpPr>
        <p:spPr>
          <a:xfrm>
            <a:off x="768096" y="5257800"/>
            <a:ext cx="347472" cy="347472"/>
          </a:xfrm>
          <a:prstGeom prst="ellipse">
            <a:avLst/>
          </a:prstGeom>
          <a:solidFill>
            <a:srgbClr val="512BD4"/>
          </a:solidFill>
          <a:ln/>
        </p:spPr>
      </p:sp>
      <p:sp>
        <p:nvSpPr>
          <p:cNvPr id="23" name="Text 20"/>
          <p:cNvSpPr txBox="1"/>
          <p:nvPr/>
        </p:nvSpPr>
        <p:spPr>
          <a:xfrm>
            <a:off x="768096" y="5257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1"/>
          <p:cNvSpPr txBox="1"/>
          <p:nvPr/>
        </p:nvSpPr>
        <p:spPr>
          <a:xfrm>
            <a:off x="1298448" y="5102352"/>
            <a:ext cx="10097719" cy="658368"/>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Якість   </a:t>
            </a:r>
            <a:pPr indent="0" marL="0">
              <a:buNone/>
            </a:pPr>
            <a:r>
              <a:rPr lang="en-US" sz="1250" dirty="0">
                <a:solidFill>
                  <a:srgbClr val="6E6785"/>
                </a:solidFill>
                <a:latin typeface="Calibri" pitchFamily="34" charset="0"/>
                <a:ea typeface="Calibri" pitchFamily="34" charset="-122"/>
                <a:cs typeface="Calibri" pitchFamily="34" charset="-120"/>
              </a:rPr>
              <a:t>документація OpenAPI, інтеграційні тести через WebApplicationFactory, базова безпека з JWT</a:t>
            </a:r>
            <a:endParaRPr lang="en-US" sz="1500" dirty="0"/>
          </a:p>
        </p:txBody>
      </p:sp>
      <p:sp>
        <p:nvSpPr>
          <p:cNvPr id="25" name="Shape 22"/>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26" name="Text 23"/>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i="1" dirty="0">
                <a:solidFill>
                  <a:srgbClr val="241C3B"/>
                </a:solidFill>
                <a:latin typeface="Calibri" pitchFamily="34" charset="0"/>
                <a:ea typeface="Calibri" pitchFamily="34" charset="-122"/>
                <a:cs typeface="Calibri" pitchFamily="34" charset="-120"/>
              </a:rPr>
              <a:t>21 приклад в одному solution: один проект = один урок, з коментарями, файлом NOTES.md і готовими HTTP-запитами.</a:t>
            </a:r>
            <a:endParaRPr lang="en-US" sz="1200" dirty="0"/>
          </a:p>
        </p:txBody>
      </p:sp>
      <p:sp>
        <p:nvSpPr>
          <p:cNvPr id="27" name="Text 24"/>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Структура курсу — 9 модулів</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1243584"/>
          <a:ext cx="11057839" cy="914400"/>
        </p:xfrm>
        <a:graphic>
          <a:graphicData uri="http://schemas.openxmlformats.org/drawingml/2006/table">
            <a:tbl>
              <a:tblPr/>
              <a:tblGrid>
                <a:gridCol w="1188720"/>
                <a:gridCol w="7772400"/>
                <a:gridCol w="2103120"/>
              </a:tblGrid>
              <a:tr h="50657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Модуль</a:t>
                      </a:r>
                      <a:endParaRPr lang="en-US" sz="13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Тема</a:t>
                      </a:r>
                      <a:endParaRPr lang="en-US" sz="13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Приклади</a:t>
                      </a:r>
                      <a:endParaRPr lang="en-US" sz="13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r>
              <a:tr h="506578">
                <a:tc>
                  <a:txBody>
                    <a:bodyPr/>
                    <a:lstStyle/>
                    <a:p>
                      <a:pPr indent="0" marL="0">
                        <a:buNone/>
                      </a:pPr>
                      <a:r>
                        <a:rPr lang="en-US" sz="1250" dirty="0">
                          <a:solidFill>
                            <a:srgbClr val="241C3B"/>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50" dirty="0">
                          <a:solidFill>
                            <a:srgbClr val="241C3B"/>
                          </a:solidFill>
                          <a:latin typeface="Calibri" pitchFamily="34" charset="0"/>
                          <a:ea typeface="Calibri" pitchFamily="34" charset="-122"/>
                          <a:cs typeface="Calibri" pitchFamily="34" charset="-120"/>
                        </a:rPr>
                        <a:t>Хостинг і платформа</a:t>
                      </a:r>
                      <a:endParaRPr lang="en-US" sz="12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50" dirty="0">
                          <a:solidFill>
                            <a:srgbClr val="241C3B"/>
                          </a:solidFill>
                          <a:latin typeface="Calibri" pitchFamily="34" charset="0"/>
                          <a:ea typeface="Calibri" pitchFamily="34" charset="-122"/>
                          <a:cs typeface="Calibri" pitchFamily="34" charset="-120"/>
                        </a:rPr>
                        <a:t>01–02</a:t>
                      </a:r>
                      <a:endParaRPr lang="en-US" sz="12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506578">
                <a:tc>
                  <a:txBody>
                    <a:bodyPr/>
                    <a:lstStyle/>
                    <a:p>
                      <a:pPr indent="0" marL="0">
                        <a:buNone/>
                      </a:pPr>
                      <a:r>
                        <a:rPr lang="en-US" sz="1250" dirty="0">
                          <a:solidFill>
                            <a:srgbClr val="241C3B"/>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50" dirty="0">
                          <a:solidFill>
                            <a:srgbClr val="241C3B"/>
                          </a:solidFill>
                          <a:latin typeface="Calibri" pitchFamily="34" charset="0"/>
                          <a:ea typeface="Calibri" pitchFamily="34" charset="-122"/>
                          <a:cs typeface="Calibri" pitchFamily="34" charset="-120"/>
                        </a:rPr>
                        <a:t>Конвеєр обробки запиту (middleware)</a:t>
                      </a:r>
                      <a:endParaRPr lang="en-US" sz="12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50" dirty="0">
                          <a:solidFill>
                            <a:srgbClr val="241C3B"/>
                          </a:solidFill>
                          <a:latin typeface="Calibri" pitchFamily="34" charset="0"/>
                          <a:ea typeface="Calibri" pitchFamily="34" charset="-122"/>
                          <a:cs typeface="Calibri" pitchFamily="34" charset="-120"/>
                        </a:rPr>
                        <a:t>03–06</a:t>
                      </a:r>
                      <a:endParaRPr lang="en-US" sz="12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506578">
                <a:tc>
                  <a:txBody>
                    <a:bodyPr/>
                    <a:lstStyle/>
                    <a:p>
                      <a:pPr indent="0" marL="0">
                        <a:buNone/>
                      </a:pPr>
                      <a:r>
                        <a:rPr lang="en-US" sz="1250" dirty="0">
                          <a:solidFill>
                            <a:srgbClr val="241C3B"/>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50" dirty="0">
                          <a:solidFill>
                            <a:srgbClr val="241C3B"/>
                          </a:solidFill>
                          <a:latin typeface="Calibri" pitchFamily="34" charset="0"/>
                          <a:ea typeface="Calibri" pitchFamily="34" charset="-122"/>
                          <a:cs typeface="Calibri" pitchFamily="34" charset="-120"/>
                        </a:rPr>
                        <a:t>Dependency Injection і конфігурація</a:t>
                      </a:r>
                      <a:endParaRPr lang="en-US" sz="12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50" dirty="0">
                          <a:solidFill>
                            <a:srgbClr val="241C3B"/>
                          </a:solidFill>
                          <a:latin typeface="Calibri" pitchFamily="34" charset="0"/>
                          <a:ea typeface="Calibri" pitchFamily="34" charset="-122"/>
                          <a:cs typeface="Calibri" pitchFamily="34" charset="-120"/>
                        </a:rPr>
                        <a:t>07–08</a:t>
                      </a:r>
                      <a:endParaRPr lang="en-US" sz="12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506578">
                <a:tc>
                  <a:txBody>
                    <a:bodyPr/>
                    <a:lstStyle/>
                    <a:p>
                      <a:pPr indent="0" marL="0">
                        <a:buNone/>
                      </a:pPr>
                      <a:r>
                        <a:rPr lang="en-US" sz="1250" dirty="0">
                          <a:solidFill>
                            <a:srgbClr val="241C3B"/>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50" dirty="0">
                          <a:solidFill>
                            <a:srgbClr val="241C3B"/>
                          </a:solidFill>
                          <a:latin typeface="Calibri" pitchFamily="34" charset="0"/>
                          <a:ea typeface="Calibri" pitchFamily="34" charset="-122"/>
                          <a:cs typeface="Calibri" pitchFamily="34" charset="-120"/>
                        </a:rPr>
                        <a:t>Маршрутизація</a:t>
                      </a:r>
                      <a:endParaRPr lang="en-US" sz="12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50" dirty="0">
                          <a:solidFill>
                            <a:srgbClr val="241C3B"/>
                          </a:solidFill>
                          <a:latin typeface="Calibri" pitchFamily="34" charset="0"/>
                          <a:ea typeface="Calibri" pitchFamily="34" charset="-122"/>
                          <a:cs typeface="Calibri" pitchFamily="34" charset="-120"/>
                        </a:rPr>
                        <a:t>09</a:t>
                      </a:r>
                      <a:endParaRPr lang="en-US" sz="12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506578">
                <a:tc>
                  <a:txBody>
                    <a:bodyPr/>
                    <a:lstStyle/>
                    <a:p>
                      <a:pPr indent="0" marL="0">
                        <a:buNone/>
                      </a:pPr>
                      <a:r>
                        <a:rPr lang="en-US" sz="1250" dirty="0">
                          <a:solidFill>
                            <a:srgbClr val="241C3B"/>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50" dirty="0">
                          <a:solidFill>
                            <a:srgbClr val="241C3B"/>
                          </a:solidFill>
                          <a:latin typeface="Calibri" pitchFamily="34" charset="0"/>
                          <a:ea typeface="Calibri" pitchFamily="34" charset="-122"/>
                          <a:cs typeface="Calibri" pitchFamily="34" charset="-120"/>
                        </a:rPr>
                        <a:t>Minimal API</a:t>
                      </a:r>
                      <a:endParaRPr lang="en-US" sz="12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50" dirty="0">
                          <a:solidFill>
                            <a:srgbClr val="241C3B"/>
                          </a:solidFill>
                          <a:latin typeface="Calibri" pitchFamily="34" charset="0"/>
                          <a:ea typeface="Calibri" pitchFamily="34" charset="-122"/>
                          <a:cs typeface="Calibri" pitchFamily="34" charset="-120"/>
                        </a:rPr>
                        <a:t>10–11</a:t>
                      </a:r>
                      <a:endParaRPr lang="en-US" sz="12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506578">
                <a:tc>
                  <a:txBody>
                    <a:bodyPr/>
                    <a:lstStyle/>
                    <a:p>
                      <a:pPr indent="0" marL="0">
                        <a:buNone/>
                      </a:pPr>
                      <a:r>
                        <a:rPr lang="en-US" sz="1250" dirty="0">
                          <a:solidFill>
                            <a:srgbClr val="241C3B"/>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50" dirty="0">
                          <a:solidFill>
                            <a:srgbClr val="241C3B"/>
                          </a:solidFill>
                          <a:latin typeface="Calibri" pitchFamily="34" charset="0"/>
                          <a:ea typeface="Calibri" pitchFamily="34" charset="-122"/>
                          <a:cs typeface="Calibri" pitchFamily="34" charset="-120"/>
                        </a:rPr>
                        <a:t>MVC / контролери</a:t>
                      </a:r>
                      <a:endParaRPr lang="en-US" sz="12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50" dirty="0">
                          <a:solidFill>
                            <a:srgbClr val="241C3B"/>
                          </a:solidFill>
                          <a:latin typeface="Calibri" pitchFamily="34" charset="0"/>
                          <a:ea typeface="Calibri" pitchFamily="34" charset="-122"/>
                          <a:cs typeface="Calibri" pitchFamily="34" charset="-120"/>
                        </a:rPr>
                        <a:t>12–13</a:t>
                      </a:r>
                      <a:endParaRPr lang="en-US" sz="12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506578">
                <a:tc>
                  <a:txBody>
                    <a:bodyPr/>
                    <a:lstStyle/>
                    <a:p>
                      <a:pPr indent="0" marL="0">
                        <a:buNone/>
                      </a:pPr>
                      <a:r>
                        <a:rPr lang="en-US" sz="1250" dirty="0">
                          <a:solidFill>
                            <a:srgbClr val="241C3B"/>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50" dirty="0">
                          <a:solidFill>
                            <a:srgbClr val="241C3B"/>
                          </a:solidFill>
                          <a:latin typeface="Calibri" pitchFamily="34" charset="0"/>
                          <a:ea typeface="Calibri" pitchFamily="34" charset="-122"/>
                          <a:cs typeface="Calibri" pitchFamily="34" charset="-120"/>
                        </a:rPr>
                        <a:t>REST по-справжньому</a:t>
                      </a:r>
                      <a:endParaRPr lang="en-US" sz="12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50" dirty="0">
                          <a:solidFill>
                            <a:srgbClr val="241C3B"/>
                          </a:solidFill>
                          <a:latin typeface="Calibri" pitchFamily="34" charset="0"/>
                          <a:ea typeface="Calibri" pitchFamily="34" charset="-122"/>
                          <a:cs typeface="Calibri" pitchFamily="34" charset="-120"/>
                        </a:rPr>
                        <a:t>14–18</a:t>
                      </a:r>
                      <a:endParaRPr lang="en-US" sz="12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506578">
                <a:tc>
                  <a:txBody>
                    <a:bodyPr/>
                    <a:lstStyle/>
                    <a:p>
                      <a:pPr indent="0" marL="0">
                        <a:buNone/>
                      </a:pPr>
                      <a:r>
                        <a:rPr lang="en-US" sz="1250" dirty="0">
                          <a:solidFill>
                            <a:srgbClr val="241C3B"/>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50" dirty="0">
                          <a:solidFill>
                            <a:srgbClr val="241C3B"/>
                          </a:solidFill>
                          <a:latin typeface="Calibri" pitchFamily="34" charset="0"/>
                          <a:ea typeface="Calibri" pitchFamily="34" charset="-122"/>
                          <a:cs typeface="Calibri" pitchFamily="34" charset="-120"/>
                        </a:rPr>
                        <a:t>Документація і тести</a:t>
                      </a:r>
                      <a:endParaRPr lang="en-US" sz="12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50" dirty="0">
                          <a:solidFill>
                            <a:srgbClr val="241C3B"/>
                          </a:solidFill>
                          <a:latin typeface="Calibri" pitchFamily="34" charset="0"/>
                          <a:ea typeface="Calibri" pitchFamily="34" charset="-122"/>
                          <a:cs typeface="Calibri" pitchFamily="34" charset="-120"/>
                        </a:rPr>
                        <a:t>19–20</a:t>
                      </a:r>
                      <a:endParaRPr lang="en-US" sz="12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506578">
                <a:tc>
                  <a:txBody>
                    <a:bodyPr/>
                    <a:lstStyle/>
                    <a:p>
                      <a:pPr indent="0" marL="0">
                        <a:buNone/>
                      </a:pPr>
                      <a:r>
                        <a:rPr lang="en-US" sz="1250" dirty="0">
                          <a:solidFill>
                            <a:srgbClr val="241C3B"/>
                          </a:solidFill>
                          <a:latin typeface="Calibri" pitchFamily="34" charset="0"/>
                          <a:ea typeface="Calibri" pitchFamily="34" charset="-122"/>
                          <a:cs typeface="Calibri" pitchFamily="34" charset="-120"/>
                        </a:rPr>
                        <a:t>9</a:t>
                      </a:r>
                      <a:endParaRPr lang="en-US" sz="12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50" dirty="0">
                          <a:solidFill>
                            <a:srgbClr val="241C3B"/>
                          </a:solidFill>
                          <a:latin typeface="Calibri" pitchFamily="34" charset="0"/>
                          <a:ea typeface="Calibri" pitchFamily="34" charset="-122"/>
                          <a:cs typeface="Calibri" pitchFamily="34" charset="-120"/>
                        </a:rPr>
                        <a:t>Безпека (базово)</a:t>
                      </a:r>
                      <a:endParaRPr lang="en-US" sz="12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50" dirty="0">
                          <a:solidFill>
                            <a:srgbClr val="241C3B"/>
                          </a:solidFill>
                          <a:latin typeface="Calibri" pitchFamily="34" charset="0"/>
                          <a:ea typeface="Calibri" pitchFamily="34" charset="-122"/>
                          <a:cs typeface="Calibri" pitchFamily="34" charset="-120"/>
                        </a:rPr>
                        <a:t>21</a:t>
                      </a:r>
                      <a:endParaRPr lang="en-US" sz="12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Як влаштований кожен приклад</a:t>
            </a:r>
            <a:endParaRPr lang="en-US" sz="3000" dirty="0"/>
          </a:p>
        </p:txBody>
      </p:sp>
      <p:sp>
        <p:nvSpPr>
          <p:cNvPr id="4" name="Text 1"/>
          <p:cNvSpPr txBox="1"/>
          <p:nvPr/>
        </p:nvSpPr>
        <p:spPr>
          <a:xfrm>
            <a:off x="566928" y="1060704"/>
            <a:ext cx="11057839" cy="365760"/>
          </a:xfrm>
          <a:prstGeom prst="rect">
            <a:avLst/>
          </a:prstGeom>
          <a:noFill/>
          <a:ln/>
        </p:spPr>
        <p:txBody>
          <a:bodyPr wrap="square" lIns="0" tIns="0" rIns="0" bIns="0" rtlCol="0" anchor="ctr"/>
          <a:lstStyle/>
          <a:p>
            <a:pPr indent="0" marL="0">
              <a:buNone/>
            </a:pPr>
            <a:r>
              <a:rPr lang="en-US" sz="1400" dirty="0">
                <a:solidFill>
                  <a:srgbClr val="6E6785"/>
                </a:solidFill>
                <a:latin typeface="Calibri" pitchFamily="34" charset="0"/>
                <a:ea typeface="Calibri" pitchFamily="34" charset="-122"/>
                <a:cs typeface="Calibri" pitchFamily="34" charset="-120"/>
              </a:rPr>
              <a:t>Program.cs поділено на три фази життєвого циклу застосунку</a:t>
            </a:r>
            <a:endParaRPr lang="en-US" sz="1400" dirty="0"/>
          </a:p>
        </p:txBody>
      </p:sp>
      <p:sp>
        <p:nvSpPr>
          <p:cNvPr id="5" name="Shape 2"/>
          <p:cNvSpPr/>
          <p:nvPr/>
        </p:nvSpPr>
        <p:spPr>
          <a:xfrm>
            <a:off x="566928" y="1856232"/>
            <a:ext cx="6949440" cy="4151376"/>
          </a:xfrm>
          <a:prstGeom prst="roundRect">
            <a:avLst>
              <a:gd name="adj" fmla="val 1322"/>
            </a:avLst>
          </a:prstGeom>
          <a:solidFill>
            <a:srgbClr val="201A38"/>
          </a:solidFill>
          <a:ln/>
        </p:spPr>
      </p:sp>
      <p:sp>
        <p:nvSpPr>
          <p:cNvPr id="6" name="Text 3"/>
          <p:cNvSpPr txBox="1"/>
          <p:nvPr/>
        </p:nvSpPr>
        <p:spPr>
          <a:xfrm>
            <a:off x="786384" y="1911096"/>
            <a:ext cx="6510528" cy="4041648"/>
          </a:xfrm>
          <a:prstGeom prst="rect">
            <a:avLst/>
          </a:prstGeom>
          <a:noFill/>
          <a:ln/>
        </p:spPr>
        <p:txBody>
          <a:bodyPr wrap="square" lIns="0" tIns="0" rIns="0" bIns="0" rtlCol="0" anchor="ctr"/>
          <a:lstStyle/>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var builder = WebApplication.CreateBuilder(args);</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 </a:t>
            </a:r>
            <a:endParaRPr lang="en-US" sz="1250" dirty="0"/>
          </a:p>
          <a:p>
            <a:pPr indent="0" marL="0">
              <a:lnSpc>
                <a:spcPct val="122000"/>
              </a:lnSpc>
              <a:buNone/>
            </a:pPr>
            <a:r>
              <a:rPr lang="en-US" sz="1250" dirty="0">
                <a:solidFill>
                  <a:srgbClr val="9E93C4"/>
                </a:solidFill>
                <a:latin typeface="Courier New" pitchFamily="34" charset="0"/>
                <a:ea typeface="Courier New" pitchFamily="34" charset="-122"/>
                <a:cs typeface="Courier New" pitchFamily="34" charset="-120"/>
              </a:rPr>
              <a:t>// ---- 1 · СЕРВІСИ (реєстрація в DI) ----</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builder.Services.AddCatalog();</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 </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var app = builder.Build();</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 </a:t>
            </a:r>
            <a:endParaRPr lang="en-US" sz="1250" dirty="0"/>
          </a:p>
          <a:p>
            <a:pPr indent="0" marL="0">
              <a:lnSpc>
                <a:spcPct val="122000"/>
              </a:lnSpc>
              <a:buNone/>
            </a:pPr>
            <a:r>
              <a:rPr lang="en-US" sz="1250" dirty="0">
                <a:solidFill>
                  <a:srgbClr val="9E93C4"/>
                </a:solidFill>
                <a:latin typeface="Courier New" pitchFamily="34" charset="0"/>
                <a:ea typeface="Courier New" pitchFamily="34" charset="-122"/>
                <a:cs typeface="Courier New" pitchFamily="34" charset="-120"/>
              </a:rPr>
              <a:t>// ---- 2 · КОНВЕЄР (middleware) ----</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app.UseAuthentication();</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 </a:t>
            </a:r>
            <a:endParaRPr lang="en-US" sz="1250" dirty="0"/>
          </a:p>
          <a:p>
            <a:pPr indent="0" marL="0">
              <a:lnSpc>
                <a:spcPct val="122000"/>
              </a:lnSpc>
              <a:buNone/>
            </a:pPr>
            <a:r>
              <a:rPr lang="en-US" sz="1250" dirty="0">
                <a:solidFill>
                  <a:srgbClr val="9E93C4"/>
                </a:solidFill>
                <a:latin typeface="Courier New" pitchFamily="34" charset="0"/>
                <a:ea typeface="Courier New" pitchFamily="34" charset="-122"/>
                <a:cs typeface="Courier New" pitchFamily="34" charset="-120"/>
              </a:rPr>
              <a:t>// ---- 3 · ЗАПИТИ (endpoints / обробники) ----</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app.MapGet("/products", (ICatalog c) =&gt; c.GetProducts());</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 </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app.Run();</a:t>
            </a:r>
            <a:endParaRPr lang="en-US" sz="1250" dirty="0"/>
          </a:p>
        </p:txBody>
      </p:sp>
      <p:sp>
        <p:nvSpPr>
          <p:cNvPr id="7" name="Text 4"/>
          <p:cNvSpPr txBox="1"/>
          <p:nvPr/>
        </p:nvSpPr>
        <p:spPr>
          <a:xfrm>
            <a:off x="7882128" y="1856232"/>
            <a:ext cx="3742639" cy="4151376"/>
          </a:xfrm>
          <a:prstGeom prst="rect">
            <a:avLst/>
          </a:prstGeom>
          <a:noFill/>
          <a:ln/>
        </p:spPr>
        <p:txBody>
          <a:bodyPr wrap="square" lIns="0" tIns="0" rIns="0" bIns="0" rtlCol="0" anchor="ctr"/>
          <a:lstStyle/>
          <a:p>
            <a:pPr marL="127000" indent="-127000">
              <a:spcAft>
                <a:spcPts val="1000"/>
              </a:spcAft>
              <a:buSzPct val="100000"/>
              <a:buChar char="•"/>
            </a:pPr>
            <a:r>
              <a:rPr lang="en-US" sz="1300" dirty="0">
                <a:solidFill>
                  <a:srgbClr val="241C3B"/>
                </a:solidFill>
                <a:latin typeface="Calibri" pitchFamily="34" charset="0"/>
                <a:ea typeface="Calibri" pitchFamily="34" charset="-122"/>
                <a:cs typeface="Calibri" pitchFamily="34" charset="-120"/>
              </a:rPr>
              <a:t>Program.cs — код прикладу з навчальними коментарями</a:t>
            </a:r>
            <a:endParaRPr lang="en-US" sz="1300" dirty="0"/>
          </a:p>
          <a:p>
            <a:pPr marL="127000" indent="-127000">
              <a:spcAft>
                <a:spcPts val="1000"/>
              </a:spcAft>
              <a:buSzPct val="100000"/>
              <a:buChar char="•"/>
            </a:pPr>
            <a:r>
              <a:rPr lang="en-US" sz="1300" dirty="0">
                <a:solidFill>
                  <a:srgbClr val="241C3B"/>
                </a:solidFill>
                <a:latin typeface="Calibri" pitchFamily="34" charset="0"/>
                <a:ea typeface="Calibri" pitchFamily="34" charset="-122"/>
                <a:cs typeface="Calibri" pitchFamily="34" charset="-120"/>
              </a:rPr>
              <a:t>NOTES.md — теорія, чеклист, посилання на документацію</a:t>
            </a:r>
            <a:endParaRPr lang="en-US" sz="1300" dirty="0"/>
          </a:p>
          <a:p>
            <a:pPr marL="127000" indent="-127000">
              <a:spcAft>
                <a:spcPts val="1000"/>
              </a:spcAft>
              <a:buSzPct val="100000"/>
              <a:buChar char="•"/>
            </a:pPr>
            <a:r>
              <a:rPr lang="en-US" sz="1300" dirty="0">
                <a:solidFill>
                  <a:srgbClr val="241C3B"/>
                </a:solidFill>
                <a:latin typeface="Calibri" pitchFamily="34" charset="0"/>
                <a:ea typeface="Calibri" pitchFamily="34" charset="-122"/>
                <a:cs typeface="Calibri" pitchFamily="34" charset="-120"/>
              </a:rPr>
              <a:t>*.http — готові запити для VS / Rider / VS Code</a:t>
            </a:r>
            <a:endParaRPr lang="en-US" sz="1300" dirty="0"/>
          </a:p>
          <a:p>
            <a:pPr marL="127000" indent="-127000">
              <a:spcAft>
                <a:spcPts val="1000"/>
              </a:spcAft>
              <a:buSzPct val="100000"/>
              <a:buChar char="•"/>
            </a:pPr>
            <a:r>
              <a:rPr lang="en-US" sz="1300" dirty="0">
                <a:solidFill>
                  <a:srgbClr val="241C3B"/>
                </a:solidFill>
                <a:latin typeface="Calibri" pitchFamily="34" charset="0"/>
                <a:ea typeface="Calibri" pitchFamily="34" charset="-122"/>
                <a:cs typeface="Calibri" pitchFamily="34" charset="-120"/>
              </a:rPr>
              <a:t>Кожен приклад слухає власний порт і запускається окремо</a:t>
            </a:r>
            <a:endParaRPr lang="en-US" sz="1300" dirty="0"/>
          </a:p>
        </p:txBody>
      </p:sp>
      <p:sp>
        <p:nvSpPr>
          <p:cNvPr id="8" name="Text 5"/>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333"/>
        </a:solidFill>
      </p:bgPr>
    </p:bg>
    <p:spTree>
      <p:nvGrpSpPr>
        <p:cNvPr id="1" name=""/>
        <p:cNvGrpSpPr/>
        <p:nvPr/>
      </p:nvGrpSpPr>
      <p:grpSpPr>
        <a:xfrm>
          <a:off x="0" y="0"/>
          <a:ext cx="0" cy="0"/>
          <a:chOff x="0" y="0"/>
          <a:chExt cx="0" cy="0"/>
        </a:xfrm>
      </p:grpSpPr>
      <p:sp>
        <p:nvSpPr>
          <p:cNvPr id="3" name="Text 0"/>
          <p:cNvSpPr txBox="1"/>
          <p:nvPr/>
        </p:nvSpPr>
        <p:spPr>
          <a:xfrm>
            <a:off x="7680960" y="182880"/>
            <a:ext cx="4572000" cy="6400800"/>
          </a:xfrm>
          <a:prstGeom prst="rect">
            <a:avLst/>
          </a:prstGeom>
          <a:noFill/>
          <a:ln/>
        </p:spPr>
        <p:txBody>
          <a:bodyPr wrap="square" lIns="0" tIns="0" rIns="0" bIns="0" rtlCol="0" anchor="ctr"/>
          <a:lstStyle/>
          <a:p>
            <a:pPr algn="r" indent="0" marL="0">
              <a:buNone/>
            </a:pPr>
            <a:r>
              <a:rPr lang="en-US" sz="32000" b="1" dirty="0">
                <a:solidFill>
                  <a:srgbClr val="2A1E52"/>
                </a:solidFill>
                <a:latin typeface="Cambria" pitchFamily="34" charset="0"/>
                <a:ea typeface="Cambria" pitchFamily="34" charset="-122"/>
                <a:cs typeface="Cambria" pitchFamily="34" charset="-120"/>
              </a:rPr>
              <a:t>1</a:t>
            </a:r>
            <a:endParaRPr lang="en-US" sz="32000" dirty="0"/>
          </a:p>
        </p:txBody>
      </p:sp>
      <p:sp>
        <p:nvSpPr>
          <p:cNvPr id="4" name="Text 1"/>
          <p:cNvSpPr txBox="1"/>
          <p:nvPr/>
        </p:nvSpPr>
        <p:spPr>
          <a:xfrm>
            <a:off x="914400" y="2286000"/>
            <a:ext cx="8229600" cy="365760"/>
          </a:xfrm>
          <a:prstGeom prst="rect">
            <a:avLst/>
          </a:prstGeom>
          <a:noFill/>
          <a:ln/>
        </p:spPr>
        <p:txBody>
          <a:bodyPr wrap="square" lIns="0" tIns="0" rIns="0" bIns="0" rtlCol="0" anchor="ctr"/>
          <a:lstStyle/>
          <a:p>
            <a:pPr indent="0" marL="0">
              <a:buNone/>
            </a:pPr>
            <a:r>
              <a:rPr lang="en-US" sz="1500" b="1" spc="300" kern="0" dirty="0">
                <a:solidFill>
                  <a:srgbClr val="0E9C8E"/>
                </a:solidFill>
                <a:latin typeface="Calibri" pitchFamily="34" charset="0"/>
                <a:ea typeface="Calibri" pitchFamily="34" charset="-122"/>
                <a:cs typeface="Calibri" pitchFamily="34" charset="-120"/>
              </a:rPr>
              <a:t>МОДУЛЬ 1</a:t>
            </a:r>
            <a:endParaRPr lang="en-US" sz="1500" dirty="0"/>
          </a:p>
        </p:txBody>
      </p:sp>
      <p:sp>
        <p:nvSpPr>
          <p:cNvPr id="5" name="Text 2"/>
          <p:cNvSpPr txBox="1"/>
          <p:nvPr/>
        </p:nvSpPr>
        <p:spPr>
          <a:xfrm>
            <a:off x="914400" y="2743200"/>
            <a:ext cx="7772400" cy="15544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Платформа .NET та ASP.NET Core</a:t>
            </a:r>
            <a:endParaRPr lang="en-US" sz="4000" dirty="0"/>
          </a:p>
        </p:txBody>
      </p:sp>
      <p:sp>
        <p:nvSpPr>
          <p:cNvPr id="6" name="Text 3"/>
          <p:cNvSpPr txBox="1"/>
          <p:nvPr/>
        </p:nvSpPr>
        <p:spPr>
          <a:xfrm>
            <a:off x="960120" y="4389120"/>
            <a:ext cx="6949440" cy="1828800"/>
          </a:xfrm>
          <a:prstGeom prst="rect">
            <a:avLst/>
          </a:prstGeom>
          <a:noFill/>
          <a:ln/>
        </p:spPr>
        <p:txBody>
          <a:bodyPr wrap="square" lIns="0" tIns="0" rIns="0" bIns="0" rtlCol="0" anchor="ctr"/>
          <a:lstStyle/>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Що таке .NET, runtime і SDK</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Модель застосунку: хост → сервер → конвеєр</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Дві фази: builder → app</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Kestrel, моделі хостингу, середовища</a:t>
            </a:r>
            <a:endParaRPr lang="en-US" sz="1400" dirty="0"/>
          </a:p>
        </p:txBody>
      </p:sp>
      <p:sp>
        <p:nvSpPr>
          <p:cNvPr id="7" name="Text 4"/>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9E93C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Що таке .NET</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.NET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платформа розробки: середовище виконання коду (runtime), стандартні бібліотеки та інструменти збірки. C# — лише одна з мов поверх неї.</a:t>
            </a:r>
            <a:endParaRPr lang="en-US" sz="14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2231136"/>
          <a:ext cx="11057839" cy="914400"/>
        </p:xfrm>
        <a:graphic>
          <a:graphicData uri="http://schemas.openxmlformats.org/drawingml/2006/table">
            <a:tbl>
              <a:tblPr/>
              <a:tblGrid>
                <a:gridCol w="2377440"/>
                <a:gridCol w="5943600"/>
                <a:gridCol w="2743200"/>
              </a:tblGrid>
              <a:tr h="59588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Складова</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Що це</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Приклад</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r>
              <a:tr h="595884">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CLR (runtime)</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віртуальна машина: JIT-компіляція IL, GC, потоки, безпека типів</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coreclr</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595884">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BCL</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базові бібліотеки: колекції, LINQ, IO, HTTP, JSON, DI-абстракції</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System.*</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595884">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SDK</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компілятор C# (Roslyn), MSBuild, CLI, шаблони, NuGet</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dotnet build</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595884">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ASP.NET Core</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фреймворк для веб/API поверх .NET</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Microsoft.AspNetCore.*</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595884">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Мова</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C# 14; F#; VB</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record, pattern matching</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bl>
          </a:graphicData>
        </a:graphic>
      </p:graphicFrame>
      <p:sp>
        <p:nvSpPr>
          <p:cNvPr id="7" name="Shape 3"/>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8" name="Text 4"/>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i="1" dirty="0">
                <a:solidFill>
                  <a:srgbClr val="241C3B"/>
                </a:solidFill>
                <a:latin typeface="Calibri" pitchFamily="34" charset="0"/>
                <a:ea typeface="Calibri" pitchFamily="34" charset="-122"/>
                <a:cs typeface="Calibri" pitchFamily="34" charset="-120"/>
              </a:rPr>
              <a:t>.NET 10 — LTS-реліз (листопад 2025). Один і той самий runtime на Windows, Linux, macOS.</a:t>
            </a:r>
            <a:endParaRPr lang="en-US" sz="1200" dirty="0"/>
          </a:p>
        </p:txBody>
      </p:sp>
      <p:sp>
        <p:nvSpPr>
          <p:cNvPr id="9" name="Text 5"/>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ASP.NET Core: принципи</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ASP.NET Core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переписаний з нуля (2016) крос-платформний наступник класичного ASP.NET — модульний, швидкий, побудований навколо DI та конвеєра middleware.</a:t>
            </a:r>
            <a:endParaRPr lang="en-US" sz="1450" dirty="0"/>
          </a:p>
        </p:txBody>
      </p:sp>
      <p:sp>
        <p:nvSpPr>
          <p:cNvPr id="6" name="Shape 3"/>
          <p:cNvSpPr/>
          <p:nvPr/>
        </p:nvSpPr>
        <p:spPr>
          <a:xfrm>
            <a:off x="566928" y="2231136"/>
            <a:ext cx="11057839" cy="614172"/>
          </a:xfrm>
          <a:prstGeom prst="roundRect">
            <a:avLst>
              <a:gd name="adj" fmla="val 7444"/>
            </a:avLst>
          </a:prstGeom>
          <a:solidFill>
            <a:srgbClr val="F3EFFD"/>
          </a:solidFill>
          <a:ln w="9525">
            <a:solidFill>
              <a:srgbClr val="D9CEF5"/>
            </a:solidFill>
            <a:prstDash val="solid"/>
          </a:ln>
        </p:spPr>
      </p:sp>
      <p:sp>
        <p:nvSpPr>
          <p:cNvPr id="7" name="Shape 4"/>
          <p:cNvSpPr/>
          <p:nvPr/>
        </p:nvSpPr>
        <p:spPr>
          <a:xfrm>
            <a:off x="768096" y="2364486"/>
            <a:ext cx="347472" cy="347472"/>
          </a:xfrm>
          <a:prstGeom prst="ellipse">
            <a:avLst/>
          </a:prstGeom>
          <a:solidFill>
            <a:srgbClr val="512BD4"/>
          </a:solidFill>
          <a:ln/>
        </p:spPr>
      </p:sp>
      <p:sp>
        <p:nvSpPr>
          <p:cNvPr id="8" name="Text 5"/>
          <p:cNvSpPr txBox="1"/>
          <p:nvPr/>
        </p:nvSpPr>
        <p:spPr>
          <a:xfrm>
            <a:off x="768096" y="236448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1298448" y="2231136"/>
            <a:ext cx="10097719" cy="614172"/>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Крос-платформність   </a:t>
            </a:r>
            <a:pPr indent="0" marL="0">
              <a:buNone/>
            </a:pPr>
            <a:r>
              <a:rPr lang="en-US" sz="1250" dirty="0">
                <a:solidFill>
                  <a:srgbClr val="6E6785"/>
                </a:solidFill>
                <a:latin typeface="Calibri" pitchFamily="34" charset="0"/>
                <a:ea typeface="Calibri" pitchFamily="34" charset="-122"/>
                <a:cs typeface="Calibri" pitchFamily="34" charset="-120"/>
              </a:rPr>
              <a:t>один код і один runtime на Windows, Linux, macOS; зручно для контейнерів</a:t>
            </a:r>
            <a:endParaRPr lang="en-US" sz="1500" dirty="0"/>
          </a:p>
        </p:txBody>
      </p:sp>
      <p:sp>
        <p:nvSpPr>
          <p:cNvPr id="10" name="Shape 7"/>
          <p:cNvSpPr/>
          <p:nvPr/>
        </p:nvSpPr>
        <p:spPr>
          <a:xfrm>
            <a:off x="566928" y="2927604"/>
            <a:ext cx="11057839" cy="614172"/>
          </a:xfrm>
          <a:prstGeom prst="roundRect">
            <a:avLst>
              <a:gd name="adj" fmla="val 7444"/>
            </a:avLst>
          </a:prstGeom>
          <a:solidFill>
            <a:srgbClr val="F3EFFD"/>
          </a:solidFill>
          <a:ln w="9525">
            <a:solidFill>
              <a:srgbClr val="D9CEF5"/>
            </a:solidFill>
            <a:prstDash val="solid"/>
          </a:ln>
        </p:spPr>
      </p:sp>
      <p:sp>
        <p:nvSpPr>
          <p:cNvPr id="11" name="Shape 8"/>
          <p:cNvSpPr/>
          <p:nvPr/>
        </p:nvSpPr>
        <p:spPr>
          <a:xfrm>
            <a:off x="768096" y="3060954"/>
            <a:ext cx="347472" cy="347472"/>
          </a:xfrm>
          <a:prstGeom prst="ellipse">
            <a:avLst/>
          </a:prstGeom>
          <a:solidFill>
            <a:srgbClr val="512BD4"/>
          </a:solidFill>
          <a:ln/>
        </p:spPr>
      </p:sp>
      <p:sp>
        <p:nvSpPr>
          <p:cNvPr id="12" name="Text 9"/>
          <p:cNvSpPr txBox="1"/>
          <p:nvPr/>
        </p:nvSpPr>
        <p:spPr>
          <a:xfrm>
            <a:off x="768096" y="306095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298448" y="2927604"/>
            <a:ext cx="10097719" cy="614172"/>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Модульність   </a:t>
            </a:r>
            <a:pPr indent="0" marL="0">
              <a:buNone/>
            </a:pPr>
            <a:r>
              <a:rPr lang="en-US" sz="1250" dirty="0">
                <a:solidFill>
                  <a:srgbClr val="6E6785"/>
                </a:solidFill>
                <a:latin typeface="Calibri" pitchFamily="34" charset="0"/>
                <a:ea typeface="Calibri" pitchFamily="34" charset="-122"/>
                <a:cs typeface="Calibri" pitchFamily="34" charset="-120"/>
              </a:rPr>
              <a:t>тонке ядро плюс NuGet-пакети — підключаєте лише те, що реально потрібно</a:t>
            </a:r>
            <a:endParaRPr lang="en-US" sz="1500" dirty="0"/>
          </a:p>
        </p:txBody>
      </p:sp>
      <p:sp>
        <p:nvSpPr>
          <p:cNvPr id="14" name="Shape 11"/>
          <p:cNvSpPr/>
          <p:nvPr/>
        </p:nvSpPr>
        <p:spPr>
          <a:xfrm>
            <a:off x="566928" y="3624072"/>
            <a:ext cx="11057839" cy="614172"/>
          </a:xfrm>
          <a:prstGeom prst="roundRect">
            <a:avLst>
              <a:gd name="adj" fmla="val 7444"/>
            </a:avLst>
          </a:prstGeom>
          <a:solidFill>
            <a:srgbClr val="F3EFFD"/>
          </a:solidFill>
          <a:ln w="9525">
            <a:solidFill>
              <a:srgbClr val="D9CEF5"/>
            </a:solidFill>
            <a:prstDash val="solid"/>
          </a:ln>
        </p:spPr>
      </p:sp>
      <p:sp>
        <p:nvSpPr>
          <p:cNvPr id="15" name="Shape 12"/>
          <p:cNvSpPr/>
          <p:nvPr/>
        </p:nvSpPr>
        <p:spPr>
          <a:xfrm>
            <a:off x="768096" y="3757422"/>
            <a:ext cx="347472" cy="347472"/>
          </a:xfrm>
          <a:prstGeom prst="ellipse">
            <a:avLst/>
          </a:prstGeom>
          <a:solidFill>
            <a:srgbClr val="512BD4"/>
          </a:solidFill>
          <a:ln/>
        </p:spPr>
      </p:sp>
      <p:sp>
        <p:nvSpPr>
          <p:cNvPr id="16" name="Text 13"/>
          <p:cNvSpPr txBox="1"/>
          <p:nvPr/>
        </p:nvSpPr>
        <p:spPr>
          <a:xfrm>
            <a:off x="768096" y="375742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txBox="1"/>
          <p:nvPr/>
        </p:nvSpPr>
        <p:spPr>
          <a:xfrm>
            <a:off x="1298448" y="3624072"/>
            <a:ext cx="10097719" cy="614172"/>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DI від першого дня   </a:t>
            </a:r>
            <a:pPr indent="0" marL="0">
              <a:buNone/>
            </a:pPr>
            <a:r>
              <a:rPr lang="en-US" sz="1250" dirty="0">
                <a:solidFill>
                  <a:srgbClr val="6E6785"/>
                </a:solidFill>
                <a:latin typeface="Calibri" pitchFamily="34" charset="0"/>
                <a:ea typeface="Calibri" pitchFamily="34" charset="-122"/>
                <a:cs typeface="Calibri" pitchFamily="34" charset="-120"/>
              </a:rPr>
              <a:t>контейнер вбудований, і сам фреймворк побудований на впровадженні залежностей</a:t>
            </a:r>
            <a:endParaRPr lang="en-US" sz="1500" dirty="0"/>
          </a:p>
        </p:txBody>
      </p:sp>
      <p:sp>
        <p:nvSpPr>
          <p:cNvPr id="18" name="Shape 15"/>
          <p:cNvSpPr/>
          <p:nvPr/>
        </p:nvSpPr>
        <p:spPr>
          <a:xfrm>
            <a:off x="566928" y="4320540"/>
            <a:ext cx="11057839" cy="614172"/>
          </a:xfrm>
          <a:prstGeom prst="roundRect">
            <a:avLst>
              <a:gd name="adj" fmla="val 7444"/>
            </a:avLst>
          </a:prstGeom>
          <a:solidFill>
            <a:srgbClr val="F3EFFD"/>
          </a:solidFill>
          <a:ln w="9525">
            <a:solidFill>
              <a:srgbClr val="D9CEF5"/>
            </a:solidFill>
            <a:prstDash val="solid"/>
          </a:ln>
        </p:spPr>
      </p:sp>
      <p:sp>
        <p:nvSpPr>
          <p:cNvPr id="19" name="Shape 16"/>
          <p:cNvSpPr/>
          <p:nvPr/>
        </p:nvSpPr>
        <p:spPr>
          <a:xfrm>
            <a:off x="768096" y="4453890"/>
            <a:ext cx="347472" cy="347472"/>
          </a:xfrm>
          <a:prstGeom prst="ellipse">
            <a:avLst/>
          </a:prstGeom>
          <a:solidFill>
            <a:srgbClr val="512BD4"/>
          </a:solidFill>
          <a:ln/>
        </p:spPr>
      </p:sp>
      <p:sp>
        <p:nvSpPr>
          <p:cNvPr id="20" name="Text 17"/>
          <p:cNvSpPr txBox="1"/>
          <p:nvPr/>
        </p:nvSpPr>
        <p:spPr>
          <a:xfrm>
            <a:off x="768096" y="445389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txBox="1"/>
          <p:nvPr/>
        </p:nvSpPr>
        <p:spPr>
          <a:xfrm>
            <a:off x="1298448" y="4320540"/>
            <a:ext cx="10097719" cy="614172"/>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Конвеєр middleware   </a:t>
            </a:r>
            <a:pPr indent="0" marL="0">
              <a:buNone/>
            </a:pPr>
            <a:r>
              <a:rPr lang="en-US" sz="1250" dirty="0">
                <a:solidFill>
                  <a:srgbClr val="6E6785"/>
                </a:solidFill>
                <a:latin typeface="Calibri" pitchFamily="34" charset="0"/>
                <a:ea typeface="Calibri" pitchFamily="34" charset="-122"/>
                <a:cs typeface="Calibri" pitchFamily="34" charset="-120"/>
              </a:rPr>
              <a:t>єдина проста абстракція обробки запиту замість старих HTTP-модулів і handlers</a:t>
            </a:r>
            <a:endParaRPr lang="en-US" sz="1500" dirty="0"/>
          </a:p>
        </p:txBody>
      </p:sp>
      <p:sp>
        <p:nvSpPr>
          <p:cNvPr id="22" name="Shape 19"/>
          <p:cNvSpPr/>
          <p:nvPr/>
        </p:nvSpPr>
        <p:spPr>
          <a:xfrm>
            <a:off x="566928" y="5017008"/>
            <a:ext cx="11057839" cy="614172"/>
          </a:xfrm>
          <a:prstGeom prst="roundRect">
            <a:avLst>
              <a:gd name="adj" fmla="val 7444"/>
            </a:avLst>
          </a:prstGeom>
          <a:solidFill>
            <a:srgbClr val="F3EFFD"/>
          </a:solidFill>
          <a:ln w="9525">
            <a:solidFill>
              <a:srgbClr val="D9CEF5"/>
            </a:solidFill>
            <a:prstDash val="solid"/>
          </a:ln>
        </p:spPr>
      </p:sp>
      <p:sp>
        <p:nvSpPr>
          <p:cNvPr id="23" name="Shape 20"/>
          <p:cNvSpPr/>
          <p:nvPr/>
        </p:nvSpPr>
        <p:spPr>
          <a:xfrm>
            <a:off x="768096" y="5150358"/>
            <a:ext cx="347472" cy="347472"/>
          </a:xfrm>
          <a:prstGeom prst="ellipse">
            <a:avLst/>
          </a:prstGeom>
          <a:solidFill>
            <a:srgbClr val="512BD4"/>
          </a:solidFill>
          <a:ln/>
        </p:spPr>
      </p:sp>
      <p:sp>
        <p:nvSpPr>
          <p:cNvPr id="24" name="Text 21"/>
          <p:cNvSpPr txBox="1"/>
          <p:nvPr/>
        </p:nvSpPr>
        <p:spPr>
          <a:xfrm>
            <a:off x="768096" y="515035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2"/>
          <p:cNvSpPr txBox="1"/>
          <p:nvPr/>
        </p:nvSpPr>
        <p:spPr>
          <a:xfrm>
            <a:off x="1298448" y="5017008"/>
            <a:ext cx="10097719" cy="614172"/>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Продуктивність   </a:t>
            </a:r>
            <a:pPr indent="0" marL="0">
              <a:buNone/>
            </a:pPr>
            <a:r>
              <a:rPr lang="en-US" sz="1250" dirty="0">
                <a:solidFill>
                  <a:srgbClr val="6E6785"/>
                </a:solidFill>
                <a:latin typeface="Calibri" pitchFamily="34" charset="0"/>
                <a:ea typeface="Calibri" pitchFamily="34" charset="-122"/>
                <a:cs typeface="Calibri" pitchFamily="34" charset="-120"/>
              </a:rPr>
              <a:t>Kestrel — один із найшвидших HTTP-серверів; асинхронність усюди, мінімум алокацій</a:t>
            </a:r>
            <a:endParaRPr lang="en-US" sz="1500" dirty="0"/>
          </a:p>
        </p:txBody>
      </p:sp>
      <p:sp>
        <p:nvSpPr>
          <p:cNvPr id="26" name="Shape 23"/>
          <p:cNvSpPr/>
          <p:nvPr/>
        </p:nvSpPr>
        <p:spPr>
          <a:xfrm>
            <a:off x="566928" y="5713476"/>
            <a:ext cx="11057839" cy="614172"/>
          </a:xfrm>
          <a:prstGeom prst="roundRect">
            <a:avLst>
              <a:gd name="adj" fmla="val 7444"/>
            </a:avLst>
          </a:prstGeom>
          <a:solidFill>
            <a:srgbClr val="F3EFFD"/>
          </a:solidFill>
          <a:ln w="9525">
            <a:solidFill>
              <a:srgbClr val="D9CEF5"/>
            </a:solidFill>
            <a:prstDash val="solid"/>
          </a:ln>
        </p:spPr>
      </p:sp>
      <p:sp>
        <p:nvSpPr>
          <p:cNvPr id="27" name="Shape 24"/>
          <p:cNvSpPr/>
          <p:nvPr/>
        </p:nvSpPr>
        <p:spPr>
          <a:xfrm>
            <a:off x="768096" y="5846826"/>
            <a:ext cx="347472" cy="347472"/>
          </a:xfrm>
          <a:prstGeom prst="ellipse">
            <a:avLst/>
          </a:prstGeom>
          <a:solidFill>
            <a:srgbClr val="512BD4"/>
          </a:solidFill>
          <a:ln/>
        </p:spPr>
      </p:sp>
      <p:sp>
        <p:nvSpPr>
          <p:cNvPr id="28" name="Text 25"/>
          <p:cNvSpPr txBox="1"/>
          <p:nvPr/>
        </p:nvSpPr>
        <p:spPr>
          <a:xfrm>
            <a:off x="768096" y="584682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9" name="Text 26"/>
          <p:cNvSpPr txBox="1"/>
          <p:nvPr/>
        </p:nvSpPr>
        <p:spPr>
          <a:xfrm>
            <a:off x="1298448" y="5713476"/>
            <a:ext cx="10097719" cy="614172"/>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Уніфікований хост   </a:t>
            </a:r>
            <a:pPr indent="0" marL="0">
              <a:buNone/>
            </a:pPr>
            <a:r>
              <a:rPr lang="en-US" sz="1250" dirty="0">
                <a:solidFill>
                  <a:srgbClr val="6E6785"/>
                </a:solidFill>
                <a:latin typeface="Calibri" pitchFamily="34" charset="0"/>
                <a:ea typeface="Calibri" pitchFamily="34" charset="-122"/>
                <a:cs typeface="Calibri" pitchFamily="34" charset="-120"/>
              </a:rPr>
              <a:t>той самий Host для веб, фонових воркерів, gRPC і Blazor</a:t>
            </a:r>
            <a:endParaRPr lang="en-US" sz="1500" dirty="0"/>
          </a:p>
        </p:txBody>
      </p:sp>
      <p:sp>
        <p:nvSpPr>
          <p:cNvPr id="30" name="Text 27"/>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Модель застосунку</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Host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загальний контейнер застосунку: керує запуском і зупинкою, тримає DI-контейнер, конфігурацію, логування та фонові сервіси. Той самий Host у веб, воркерів, gRPC.</a:t>
            </a:r>
            <a:endParaRPr lang="en-US" sz="1450" dirty="0"/>
          </a:p>
        </p:txBody>
      </p:sp>
      <p:pic>
        <p:nvPicPr>
          <p:cNvPr id="6" name="Image 0" descr="C:\Users\Yurii\AppData\Local\Temp\claude\C--Users-Yurii-source-repos---Examples-ASP-NET-AspNet-Basics\130b0e02-3c53-4be1-ac71-0d4d7a5d1c71\scratchpad\deck\assets\d01_host.png">    </p:cNvPr>
          <p:cNvPicPr>
            <a:picLocks noChangeAspect="1"/>
          </p:cNvPicPr>
          <p:nvPr/>
        </p:nvPicPr>
        <p:blipFill>
          <a:blip r:embed="rId1"/>
          <a:stretch>
            <a:fillRect/>
          </a:stretch>
        </p:blipFill>
        <p:spPr>
          <a:xfrm>
            <a:off x="3094052" y="2276856"/>
            <a:ext cx="6003591" cy="3529584"/>
          </a:xfrm>
          <a:prstGeom prst="rect">
            <a:avLst/>
          </a:prstGeom>
        </p:spPr>
      </p:pic>
      <p:sp>
        <p:nvSpPr>
          <p:cNvPr id="7" name="Shape 3"/>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8" name="Text 4"/>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dirty="0">
                <a:solidFill>
                  <a:srgbClr val="241C3B"/>
                </a:solidFill>
                <a:latin typeface="Calibri" pitchFamily="34" charset="0"/>
                <a:ea typeface="Calibri" pitchFamily="34" charset="-122"/>
                <a:cs typeface="Calibri" pitchFamily="34" charset="-120"/>
              </a:rPr>
              <a:t>Host містить HTTP-сервер Kestrel (формує HttpContext), а той — конвеєр middleware, остання ланка якого ваш endpoint.</a:t>
            </a:r>
            <a:endParaRPr lang="en-US" sz="1200" dirty="0"/>
          </a:p>
        </p:txBody>
      </p:sp>
      <p:sp>
        <p:nvSpPr>
          <p:cNvPr id="9" name="Text 5"/>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Дві фази: builder → app</a:t>
            </a:r>
            <a:endParaRPr lang="en-US" sz="3000" dirty="0"/>
          </a:p>
        </p:txBody>
      </p:sp>
      <p:sp>
        <p:nvSpPr>
          <p:cNvPr id="4" name="Text 1"/>
          <p:cNvSpPr txBox="1"/>
          <p:nvPr/>
        </p:nvSpPr>
        <p:spPr>
          <a:xfrm>
            <a:off x="566928" y="1060704"/>
            <a:ext cx="11057839" cy="365760"/>
          </a:xfrm>
          <a:prstGeom prst="rect">
            <a:avLst/>
          </a:prstGeom>
          <a:noFill/>
          <a:ln/>
        </p:spPr>
        <p:txBody>
          <a:bodyPr wrap="square" lIns="0" tIns="0" rIns="0" bIns="0" rtlCol="0" anchor="ctr"/>
          <a:lstStyle/>
          <a:p>
            <a:pPr indent="0" marL="0">
              <a:buNone/>
            </a:pPr>
            <a:r>
              <a:rPr lang="en-US" sz="1400" dirty="0">
                <a:solidFill>
                  <a:srgbClr val="6E6785"/>
                </a:solidFill>
                <a:latin typeface="Calibri" pitchFamily="34" charset="0"/>
                <a:ea typeface="Calibri" pitchFamily="34" charset="-122"/>
                <a:cs typeface="Calibri" pitchFamily="34" charset="-120"/>
              </a:rPr>
              <a:t>CreateBuilder(args) конфігурує; Build() «запечатує» контейнер; далі — конвеєр і запуск</a:t>
            </a:r>
            <a:endParaRPr lang="en-US" sz="1400" dirty="0"/>
          </a:p>
        </p:txBody>
      </p:sp>
      <p:pic>
        <p:nvPicPr>
          <p:cNvPr id="5" name="Image 0" descr="C:\Users\Yurii\AppData\Local\Temp\claude\C--Users-Yurii-source-repos---Examples-ASP-NET-AspNet-Basics\130b0e02-3c53-4be1-ac71-0d4d7a5d1c71\scratchpad\deck\assets\d02_twophase.png">    </p:cNvPr>
          <p:cNvPicPr>
            <a:picLocks noChangeAspect="1"/>
          </p:cNvPicPr>
          <p:nvPr/>
        </p:nvPicPr>
        <p:blipFill>
          <a:blip r:embed="rId1"/>
          <a:stretch>
            <a:fillRect/>
          </a:stretch>
        </p:blipFill>
        <p:spPr>
          <a:xfrm>
            <a:off x="566928" y="1609226"/>
            <a:ext cx="11057839" cy="4188189"/>
          </a:xfrm>
          <a:prstGeom prst="rect">
            <a:avLst/>
          </a:prstGeom>
        </p:spPr>
      </p:pic>
      <p:sp>
        <p:nvSpPr>
          <p:cNvPr id="6" name="Shape 2"/>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7" name="Text 3"/>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dirty="0">
                <a:solidFill>
                  <a:srgbClr val="241C3B"/>
                </a:solidFill>
                <a:latin typeface="Calibri" pitchFamily="34" charset="0"/>
                <a:ea typeface="Calibri" pitchFamily="34" charset="-122"/>
                <a:cs typeface="Calibri" pitchFamily="34" charset="-120"/>
              </a:rPr>
              <a:t>Спроба додати сервіс після Build() — виняток. Склад контейнера має бути детермінованим.</a:t>
            </a:r>
            <a:endParaRPr lang="en-US" sz="1200" dirty="0"/>
          </a:p>
        </p:txBody>
      </p:sp>
      <p:sp>
        <p:nvSpPr>
          <p:cNvPr id="8" name="Text 4"/>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Що CreateBuilder дає безкоштовно</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243584"/>
          <a:ext cx="11057839" cy="914400"/>
        </p:xfrm>
        <a:graphic>
          <a:graphicData uri="http://schemas.openxmlformats.org/drawingml/2006/table">
            <a:tbl>
              <a:tblPr/>
              <a:tblGrid>
                <a:gridCol w="3108960"/>
                <a:gridCol w="7955280"/>
              </a:tblGrid>
              <a:tr h="651837">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Підсистема</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Налаштовано за замовчуванням</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r>
              <a:tr h="651837">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Конфігурація</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appsettings.json → appsettings.{Env}.json → User Secrets → env vars → CLI args</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1837">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Логування</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провайдери Console, Debug, EventSource</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651837">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HTTP-сервер</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Kestrel + інтеграція з IIS</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1837">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DI-контейнер</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Microsoft.Extensions.DependencyInjection</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651837">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Середовище</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IWebHostEnvironment зі змінної ASPNETCORE_ENVIRONMENT</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1837">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DI-валідація</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у Development перевіряються області (scopes)</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bl>
          </a:graphicData>
        </a:graphic>
      </p:graphicFrame>
      <p:sp>
        <p:nvSpPr>
          <p:cNvPr id="5" name="Shape 1"/>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6" name="Text 2"/>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i="1" dirty="0">
                <a:solidFill>
                  <a:srgbClr val="241C3B"/>
                </a:solidFill>
                <a:latin typeface="Calibri" pitchFamily="34" charset="0"/>
                <a:ea typeface="Calibri" pitchFamily="34" charset="-122"/>
                <a:cs typeface="Calibri" pitchFamily="34" charset="-120"/>
              </a:rPr>
              <a:t>Приклад 01 показує це мінімальним застосунком на кілька рядків.</a:t>
            </a:r>
            <a:endParaRPr lang="en-US" sz="1200" dirty="0"/>
          </a:p>
        </p:txBody>
      </p:sp>
      <p:sp>
        <p:nvSpPr>
          <p:cNvPr id="7" name="Text 3"/>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Життєвий цикл процесу</a:t>
            </a:r>
            <a:endParaRPr lang="en-US" sz="3000" dirty="0"/>
          </a:p>
        </p:txBody>
      </p:sp>
      <p:sp>
        <p:nvSpPr>
          <p:cNvPr id="4" name="Text 1"/>
          <p:cNvSpPr txBox="1"/>
          <p:nvPr/>
        </p:nvSpPr>
        <p:spPr>
          <a:xfrm>
            <a:off x="566928" y="1243584"/>
            <a:ext cx="11057839" cy="603504"/>
          </a:xfrm>
          <a:prstGeom prst="rect">
            <a:avLst/>
          </a:prstGeom>
          <a:noFill/>
          <a:ln/>
        </p:spPr>
        <p:txBody>
          <a:bodyPr wrap="square" lIns="0" tIns="0" rIns="0" bIns="0" rtlCol="0" anchor="t"/>
          <a:lstStyle/>
          <a:p>
            <a:pPr indent="0" marL="0">
              <a:lnSpc>
                <a:spcPct val="116000"/>
              </a:lnSpc>
              <a:buNone/>
            </a:pPr>
            <a:r>
              <a:rPr lang="en-US" sz="1300" dirty="0">
                <a:solidFill>
                  <a:srgbClr val="241C3B"/>
                </a:solidFill>
                <a:latin typeface="Calibri" pitchFamily="34" charset="0"/>
                <a:ea typeface="Calibri" pitchFamily="34" charset="-122"/>
                <a:cs typeface="Calibri" pitchFamily="34" charset="-120"/>
              </a:rPr>
              <a:t>IHostApplicationLifetime дає три токени скасування. На сигнал SIGINT (Ctrl+C) або SIGTERM (від оркестратора) застосунок завершується не різко, а поетапно:</a:t>
            </a:r>
            <a:endParaRPr lang="en-US" sz="1300" dirty="0"/>
          </a:p>
        </p:txBody>
      </p:sp>
      <p:sp>
        <p:nvSpPr>
          <p:cNvPr id="5" name="Shape 2"/>
          <p:cNvSpPr/>
          <p:nvPr/>
        </p:nvSpPr>
        <p:spPr>
          <a:xfrm>
            <a:off x="566928" y="1993392"/>
            <a:ext cx="11057839" cy="852678"/>
          </a:xfrm>
          <a:prstGeom prst="roundRect">
            <a:avLst>
              <a:gd name="adj" fmla="val 5362"/>
            </a:avLst>
          </a:prstGeom>
          <a:solidFill>
            <a:srgbClr val="F3EFFD"/>
          </a:solidFill>
          <a:ln w="9525">
            <a:solidFill>
              <a:srgbClr val="D9CEF5"/>
            </a:solidFill>
            <a:prstDash val="solid"/>
          </a:ln>
        </p:spPr>
      </p:sp>
      <p:sp>
        <p:nvSpPr>
          <p:cNvPr id="6" name="Shape 3"/>
          <p:cNvSpPr/>
          <p:nvPr/>
        </p:nvSpPr>
        <p:spPr>
          <a:xfrm>
            <a:off x="768096" y="2245995"/>
            <a:ext cx="347472" cy="347472"/>
          </a:xfrm>
          <a:prstGeom prst="ellipse">
            <a:avLst/>
          </a:prstGeom>
          <a:solidFill>
            <a:srgbClr val="512BD4"/>
          </a:solidFill>
          <a:ln/>
        </p:spPr>
      </p:sp>
      <p:sp>
        <p:nvSpPr>
          <p:cNvPr id="7" name="Text 4"/>
          <p:cNvSpPr txBox="1"/>
          <p:nvPr/>
        </p:nvSpPr>
        <p:spPr>
          <a:xfrm>
            <a:off x="768096" y="2245995"/>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298448" y="1993392"/>
            <a:ext cx="10097719" cy="852678"/>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1. ApplicationStopping   </a:t>
            </a:r>
            <a:pPr indent="0" marL="0">
              <a:buNone/>
            </a:pPr>
            <a:r>
              <a:rPr lang="en-US" sz="1250" dirty="0">
                <a:solidFill>
                  <a:srgbClr val="6E6785"/>
                </a:solidFill>
                <a:latin typeface="Calibri" pitchFamily="34" charset="0"/>
                <a:ea typeface="Calibri" pitchFamily="34" charset="-122"/>
                <a:cs typeface="Calibri" pitchFamily="34" charset="-120"/>
              </a:rPr>
              <a:t>спрацьовує першим; сервер перестає приймати нові з'єднання</a:t>
            </a:r>
            <a:endParaRPr lang="en-US" sz="1500" dirty="0"/>
          </a:p>
        </p:txBody>
      </p:sp>
      <p:sp>
        <p:nvSpPr>
          <p:cNvPr id="9" name="Shape 6"/>
          <p:cNvSpPr/>
          <p:nvPr/>
        </p:nvSpPr>
        <p:spPr>
          <a:xfrm>
            <a:off x="566928" y="2964942"/>
            <a:ext cx="11057839" cy="852678"/>
          </a:xfrm>
          <a:prstGeom prst="roundRect">
            <a:avLst>
              <a:gd name="adj" fmla="val 5362"/>
            </a:avLst>
          </a:prstGeom>
          <a:solidFill>
            <a:srgbClr val="F3EFFD"/>
          </a:solidFill>
          <a:ln w="9525">
            <a:solidFill>
              <a:srgbClr val="D9CEF5"/>
            </a:solidFill>
            <a:prstDash val="solid"/>
          </a:ln>
        </p:spPr>
      </p:sp>
      <p:sp>
        <p:nvSpPr>
          <p:cNvPr id="10" name="Shape 7"/>
          <p:cNvSpPr/>
          <p:nvPr/>
        </p:nvSpPr>
        <p:spPr>
          <a:xfrm>
            <a:off x="768096" y="3217545"/>
            <a:ext cx="347472" cy="347472"/>
          </a:xfrm>
          <a:prstGeom prst="ellipse">
            <a:avLst/>
          </a:prstGeom>
          <a:solidFill>
            <a:srgbClr val="512BD4"/>
          </a:solidFill>
          <a:ln/>
        </p:spPr>
      </p:sp>
      <p:sp>
        <p:nvSpPr>
          <p:cNvPr id="11" name="Text 8"/>
          <p:cNvSpPr txBox="1"/>
          <p:nvPr/>
        </p:nvSpPr>
        <p:spPr>
          <a:xfrm>
            <a:off x="768096" y="3217545"/>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txBox="1"/>
          <p:nvPr/>
        </p:nvSpPr>
        <p:spPr>
          <a:xfrm>
            <a:off x="1298448" y="2964942"/>
            <a:ext cx="10097719" cy="852678"/>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2. Дренаж   </a:t>
            </a:r>
            <a:pPr indent="0" marL="0">
              <a:buNone/>
            </a:pPr>
            <a:r>
              <a:rPr lang="en-US" sz="1250" dirty="0">
                <a:solidFill>
                  <a:srgbClr val="6E6785"/>
                </a:solidFill>
                <a:latin typeface="Calibri" pitchFamily="34" charset="0"/>
                <a:ea typeface="Calibri" pitchFamily="34" charset="-122"/>
                <a:cs typeface="Calibri" pitchFamily="34" charset="-120"/>
              </a:rPr>
              <a:t>поточні запити добігають до кінця — за замовчуванням до 30 секунд (ShutdownTimeout)</a:t>
            </a:r>
            <a:endParaRPr lang="en-US" sz="1500" dirty="0"/>
          </a:p>
        </p:txBody>
      </p:sp>
      <p:sp>
        <p:nvSpPr>
          <p:cNvPr id="13" name="Shape 10"/>
          <p:cNvSpPr/>
          <p:nvPr/>
        </p:nvSpPr>
        <p:spPr>
          <a:xfrm>
            <a:off x="566928" y="3936492"/>
            <a:ext cx="11057839" cy="852678"/>
          </a:xfrm>
          <a:prstGeom prst="roundRect">
            <a:avLst>
              <a:gd name="adj" fmla="val 5362"/>
            </a:avLst>
          </a:prstGeom>
          <a:solidFill>
            <a:srgbClr val="F3EFFD"/>
          </a:solidFill>
          <a:ln w="9525">
            <a:solidFill>
              <a:srgbClr val="D9CEF5"/>
            </a:solidFill>
            <a:prstDash val="solid"/>
          </a:ln>
        </p:spPr>
      </p:sp>
      <p:sp>
        <p:nvSpPr>
          <p:cNvPr id="14" name="Shape 11"/>
          <p:cNvSpPr/>
          <p:nvPr/>
        </p:nvSpPr>
        <p:spPr>
          <a:xfrm>
            <a:off x="768096" y="4189095"/>
            <a:ext cx="347472" cy="347472"/>
          </a:xfrm>
          <a:prstGeom prst="ellipse">
            <a:avLst/>
          </a:prstGeom>
          <a:solidFill>
            <a:srgbClr val="512BD4"/>
          </a:solidFill>
          <a:ln/>
        </p:spPr>
      </p:sp>
      <p:sp>
        <p:nvSpPr>
          <p:cNvPr id="15" name="Text 12"/>
          <p:cNvSpPr txBox="1"/>
          <p:nvPr/>
        </p:nvSpPr>
        <p:spPr>
          <a:xfrm>
            <a:off x="768096" y="4189095"/>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3"/>
          <p:cNvSpPr txBox="1"/>
          <p:nvPr/>
        </p:nvSpPr>
        <p:spPr>
          <a:xfrm>
            <a:off x="1298448" y="3936492"/>
            <a:ext cx="10097719" cy="852678"/>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3. IHostedService.StopAsync   </a:t>
            </a:r>
            <a:pPr indent="0" marL="0">
              <a:buNone/>
            </a:pPr>
            <a:r>
              <a:rPr lang="en-US" sz="1250" dirty="0">
                <a:solidFill>
                  <a:srgbClr val="6E6785"/>
                </a:solidFill>
                <a:latin typeface="Calibri" pitchFamily="34" charset="0"/>
                <a:ea typeface="Calibri" pitchFamily="34" charset="-122"/>
                <a:cs typeface="Calibri" pitchFamily="34" charset="-120"/>
              </a:rPr>
              <a:t>зупиняються фонові сервіси у зворотному порядку реєстрації</a:t>
            </a:r>
            <a:endParaRPr lang="en-US" sz="1500" dirty="0"/>
          </a:p>
        </p:txBody>
      </p:sp>
      <p:sp>
        <p:nvSpPr>
          <p:cNvPr id="17" name="Shape 14"/>
          <p:cNvSpPr/>
          <p:nvPr/>
        </p:nvSpPr>
        <p:spPr>
          <a:xfrm>
            <a:off x="566928" y="4908042"/>
            <a:ext cx="11057839" cy="852678"/>
          </a:xfrm>
          <a:prstGeom prst="roundRect">
            <a:avLst>
              <a:gd name="adj" fmla="val 5362"/>
            </a:avLst>
          </a:prstGeom>
          <a:solidFill>
            <a:srgbClr val="F3EFFD"/>
          </a:solidFill>
          <a:ln w="9525">
            <a:solidFill>
              <a:srgbClr val="D9CEF5"/>
            </a:solidFill>
            <a:prstDash val="solid"/>
          </a:ln>
        </p:spPr>
      </p:sp>
      <p:sp>
        <p:nvSpPr>
          <p:cNvPr id="18" name="Shape 15"/>
          <p:cNvSpPr/>
          <p:nvPr/>
        </p:nvSpPr>
        <p:spPr>
          <a:xfrm>
            <a:off x="768096" y="5160645"/>
            <a:ext cx="347472" cy="347472"/>
          </a:xfrm>
          <a:prstGeom prst="ellipse">
            <a:avLst/>
          </a:prstGeom>
          <a:solidFill>
            <a:srgbClr val="512BD4"/>
          </a:solidFill>
          <a:ln/>
        </p:spPr>
      </p:sp>
      <p:sp>
        <p:nvSpPr>
          <p:cNvPr id="19" name="Text 16"/>
          <p:cNvSpPr txBox="1"/>
          <p:nvPr/>
        </p:nvSpPr>
        <p:spPr>
          <a:xfrm>
            <a:off x="768096" y="5160645"/>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7"/>
          <p:cNvSpPr txBox="1"/>
          <p:nvPr/>
        </p:nvSpPr>
        <p:spPr>
          <a:xfrm>
            <a:off x="1298448" y="4908042"/>
            <a:ext cx="10097719" cy="852678"/>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4. ApplicationStopped   </a:t>
            </a:r>
            <a:pPr indent="0" marL="0">
              <a:buNone/>
            </a:pPr>
            <a:r>
              <a:rPr lang="en-US" sz="1250" dirty="0">
                <a:solidFill>
                  <a:srgbClr val="6E6785"/>
                </a:solidFill>
                <a:latin typeface="Calibri" pitchFamily="34" charset="0"/>
                <a:ea typeface="Calibri" pitchFamily="34" charset="-122"/>
                <a:cs typeface="Calibri" pitchFamily="34" charset="-120"/>
              </a:rPr>
              <a:t>спрацьовує наприкінці, процес виходить</a:t>
            </a:r>
            <a:endParaRPr lang="en-US" sz="1500" dirty="0"/>
          </a:p>
        </p:txBody>
      </p:sp>
      <p:sp>
        <p:nvSpPr>
          <p:cNvPr id="21" name="Shape 18"/>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22" name="Text 19"/>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i="1" dirty="0">
                <a:solidFill>
                  <a:srgbClr val="241C3B"/>
                </a:solidFill>
                <a:latin typeface="Calibri" pitchFamily="34" charset="0"/>
                <a:ea typeface="Calibri" pitchFamily="34" charset="-122"/>
                <a:cs typeface="Calibri" pitchFamily="34" charset="-120"/>
              </a:rPr>
              <a:t>Критично для Kubernetes: він надсилає SIGTERM перед видаленням поду; різкий обрив запитів = помилки в користувачів.</a:t>
            </a:r>
            <a:endParaRPr lang="en-US" sz="1200" dirty="0"/>
          </a:p>
        </p:txBody>
      </p:sp>
      <p:sp>
        <p:nvSpPr>
          <p:cNvPr id="23" name="Text 20"/>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HTTP-сервери</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879092"/>
          <a:ext cx="11057839" cy="914400"/>
        </p:xfrm>
        <a:graphic>
          <a:graphicData uri="http://schemas.openxmlformats.org/drawingml/2006/table">
            <a:tbl>
              <a:tblPr/>
              <a:tblGrid>
                <a:gridCol w="2103120"/>
                <a:gridCol w="2377440"/>
                <a:gridCol w="6583680"/>
              </a:tblGrid>
              <a:tr h="6583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Сервер</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Платформа</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Коли обирають</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Kestrel</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крос-платформа</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за замовчуванням; сам «дивиться в мережу» або за реверс-проксі</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IIS (in-process)</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Windows</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AspNetCoreModuleV2 хостить застосунок усередині w3wp.exe</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IIS (out-of-process)</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Windows</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IIS як проксі до Kestrel</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HTTP.sys</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Windows</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потрібні Windows-автентифікація, port sharing, kernel-mode</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bl>
          </a:graphicData>
        </a:graphic>
      </p:graphicFrame>
      <p:sp>
        <p:nvSpPr>
          <p:cNvPr id="5" name="Shape 1"/>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6" name="Text 2"/>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i="1" dirty="0">
                <a:solidFill>
                  <a:srgbClr val="241C3B"/>
                </a:solidFill>
                <a:latin typeface="Calibri" pitchFamily="34" charset="0"/>
                <a:ea typeface="Calibri" pitchFamily="34" charset="-122"/>
                <a:cs typeface="Calibri" pitchFamily="34" charset="-120"/>
              </a:rPr>
              <a:t>Пріоритет джерел URL: Kestrel:Endpoints → ASPNETCORE_URLS → app.Urls → launchSettings.json (лише dotnet run).</a:t>
            </a:r>
            <a:endParaRPr lang="en-US" sz="1200" dirty="0"/>
          </a:p>
        </p:txBody>
      </p:sp>
      <p:sp>
        <p:nvSpPr>
          <p:cNvPr id="7" name="Text 3"/>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Середовища виконання</a:t>
            </a:r>
            <a:endParaRPr lang="en-US" sz="3000" dirty="0"/>
          </a:p>
        </p:txBody>
      </p:sp>
      <p:sp>
        <p:nvSpPr>
          <p:cNvPr id="4" name="Text 1"/>
          <p:cNvSpPr txBox="1"/>
          <p:nvPr/>
        </p:nvSpPr>
        <p:spPr>
          <a:xfrm>
            <a:off x="566928" y="1060704"/>
            <a:ext cx="11057839" cy="365760"/>
          </a:xfrm>
          <a:prstGeom prst="rect">
            <a:avLst/>
          </a:prstGeom>
          <a:noFill/>
          <a:ln/>
        </p:spPr>
        <p:txBody>
          <a:bodyPr wrap="square" lIns="0" tIns="0" rIns="0" bIns="0" rtlCol="0" anchor="ctr"/>
          <a:lstStyle/>
          <a:p>
            <a:pPr indent="0" marL="0">
              <a:buNone/>
            </a:pPr>
            <a:r>
              <a:rPr lang="en-US" sz="1400" dirty="0">
                <a:solidFill>
                  <a:srgbClr val="6E6785"/>
                </a:solidFill>
                <a:latin typeface="Calibri" pitchFamily="34" charset="0"/>
                <a:ea typeface="Calibri" pitchFamily="34" charset="-122"/>
                <a:cs typeface="Calibri" pitchFamily="34" charset="-120"/>
              </a:rPr>
              <a:t>ASPNETCORE_ENVIRONMENT керує поведінкою застосунку</a:t>
            </a:r>
            <a:endParaRPr lang="en-US" sz="1400" dirty="0"/>
          </a:p>
        </p:txBody>
      </p:sp>
      <p:sp>
        <p:nvSpPr>
          <p:cNvPr id="5" name="Shape 2"/>
          <p:cNvSpPr/>
          <p:nvPr/>
        </p:nvSpPr>
        <p:spPr>
          <a:xfrm>
            <a:off x="566928" y="1554480"/>
            <a:ext cx="11057839" cy="962406"/>
          </a:xfrm>
          <a:prstGeom prst="roundRect">
            <a:avLst>
              <a:gd name="adj" fmla="val 4751"/>
            </a:avLst>
          </a:prstGeom>
          <a:solidFill>
            <a:srgbClr val="F3EFFD"/>
          </a:solidFill>
          <a:ln w="9525">
            <a:solidFill>
              <a:srgbClr val="D9CEF5"/>
            </a:solidFill>
            <a:prstDash val="solid"/>
          </a:ln>
        </p:spPr>
      </p:sp>
      <p:sp>
        <p:nvSpPr>
          <p:cNvPr id="6" name="Shape 3"/>
          <p:cNvSpPr/>
          <p:nvPr/>
        </p:nvSpPr>
        <p:spPr>
          <a:xfrm>
            <a:off x="768096" y="1861947"/>
            <a:ext cx="347472" cy="347472"/>
          </a:xfrm>
          <a:prstGeom prst="ellipse">
            <a:avLst/>
          </a:prstGeom>
          <a:solidFill>
            <a:srgbClr val="512BD4"/>
          </a:solidFill>
          <a:ln/>
        </p:spPr>
      </p:sp>
      <p:sp>
        <p:nvSpPr>
          <p:cNvPr id="7" name="Text 4"/>
          <p:cNvSpPr txBox="1"/>
          <p:nvPr/>
        </p:nvSpPr>
        <p:spPr>
          <a:xfrm>
            <a:off x="768096" y="1861947"/>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298448" y="1554480"/>
            <a:ext cx="10097719" cy="962406"/>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Development   </a:t>
            </a:r>
            <a:pPr indent="0" marL="0">
              <a:buNone/>
            </a:pPr>
            <a:r>
              <a:rPr lang="en-US" sz="1250" dirty="0">
                <a:solidFill>
                  <a:srgbClr val="6E6785"/>
                </a:solidFill>
                <a:latin typeface="Calibri" pitchFamily="34" charset="0"/>
                <a:ea typeface="Calibri" pitchFamily="34" charset="-122"/>
                <a:cs typeface="Calibri" pitchFamily="34" charset="-120"/>
              </a:rPr>
              <a:t>детальна сторінка помилки, Swagger/Scalar, seed-дані, гаряче перезавантаження</a:t>
            </a:r>
            <a:endParaRPr lang="en-US" sz="1500" dirty="0"/>
          </a:p>
        </p:txBody>
      </p:sp>
      <p:sp>
        <p:nvSpPr>
          <p:cNvPr id="9" name="Shape 6"/>
          <p:cNvSpPr/>
          <p:nvPr/>
        </p:nvSpPr>
        <p:spPr>
          <a:xfrm>
            <a:off x="566928" y="2635758"/>
            <a:ext cx="11057839" cy="962406"/>
          </a:xfrm>
          <a:prstGeom prst="roundRect">
            <a:avLst>
              <a:gd name="adj" fmla="val 4751"/>
            </a:avLst>
          </a:prstGeom>
          <a:solidFill>
            <a:srgbClr val="F3EFFD"/>
          </a:solidFill>
          <a:ln w="9525">
            <a:solidFill>
              <a:srgbClr val="D9CEF5"/>
            </a:solidFill>
            <a:prstDash val="solid"/>
          </a:ln>
        </p:spPr>
      </p:sp>
      <p:sp>
        <p:nvSpPr>
          <p:cNvPr id="10" name="Shape 7"/>
          <p:cNvSpPr/>
          <p:nvPr/>
        </p:nvSpPr>
        <p:spPr>
          <a:xfrm>
            <a:off x="768096" y="2943225"/>
            <a:ext cx="347472" cy="347472"/>
          </a:xfrm>
          <a:prstGeom prst="ellipse">
            <a:avLst/>
          </a:prstGeom>
          <a:solidFill>
            <a:srgbClr val="512BD4"/>
          </a:solidFill>
          <a:ln/>
        </p:spPr>
      </p:sp>
      <p:sp>
        <p:nvSpPr>
          <p:cNvPr id="11" name="Text 8"/>
          <p:cNvSpPr txBox="1"/>
          <p:nvPr/>
        </p:nvSpPr>
        <p:spPr>
          <a:xfrm>
            <a:off x="768096" y="2943225"/>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txBox="1"/>
          <p:nvPr/>
        </p:nvSpPr>
        <p:spPr>
          <a:xfrm>
            <a:off x="1298448" y="2635758"/>
            <a:ext cx="10097719" cy="962406"/>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Staging   </a:t>
            </a:r>
            <a:pPr indent="0" marL="0">
              <a:buNone/>
            </a:pPr>
            <a:r>
              <a:rPr lang="en-US" sz="1250" dirty="0">
                <a:solidFill>
                  <a:srgbClr val="6E6785"/>
                </a:solidFill>
                <a:latin typeface="Calibri" pitchFamily="34" charset="0"/>
                <a:ea typeface="Calibri" pitchFamily="34" charset="-122"/>
                <a:cs typeface="Calibri" pitchFamily="34" charset="-120"/>
              </a:rPr>
              <a:t>максимально наближене до Production для фінальних перевірок</a:t>
            </a:r>
            <a:endParaRPr lang="en-US" sz="1500" dirty="0"/>
          </a:p>
        </p:txBody>
      </p:sp>
      <p:sp>
        <p:nvSpPr>
          <p:cNvPr id="13" name="Shape 10"/>
          <p:cNvSpPr/>
          <p:nvPr/>
        </p:nvSpPr>
        <p:spPr>
          <a:xfrm>
            <a:off x="566928" y="3717036"/>
            <a:ext cx="11057839" cy="962406"/>
          </a:xfrm>
          <a:prstGeom prst="roundRect">
            <a:avLst>
              <a:gd name="adj" fmla="val 4751"/>
            </a:avLst>
          </a:prstGeom>
          <a:solidFill>
            <a:srgbClr val="F3EFFD"/>
          </a:solidFill>
          <a:ln w="9525">
            <a:solidFill>
              <a:srgbClr val="D9CEF5"/>
            </a:solidFill>
            <a:prstDash val="solid"/>
          </a:ln>
        </p:spPr>
      </p:sp>
      <p:sp>
        <p:nvSpPr>
          <p:cNvPr id="14" name="Shape 11"/>
          <p:cNvSpPr/>
          <p:nvPr/>
        </p:nvSpPr>
        <p:spPr>
          <a:xfrm>
            <a:off x="768096" y="4024503"/>
            <a:ext cx="347472" cy="347472"/>
          </a:xfrm>
          <a:prstGeom prst="ellipse">
            <a:avLst/>
          </a:prstGeom>
          <a:solidFill>
            <a:srgbClr val="512BD4"/>
          </a:solidFill>
          <a:ln/>
        </p:spPr>
      </p:sp>
      <p:sp>
        <p:nvSpPr>
          <p:cNvPr id="15" name="Text 12"/>
          <p:cNvSpPr txBox="1"/>
          <p:nvPr/>
        </p:nvSpPr>
        <p:spPr>
          <a:xfrm>
            <a:off x="768096" y="4024503"/>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3"/>
          <p:cNvSpPr txBox="1"/>
          <p:nvPr/>
        </p:nvSpPr>
        <p:spPr>
          <a:xfrm>
            <a:off x="1298448" y="3717036"/>
            <a:ext cx="10097719" cy="962406"/>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Production   </a:t>
            </a:r>
            <a:pPr indent="0" marL="0">
              <a:buNone/>
            </a:pPr>
            <a:r>
              <a:rPr lang="en-US" sz="1250" dirty="0">
                <a:solidFill>
                  <a:srgbClr val="6E6785"/>
                </a:solidFill>
                <a:latin typeface="Calibri" pitchFamily="34" charset="0"/>
                <a:ea typeface="Calibri" pitchFamily="34" charset="-122"/>
                <a:cs typeface="Calibri" pitchFamily="34" charset="-120"/>
              </a:rPr>
              <a:t>узагальнені помилки (ProblemDetails), увімкнений HSTS, мінімум діагностики</a:t>
            </a:r>
            <a:endParaRPr lang="en-US" sz="1500" dirty="0"/>
          </a:p>
        </p:txBody>
      </p:sp>
      <p:sp>
        <p:nvSpPr>
          <p:cNvPr id="17" name="Shape 14"/>
          <p:cNvSpPr/>
          <p:nvPr/>
        </p:nvSpPr>
        <p:spPr>
          <a:xfrm>
            <a:off x="566928" y="4798314"/>
            <a:ext cx="11057839" cy="962406"/>
          </a:xfrm>
          <a:prstGeom prst="roundRect">
            <a:avLst>
              <a:gd name="adj" fmla="val 4751"/>
            </a:avLst>
          </a:prstGeom>
          <a:solidFill>
            <a:srgbClr val="F3EFFD"/>
          </a:solidFill>
          <a:ln w="9525">
            <a:solidFill>
              <a:srgbClr val="D9CEF5"/>
            </a:solidFill>
            <a:prstDash val="solid"/>
          </a:ln>
        </p:spPr>
      </p:sp>
      <p:sp>
        <p:nvSpPr>
          <p:cNvPr id="18" name="Shape 15"/>
          <p:cNvSpPr/>
          <p:nvPr/>
        </p:nvSpPr>
        <p:spPr>
          <a:xfrm>
            <a:off x="768096" y="5105781"/>
            <a:ext cx="347472" cy="347472"/>
          </a:xfrm>
          <a:prstGeom prst="ellipse">
            <a:avLst/>
          </a:prstGeom>
          <a:solidFill>
            <a:srgbClr val="512BD4"/>
          </a:solidFill>
          <a:ln/>
        </p:spPr>
      </p:sp>
      <p:sp>
        <p:nvSpPr>
          <p:cNvPr id="19" name="Text 16"/>
          <p:cNvSpPr txBox="1"/>
          <p:nvPr/>
        </p:nvSpPr>
        <p:spPr>
          <a:xfrm>
            <a:off x="768096" y="5105781"/>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7"/>
          <p:cNvSpPr txBox="1"/>
          <p:nvPr/>
        </p:nvSpPr>
        <p:spPr>
          <a:xfrm>
            <a:off x="1298448" y="4798314"/>
            <a:ext cx="10097719" cy="962406"/>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Власне (напр. Testing)   </a:t>
            </a:r>
            <a:pPr indent="0" marL="0">
              <a:buNone/>
            </a:pPr>
            <a:r>
              <a:rPr lang="en-US" sz="1250" dirty="0">
                <a:solidFill>
                  <a:srgbClr val="6E6785"/>
                </a:solidFill>
                <a:latin typeface="Calibri" pitchFamily="34" charset="0"/>
                <a:ea typeface="Calibri" pitchFamily="34" charset="-122"/>
                <a:cs typeface="Calibri" pitchFamily="34" charset="-120"/>
              </a:rPr>
              <a:t>env.IsEnvironment("Testing") — довільні розгалуження</a:t>
            </a:r>
            <a:endParaRPr lang="en-US" sz="1500" dirty="0"/>
          </a:p>
        </p:txBody>
      </p:sp>
      <p:sp>
        <p:nvSpPr>
          <p:cNvPr id="21" name="Shape 18"/>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22" name="Text 19"/>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i="1" dirty="0">
                <a:solidFill>
                  <a:srgbClr val="241C3B"/>
                </a:solidFill>
                <a:latin typeface="Calibri" pitchFamily="34" charset="0"/>
                <a:ea typeface="Calibri" pitchFamily="34" charset="-122"/>
                <a:cs typeface="Calibri" pitchFamily="34" charset="-120"/>
              </a:rPr>
              <a:t>Правило: детальні помилки, документація UI та тестові дані — ніколи не в Production.</a:t>
            </a:r>
            <a:endParaRPr lang="en-US" sz="1200" dirty="0"/>
          </a:p>
        </p:txBody>
      </p:sp>
      <p:sp>
        <p:nvSpPr>
          <p:cNvPr id="23" name="Text 20"/>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EFFD"/>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Модуль 1 — приклади</a:t>
            </a:r>
            <a:endParaRPr lang="en-US" sz="3000" dirty="0"/>
          </a:p>
        </p:txBody>
      </p:sp>
      <p:sp>
        <p:nvSpPr>
          <p:cNvPr id="4" name="Shape 1"/>
          <p:cNvSpPr/>
          <p:nvPr/>
        </p:nvSpPr>
        <p:spPr>
          <a:xfrm>
            <a:off x="566928" y="1833372"/>
            <a:ext cx="11057839" cy="1828800"/>
          </a:xfrm>
          <a:prstGeom prst="roundRect">
            <a:avLst>
              <a:gd name="adj" fmla="val 3500"/>
            </a:avLst>
          </a:prstGeom>
          <a:solidFill>
            <a:srgbClr val="FFFFFF"/>
          </a:solidFill>
          <a:ln w="12700">
            <a:solidFill>
              <a:srgbClr val="D9CEF5"/>
            </a:solidFill>
            <a:prstDash val="solid"/>
          </a:ln>
        </p:spPr>
      </p:sp>
      <p:sp>
        <p:nvSpPr>
          <p:cNvPr id="5" name="Shape 2"/>
          <p:cNvSpPr/>
          <p:nvPr/>
        </p:nvSpPr>
        <p:spPr>
          <a:xfrm>
            <a:off x="795528" y="2574036"/>
            <a:ext cx="2926080" cy="347472"/>
          </a:xfrm>
          <a:prstGeom prst="roundRect">
            <a:avLst>
              <a:gd name="adj" fmla="val 13158"/>
            </a:avLst>
          </a:prstGeom>
          <a:solidFill>
            <a:srgbClr val="E7DFFA"/>
          </a:solidFill>
          <a:ln/>
        </p:spPr>
      </p:sp>
      <p:sp>
        <p:nvSpPr>
          <p:cNvPr id="6" name="Text 3"/>
          <p:cNvSpPr txBox="1"/>
          <p:nvPr/>
        </p:nvSpPr>
        <p:spPr>
          <a:xfrm>
            <a:off x="795528" y="2574036"/>
            <a:ext cx="2926080" cy="347472"/>
          </a:xfrm>
          <a:prstGeom prst="rect">
            <a:avLst/>
          </a:prstGeom>
          <a:noFill/>
          <a:ln/>
        </p:spPr>
        <p:txBody>
          <a:bodyPr wrap="square" lIns="0" tIns="0" rIns="0" bIns="0" rtlCol="0" anchor="ctr"/>
          <a:lstStyle/>
          <a:p>
            <a:pPr algn="ctr" indent="0" marL="0">
              <a:buNone/>
            </a:pPr>
            <a:r>
              <a:rPr lang="en-US" sz="1100" b="1" dirty="0">
                <a:solidFill>
                  <a:srgbClr val="512BD4"/>
                </a:solidFill>
                <a:latin typeface="Courier New" pitchFamily="34" charset="0"/>
                <a:ea typeface="Courier New" pitchFamily="34" charset="-122"/>
                <a:cs typeface="Courier New" pitchFamily="34" charset="-120"/>
              </a:rPr>
              <a:t>01.Hosting.Minimal</a:t>
            </a:r>
            <a:endParaRPr lang="en-US" sz="1100" dirty="0"/>
          </a:p>
        </p:txBody>
      </p:sp>
      <p:sp>
        <p:nvSpPr>
          <p:cNvPr id="7" name="Text 4"/>
          <p:cNvSpPr txBox="1"/>
          <p:nvPr/>
        </p:nvSpPr>
        <p:spPr>
          <a:xfrm>
            <a:off x="3995928" y="1833372"/>
            <a:ext cx="7400239" cy="1828800"/>
          </a:xfrm>
          <a:prstGeom prst="rect">
            <a:avLst/>
          </a:prstGeom>
          <a:noFill/>
          <a:ln/>
        </p:spPr>
        <p:txBody>
          <a:bodyPr wrap="square" lIns="0" tIns="0" rIns="0" bIns="0" rtlCol="0" anchor="ctr"/>
          <a:lstStyle/>
          <a:p>
            <a:pPr indent="0" marL="0">
              <a:buNone/>
            </a:pPr>
            <a:r>
              <a:rPr lang="en-US" sz="1250" b="1" dirty="0">
                <a:solidFill>
                  <a:srgbClr val="241C3B"/>
                </a:solidFill>
                <a:latin typeface="Calibri" pitchFamily="34" charset="0"/>
                <a:ea typeface="Calibri" pitchFamily="34" charset="-122"/>
                <a:cs typeface="Calibri" pitchFamily="34" charset="-120"/>
              </a:rPr>
              <a:t>Мінімальний хост  —  </a:t>
            </a:r>
            <a:pPr indent="0" marL="0">
              <a:buNone/>
            </a:pPr>
            <a:r>
              <a:rPr lang="en-US" sz="1250" dirty="0">
                <a:solidFill>
                  <a:srgbClr val="6E6785"/>
                </a:solidFill>
                <a:latin typeface="Calibri" pitchFamily="34" charset="0"/>
                <a:ea typeface="Calibri" pitchFamily="34" charset="-122"/>
                <a:cs typeface="Calibri" pitchFamily="34" charset="-120"/>
              </a:rPr>
              <a:t>builder → app → run, DI/конфіг/логування з коробки, graceful shutdown</a:t>
            </a:r>
            <a:endParaRPr lang="en-US" sz="1250" dirty="0"/>
          </a:p>
        </p:txBody>
      </p:sp>
      <p:sp>
        <p:nvSpPr>
          <p:cNvPr id="8" name="Shape 5"/>
          <p:cNvSpPr/>
          <p:nvPr/>
        </p:nvSpPr>
        <p:spPr>
          <a:xfrm>
            <a:off x="566928" y="3845052"/>
            <a:ext cx="11057839" cy="1828800"/>
          </a:xfrm>
          <a:prstGeom prst="roundRect">
            <a:avLst>
              <a:gd name="adj" fmla="val 3500"/>
            </a:avLst>
          </a:prstGeom>
          <a:solidFill>
            <a:srgbClr val="FFFFFF"/>
          </a:solidFill>
          <a:ln w="12700">
            <a:solidFill>
              <a:srgbClr val="D9CEF5"/>
            </a:solidFill>
            <a:prstDash val="solid"/>
          </a:ln>
        </p:spPr>
      </p:sp>
      <p:sp>
        <p:nvSpPr>
          <p:cNvPr id="9" name="Shape 6"/>
          <p:cNvSpPr/>
          <p:nvPr/>
        </p:nvSpPr>
        <p:spPr>
          <a:xfrm>
            <a:off x="795528" y="4585716"/>
            <a:ext cx="2926080" cy="347472"/>
          </a:xfrm>
          <a:prstGeom prst="roundRect">
            <a:avLst>
              <a:gd name="adj" fmla="val 13158"/>
            </a:avLst>
          </a:prstGeom>
          <a:solidFill>
            <a:srgbClr val="E7DFFA"/>
          </a:solidFill>
          <a:ln/>
        </p:spPr>
      </p:sp>
      <p:sp>
        <p:nvSpPr>
          <p:cNvPr id="10" name="Text 7"/>
          <p:cNvSpPr txBox="1"/>
          <p:nvPr/>
        </p:nvSpPr>
        <p:spPr>
          <a:xfrm>
            <a:off x="795528" y="4585716"/>
            <a:ext cx="2926080" cy="347472"/>
          </a:xfrm>
          <a:prstGeom prst="rect">
            <a:avLst/>
          </a:prstGeom>
          <a:noFill/>
          <a:ln/>
        </p:spPr>
        <p:txBody>
          <a:bodyPr wrap="square" lIns="0" tIns="0" rIns="0" bIns="0" rtlCol="0" anchor="ctr"/>
          <a:lstStyle/>
          <a:p>
            <a:pPr algn="ctr" indent="0" marL="0">
              <a:buNone/>
            </a:pPr>
            <a:r>
              <a:rPr lang="en-US" sz="1100" b="1" dirty="0">
                <a:solidFill>
                  <a:srgbClr val="512BD4"/>
                </a:solidFill>
                <a:latin typeface="Courier New" pitchFamily="34" charset="0"/>
                <a:ea typeface="Courier New" pitchFamily="34" charset="-122"/>
                <a:cs typeface="Courier New" pitchFamily="34" charset="-120"/>
              </a:rPr>
              <a:t>02.Hosting.Servers…</a:t>
            </a:r>
            <a:endParaRPr lang="en-US" sz="1100" dirty="0"/>
          </a:p>
        </p:txBody>
      </p:sp>
      <p:sp>
        <p:nvSpPr>
          <p:cNvPr id="11" name="Text 8"/>
          <p:cNvSpPr txBox="1"/>
          <p:nvPr/>
        </p:nvSpPr>
        <p:spPr>
          <a:xfrm>
            <a:off x="3995928" y="3845052"/>
            <a:ext cx="7400239" cy="1828800"/>
          </a:xfrm>
          <a:prstGeom prst="rect">
            <a:avLst/>
          </a:prstGeom>
          <a:noFill/>
          <a:ln/>
        </p:spPr>
        <p:txBody>
          <a:bodyPr wrap="square" lIns="0" tIns="0" rIns="0" bIns="0" rtlCol="0" anchor="ctr"/>
          <a:lstStyle/>
          <a:p>
            <a:pPr indent="0" marL="0">
              <a:buNone/>
            </a:pPr>
            <a:r>
              <a:rPr lang="en-US" sz="1250" b="1" dirty="0">
                <a:solidFill>
                  <a:srgbClr val="241C3B"/>
                </a:solidFill>
                <a:latin typeface="Calibri" pitchFamily="34" charset="0"/>
                <a:ea typeface="Calibri" pitchFamily="34" charset="-122"/>
                <a:cs typeface="Calibri" pitchFamily="34" charset="-120"/>
              </a:rPr>
              <a:t>Сервери та середовища  —  </a:t>
            </a:r>
            <a:pPr indent="0" marL="0">
              <a:buNone/>
            </a:pPr>
            <a:r>
              <a:rPr lang="en-US" sz="1250" dirty="0">
                <a:solidFill>
                  <a:srgbClr val="6E6785"/>
                </a:solidFill>
                <a:latin typeface="Calibri" pitchFamily="34" charset="0"/>
                <a:ea typeface="Calibri" pitchFamily="34" charset="-122"/>
                <a:cs typeface="Calibri" pitchFamily="34" charset="-120"/>
              </a:rPr>
              <a:t>налаштування Kestrel, IWebHostEnvironment, appsettings.{Env}.json, dev-only endpoint</a:t>
            </a:r>
            <a:endParaRPr lang="en-US" sz="1250" dirty="0"/>
          </a:p>
        </p:txBody>
      </p:sp>
      <p:sp>
        <p:nvSpPr>
          <p:cNvPr id="12" name="Text 9"/>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333"/>
        </a:solidFill>
      </p:bgPr>
    </p:bg>
    <p:spTree>
      <p:nvGrpSpPr>
        <p:cNvPr id="1" name=""/>
        <p:cNvGrpSpPr/>
        <p:nvPr/>
      </p:nvGrpSpPr>
      <p:grpSpPr>
        <a:xfrm>
          <a:off x="0" y="0"/>
          <a:ext cx="0" cy="0"/>
          <a:chOff x="0" y="0"/>
          <a:chExt cx="0" cy="0"/>
        </a:xfrm>
      </p:grpSpPr>
      <p:sp>
        <p:nvSpPr>
          <p:cNvPr id="3" name="Text 0"/>
          <p:cNvSpPr txBox="1"/>
          <p:nvPr/>
        </p:nvSpPr>
        <p:spPr>
          <a:xfrm>
            <a:off x="7680960" y="182880"/>
            <a:ext cx="4572000" cy="6400800"/>
          </a:xfrm>
          <a:prstGeom prst="rect">
            <a:avLst/>
          </a:prstGeom>
          <a:noFill/>
          <a:ln/>
        </p:spPr>
        <p:txBody>
          <a:bodyPr wrap="square" lIns="0" tIns="0" rIns="0" bIns="0" rtlCol="0" anchor="ctr"/>
          <a:lstStyle/>
          <a:p>
            <a:pPr algn="r" indent="0" marL="0">
              <a:buNone/>
            </a:pPr>
            <a:r>
              <a:rPr lang="en-US" sz="32000" b="1" dirty="0">
                <a:solidFill>
                  <a:srgbClr val="2A1E52"/>
                </a:solidFill>
                <a:latin typeface="Cambria" pitchFamily="34" charset="0"/>
                <a:ea typeface="Cambria" pitchFamily="34" charset="-122"/>
                <a:cs typeface="Cambria" pitchFamily="34" charset="-120"/>
              </a:rPr>
              <a:t>+</a:t>
            </a:r>
            <a:endParaRPr lang="en-US" sz="32000" dirty="0"/>
          </a:p>
        </p:txBody>
      </p:sp>
      <p:sp>
        <p:nvSpPr>
          <p:cNvPr id="4" name="Text 1"/>
          <p:cNvSpPr txBox="1"/>
          <p:nvPr/>
        </p:nvSpPr>
        <p:spPr>
          <a:xfrm>
            <a:off x="914400" y="2286000"/>
            <a:ext cx="8229600" cy="365760"/>
          </a:xfrm>
          <a:prstGeom prst="rect">
            <a:avLst/>
          </a:prstGeom>
          <a:noFill/>
          <a:ln/>
        </p:spPr>
        <p:txBody>
          <a:bodyPr wrap="square" lIns="0" tIns="0" rIns="0" bIns="0" rtlCol="0" anchor="ctr"/>
          <a:lstStyle/>
          <a:p>
            <a:pPr indent="0" marL="0">
              <a:buNone/>
            </a:pPr>
            <a:r>
              <a:rPr lang="en-US" sz="1500" b="1" spc="300" kern="0" dirty="0">
                <a:solidFill>
                  <a:srgbClr val="0E9C8E"/>
                </a:solidFill>
                <a:latin typeface="Calibri" pitchFamily="34" charset="0"/>
                <a:ea typeface="Calibri" pitchFamily="34" charset="-122"/>
                <a:cs typeface="Calibri" pitchFamily="34" charset="-120"/>
              </a:rPr>
              <a:t>ФУНДАМЕНТ</a:t>
            </a:r>
            <a:endParaRPr lang="en-US" sz="1500" dirty="0"/>
          </a:p>
        </p:txBody>
      </p:sp>
      <p:sp>
        <p:nvSpPr>
          <p:cNvPr id="5" name="Text 2"/>
          <p:cNvSpPr txBox="1"/>
          <p:nvPr/>
        </p:nvSpPr>
        <p:spPr>
          <a:xfrm>
            <a:off x="914400" y="2743200"/>
            <a:ext cx="7772400" cy="15544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HTTP — необхідний мінімум</a:t>
            </a:r>
            <a:endParaRPr lang="en-US" sz="4000" dirty="0"/>
          </a:p>
        </p:txBody>
      </p:sp>
      <p:sp>
        <p:nvSpPr>
          <p:cNvPr id="6" name="Text 3"/>
          <p:cNvSpPr txBox="1"/>
          <p:nvPr/>
        </p:nvSpPr>
        <p:spPr>
          <a:xfrm>
            <a:off x="960120" y="4389120"/>
            <a:ext cx="6949440" cy="1828800"/>
          </a:xfrm>
          <a:prstGeom prst="rect">
            <a:avLst/>
          </a:prstGeom>
          <a:noFill/>
          <a:ln/>
        </p:spPr>
        <p:txBody>
          <a:bodyPr wrap="square" lIns="0" tIns="0" rIns="0" bIns="0" rtlCol="0" anchor="ctr"/>
          <a:lstStyle/>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Структура запиту та відповіді</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Методи: safe / idempotent</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Родини статус-кодів</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HttpContext</a:t>
            </a:r>
            <a:endParaRPr lang="en-US" sz="1400" dirty="0"/>
          </a:p>
        </p:txBody>
      </p:sp>
      <p:sp>
        <p:nvSpPr>
          <p:cNvPr id="7" name="Text 4"/>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9E93C4"/>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Запит і відповідь</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HTTP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протокол «запит — відповідь» без стану. У HTTP/1.1 текстовий поверх TCP; у HTTP/2 та HTTP/3 бінарний і мультиплексований, але семантика та сама. У ASP.NET Core усе це загорнуто в HttpContext.</a:t>
            </a:r>
            <a:endParaRPr lang="en-US" sz="1450" dirty="0"/>
          </a:p>
        </p:txBody>
      </p:sp>
      <p:sp>
        <p:nvSpPr>
          <p:cNvPr id="6" name="Shape 3"/>
          <p:cNvSpPr/>
          <p:nvPr/>
        </p:nvSpPr>
        <p:spPr>
          <a:xfrm>
            <a:off x="566928" y="2231136"/>
            <a:ext cx="5323180" cy="4078224"/>
          </a:xfrm>
          <a:prstGeom prst="roundRect">
            <a:avLst>
              <a:gd name="adj" fmla="val 1345"/>
            </a:avLst>
          </a:prstGeom>
          <a:solidFill>
            <a:srgbClr val="F3EFFD"/>
          </a:solidFill>
          <a:ln w="12700">
            <a:solidFill>
              <a:srgbClr val="512BD4"/>
            </a:solidFill>
            <a:prstDash val="solid"/>
          </a:ln>
        </p:spPr>
      </p:sp>
      <p:sp>
        <p:nvSpPr>
          <p:cNvPr id="7" name="Shape 4"/>
          <p:cNvSpPr/>
          <p:nvPr/>
        </p:nvSpPr>
        <p:spPr>
          <a:xfrm>
            <a:off x="566928" y="2231136"/>
            <a:ext cx="5323180" cy="658368"/>
          </a:xfrm>
          <a:prstGeom prst="roundRect">
            <a:avLst>
              <a:gd name="adj" fmla="val 8333"/>
            </a:avLst>
          </a:prstGeom>
          <a:solidFill>
            <a:srgbClr val="512BD4"/>
          </a:solidFill>
          <a:ln/>
        </p:spPr>
      </p:sp>
      <p:sp>
        <p:nvSpPr>
          <p:cNvPr id="8" name="Text 5"/>
          <p:cNvSpPr txBox="1"/>
          <p:nvPr/>
        </p:nvSpPr>
        <p:spPr>
          <a:xfrm>
            <a:off x="841248" y="2231136"/>
            <a:ext cx="4774540" cy="65836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HTTP-запит</a:t>
            </a:r>
            <a:endParaRPr lang="en-US" sz="1800" dirty="0"/>
          </a:p>
        </p:txBody>
      </p:sp>
      <p:sp>
        <p:nvSpPr>
          <p:cNvPr id="9" name="Text 6"/>
          <p:cNvSpPr txBox="1"/>
          <p:nvPr/>
        </p:nvSpPr>
        <p:spPr>
          <a:xfrm>
            <a:off x="859536" y="3099816"/>
            <a:ext cx="4756252" cy="3026664"/>
          </a:xfrm>
          <a:prstGeom prst="rect">
            <a:avLst/>
          </a:prstGeom>
          <a:noFill/>
          <a:ln/>
        </p:spPr>
        <p:txBody>
          <a:bodyPr wrap="square" lIns="0" tIns="0" rIns="0" bIns="0" rtlCol="0" anchor="t"/>
          <a:lstStyle/>
          <a:p>
            <a:pPr marL="127000" indent="-127000">
              <a:spcAft>
                <a:spcPts val="1100"/>
              </a:spcAft>
              <a:buSzPct val="100000"/>
              <a:buChar char="•"/>
            </a:pPr>
            <a:r>
              <a:rPr lang="en-US" sz="1350" dirty="0">
                <a:solidFill>
                  <a:srgbClr val="241C3B"/>
                </a:solidFill>
                <a:latin typeface="Calibri" pitchFamily="34" charset="0"/>
                <a:ea typeface="Calibri" pitchFamily="34" charset="-122"/>
                <a:cs typeface="Calibri" pitchFamily="34" charset="-120"/>
              </a:rPr>
              <a:t>Рядок запиту: метод + шлях + версія</a:t>
            </a:r>
            <a:endParaRPr lang="en-US" sz="1350" dirty="0"/>
          </a:p>
          <a:p>
            <a:pPr marL="127000" indent="-127000">
              <a:spcAft>
                <a:spcPts val="1100"/>
              </a:spcAft>
              <a:buSzPct val="100000"/>
              <a:buChar char="•"/>
            </a:pPr>
            <a:r>
              <a:rPr lang="en-US" sz="1350" dirty="0">
                <a:solidFill>
                  <a:srgbClr val="241C3B"/>
                </a:solidFill>
                <a:latin typeface="Calibri" pitchFamily="34" charset="0"/>
                <a:ea typeface="Calibri" pitchFamily="34" charset="-122"/>
                <a:cs typeface="Calibri" pitchFamily="34" charset="-120"/>
              </a:rPr>
              <a:t>напр.  GET /products/42?expand=category HTTP/1.1</a:t>
            </a:r>
            <a:endParaRPr lang="en-US" sz="1350" dirty="0"/>
          </a:p>
          <a:p>
            <a:pPr marL="127000" indent="-127000">
              <a:spcAft>
                <a:spcPts val="1100"/>
              </a:spcAft>
              <a:buSzPct val="100000"/>
              <a:buChar char="•"/>
            </a:pPr>
            <a:r>
              <a:rPr lang="en-US" sz="1350" dirty="0">
                <a:solidFill>
                  <a:srgbClr val="241C3B"/>
                </a:solidFill>
                <a:latin typeface="Calibri" pitchFamily="34" charset="0"/>
                <a:ea typeface="Calibri" pitchFamily="34" charset="-122"/>
                <a:cs typeface="Calibri" pitchFamily="34" charset="-120"/>
              </a:rPr>
              <a:t>Заголовки: Host, Accept, Authorization, Content-Type…</a:t>
            </a:r>
            <a:endParaRPr lang="en-US" sz="1350" dirty="0"/>
          </a:p>
          <a:p>
            <a:pPr marL="127000" indent="-127000">
              <a:spcAft>
                <a:spcPts val="1100"/>
              </a:spcAft>
              <a:buSzPct val="100000"/>
              <a:buChar char="•"/>
            </a:pPr>
            <a:r>
              <a:rPr lang="en-US" sz="1350" dirty="0">
                <a:solidFill>
                  <a:srgbClr val="241C3B"/>
                </a:solidFill>
                <a:latin typeface="Calibri" pitchFamily="34" charset="0"/>
                <a:ea typeface="Calibri" pitchFamily="34" charset="-122"/>
                <a:cs typeface="Calibri" pitchFamily="34" charset="-120"/>
              </a:rPr>
              <a:t>Порожній рядок</a:t>
            </a:r>
            <a:endParaRPr lang="en-US" sz="1350" dirty="0"/>
          </a:p>
          <a:p>
            <a:pPr marL="127000" indent="-127000">
              <a:spcAft>
                <a:spcPts val="1100"/>
              </a:spcAft>
              <a:buSzPct val="100000"/>
              <a:buChar char="•"/>
            </a:pPr>
            <a:r>
              <a:rPr lang="en-US" sz="1350" dirty="0">
                <a:solidFill>
                  <a:srgbClr val="241C3B"/>
                </a:solidFill>
                <a:latin typeface="Calibri" pitchFamily="34" charset="0"/>
                <a:ea typeface="Calibri" pitchFamily="34" charset="-122"/>
                <a:cs typeface="Calibri" pitchFamily="34" charset="-120"/>
              </a:rPr>
              <a:t>Тіло (необов'язкове): JSON, форма, файл</a:t>
            </a:r>
            <a:endParaRPr lang="en-US" sz="1350" dirty="0"/>
          </a:p>
        </p:txBody>
      </p:sp>
      <p:sp>
        <p:nvSpPr>
          <p:cNvPr id="10" name="Shape 7"/>
          <p:cNvSpPr/>
          <p:nvPr/>
        </p:nvSpPr>
        <p:spPr>
          <a:xfrm>
            <a:off x="6301588" y="2231136"/>
            <a:ext cx="5323180" cy="4078224"/>
          </a:xfrm>
          <a:prstGeom prst="roundRect">
            <a:avLst>
              <a:gd name="adj" fmla="val 1345"/>
            </a:avLst>
          </a:prstGeom>
          <a:solidFill>
            <a:srgbClr val="E1F4F1"/>
          </a:solidFill>
          <a:ln w="12700">
            <a:solidFill>
              <a:srgbClr val="0E9C8E"/>
            </a:solidFill>
            <a:prstDash val="solid"/>
          </a:ln>
        </p:spPr>
      </p:sp>
      <p:sp>
        <p:nvSpPr>
          <p:cNvPr id="11" name="Shape 8"/>
          <p:cNvSpPr/>
          <p:nvPr/>
        </p:nvSpPr>
        <p:spPr>
          <a:xfrm>
            <a:off x="6301588" y="2231136"/>
            <a:ext cx="5323180" cy="658368"/>
          </a:xfrm>
          <a:prstGeom prst="roundRect">
            <a:avLst>
              <a:gd name="adj" fmla="val 8333"/>
            </a:avLst>
          </a:prstGeom>
          <a:solidFill>
            <a:srgbClr val="0E9C8E"/>
          </a:solidFill>
          <a:ln/>
        </p:spPr>
      </p:sp>
      <p:sp>
        <p:nvSpPr>
          <p:cNvPr id="12" name="Text 9"/>
          <p:cNvSpPr txBox="1"/>
          <p:nvPr/>
        </p:nvSpPr>
        <p:spPr>
          <a:xfrm>
            <a:off x="6575908" y="2231136"/>
            <a:ext cx="4774540" cy="65836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HTTP-відповідь</a:t>
            </a:r>
            <a:endParaRPr lang="en-US" sz="1800" dirty="0"/>
          </a:p>
        </p:txBody>
      </p:sp>
      <p:sp>
        <p:nvSpPr>
          <p:cNvPr id="13" name="Text 10"/>
          <p:cNvSpPr txBox="1"/>
          <p:nvPr/>
        </p:nvSpPr>
        <p:spPr>
          <a:xfrm>
            <a:off x="6594196" y="3099816"/>
            <a:ext cx="4756252" cy="3026664"/>
          </a:xfrm>
          <a:prstGeom prst="rect">
            <a:avLst/>
          </a:prstGeom>
          <a:noFill/>
          <a:ln/>
        </p:spPr>
        <p:txBody>
          <a:bodyPr wrap="square" lIns="0" tIns="0" rIns="0" bIns="0" rtlCol="0" anchor="t"/>
          <a:lstStyle/>
          <a:p>
            <a:pPr marL="127000" indent="-127000">
              <a:spcAft>
                <a:spcPts val="1100"/>
              </a:spcAft>
              <a:buSzPct val="100000"/>
              <a:buChar char="•"/>
            </a:pPr>
            <a:r>
              <a:rPr lang="en-US" sz="1350" dirty="0">
                <a:solidFill>
                  <a:srgbClr val="241C3B"/>
                </a:solidFill>
                <a:latin typeface="Calibri" pitchFamily="34" charset="0"/>
                <a:ea typeface="Calibri" pitchFamily="34" charset="-122"/>
                <a:cs typeface="Calibri" pitchFamily="34" charset="-120"/>
              </a:rPr>
              <a:t>Рядок статусу: версія + код + причина</a:t>
            </a:r>
            <a:endParaRPr lang="en-US" sz="1350" dirty="0"/>
          </a:p>
          <a:p>
            <a:pPr marL="127000" indent="-127000">
              <a:spcAft>
                <a:spcPts val="1100"/>
              </a:spcAft>
              <a:buSzPct val="100000"/>
              <a:buChar char="•"/>
            </a:pPr>
            <a:r>
              <a:rPr lang="en-US" sz="1350" dirty="0">
                <a:solidFill>
                  <a:srgbClr val="241C3B"/>
                </a:solidFill>
                <a:latin typeface="Calibri" pitchFamily="34" charset="0"/>
                <a:ea typeface="Calibri" pitchFamily="34" charset="-122"/>
                <a:cs typeface="Calibri" pitchFamily="34" charset="-120"/>
              </a:rPr>
              <a:t>напр.  HTTP/1.1 200 OK</a:t>
            </a:r>
            <a:endParaRPr lang="en-US" sz="1350" dirty="0"/>
          </a:p>
          <a:p>
            <a:pPr marL="127000" indent="-127000">
              <a:spcAft>
                <a:spcPts val="1100"/>
              </a:spcAft>
              <a:buSzPct val="100000"/>
              <a:buChar char="•"/>
            </a:pPr>
            <a:r>
              <a:rPr lang="en-US" sz="1350" dirty="0">
                <a:solidFill>
                  <a:srgbClr val="241C3B"/>
                </a:solidFill>
                <a:latin typeface="Calibri" pitchFamily="34" charset="0"/>
                <a:ea typeface="Calibri" pitchFamily="34" charset="-122"/>
                <a:cs typeface="Calibri" pitchFamily="34" charset="-120"/>
              </a:rPr>
              <a:t>Заголовки: Content-Type, Location, ETag, Cache-Control…</a:t>
            </a:r>
            <a:endParaRPr lang="en-US" sz="1350" dirty="0"/>
          </a:p>
          <a:p>
            <a:pPr marL="127000" indent="-127000">
              <a:spcAft>
                <a:spcPts val="1100"/>
              </a:spcAft>
              <a:buSzPct val="100000"/>
              <a:buChar char="•"/>
            </a:pPr>
            <a:r>
              <a:rPr lang="en-US" sz="1350" dirty="0">
                <a:solidFill>
                  <a:srgbClr val="241C3B"/>
                </a:solidFill>
                <a:latin typeface="Calibri" pitchFamily="34" charset="0"/>
                <a:ea typeface="Calibri" pitchFamily="34" charset="-122"/>
                <a:cs typeface="Calibri" pitchFamily="34" charset="-120"/>
              </a:rPr>
              <a:t>Порожній рядок</a:t>
            </a:r>
            <a:endParaRPr lang="en-US" sz="1350" dirty="0"/>
          </a:p>
          <a:p>
            <a:pPr marL="127000" indent="-127000">
              <a:spcAft>
                <a:spcPts val="1100"/>
              </a:spcAft>
              <a:buSzPct val="100000"/>
              <a:buChar char="•"/>
            </a:pPr>
            <a:r>
              <a:rPr lang="en-US" sz="1350" dirty="0">
                <a:solidFill>
                  <a:srgbClr val="241C3B"/>
                </a:solidFill>
                <a:latin typeface="Calibri" pitchFamily="34" charset="0"/>
                <a:ea typeface="Calibri" pitchFamily="34" charset="-122"/>
                <a:cs typeface="Calibri" pitchFamily="34" charset="-120"/>
              </a:rPr>
              <a:t>Тіло: представлення ресурсу або опис помилки</a:t>
            </a:r>
            <a:endParaRPr lang="en-US" sz="1350" dirty="0"/>
          </a:p>
        </p:txBody>
      </p:sp>
      <p:sp>
        <p:nvSpPr>
          <p:cNvPr id="14" name="Text 11"/>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Методи HTTP</a:t>
            </a:r>
            <a:endParaRPr lang="en-US" sz="3000" dirty="0"/>
          </a:p>
        </p:txBody>
      </p:sp>
      <p:sp>
        <p:nvSpPr>
          <p:cNvPr id="4" name="Text 1"/>
          <p:cNvSpPr txBox="1"/>
          <p:nvPr/>
        </p:nvSpPr>
        <p:spPr>
          <a:xfrm>
            <a:off x="566928" y="1060704"/>
            <a:ext cx="11057839" cy="365760"/>
          </a:xfrm>
          <a:prstGeom prst="rect">
            <a:avLst/>
          </a:prstGeom>
          <a:noFill/>
          <a:ln/>
        </p:spPr>
        <p:txBody>
          <a:bodyPr wrap="square" lIns="0" tIns="0" rIns="0" bIns="0" rtlCol="0" anchor="ctr"/>
          <a:lstStyle/>
          <a:p>
            <a:pPr indent="0" marL="0">
              <a:buNone/>
            </a:pPr>
            <a:r>
              <a:rPr lang="en-US" sz="1400" dirty="0">
                <a:solidFill>
                  <a:srgbClr val="6E6785"/>
                </a:solidFill>
                <a:latin typeface="Calibri" pitchFamily="34" charset="0"/>
                <a:ea typeface="Calibri" pitchFamily="34" charset="-122"/>
                <a:cs typeface="Calibri" pitchFamily="34" charset="-120"/>
              </a:rPr>
              <a:t>Safe — не змінює стан; Idempotent — повтор дає той самий стан</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554480"/>
          <a:ext cx="11057839" cy="914400"/>
        </p:xfrm>
        <a:graphic>
          <a:graphicData uri="http://schemas.openxmlformats.org/drawingml/2006/table">
            <a:tbl>
              <a:tblPr/>
              <a:tblGrid>
                <a:gridCol w="1554480"/>
                <a:gridCol w="1188720"/>
                <a:gridCol w="1737360"/>
                <a:gridCol w="6583680"/>
              </a:tblGrid>
              <a:tr h="531495">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Метод</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Safe</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Idempotent</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Призначення</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r>
              <a:tr h="531495">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GET</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так</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так</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прочитати ресурс або колекцію</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531495">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HEAD</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так</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так</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як GET, але без тіла (перевірити наявність / заголовки)</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531495">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OPTIONS</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так</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так</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які методи підтримує ресурс (CORS preflight)</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531495">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POST</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ні</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ні</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створити елемент у колекції; нестандартна дія</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531495">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PUT</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ні</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так</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повна заміна елемента за відомим URI</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531495">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PATCH</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ні</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ні*</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часткова зміна елемента</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531495">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DELETE</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ні</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так</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видалити елемент</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bl>
          </a:graphicData>
        </a:graphic>
      </p:graphicFrame>
      <p:sp>
        <p:nvSpPr>
          <p:cNvPr id="6" name="Shape 2"/>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7" name="Text 3"/>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i="1" dirty="0">
                <a:solidFill>
                  <a:srgbClr val="241C3B"/>
                </a:solidFill>
                <a:latin typeface="Calibri" pitchFamily="34" charset="0"/>
                <a:ea typeface="Calibri" pitchFamily="34" charset="-122"/>
                <a:cs typeface="Calibri" pitchFamily="34" charset="-120"/>
              </a:rPr>
              <a:t>* PATCH зазвичай не ідемпотентний. DELETE вже видаленого → 204/404, але не 500.</a:t>
            </a:r>
            <a:endParaRPr lang="en-US" sz="1200" dirty="0"/>
          </a:p>
        </p:txBody>
      </p:sp>
      <p:sp>
        <p:nvSpPr>
          <p:cNvPr id="8" name="Text 4"/>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Статус-коди</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1549908"/>
          <a:ext cx="11057839" cy="914400"/>
        </p:xfrm>
        <a:graphic>
          <a:graphicData uri="http://schemas.openxmlformats.org/drawingml/2006/table">
            <a:tbl>
              <a:tblPr/>
              <a:tblGrid>
                <a:gridCol w="1737360"/>
                <a:gridCol w="3657600"/>
                <a:gridCol w="5669280"/>
              </a:tblGrid>
              <a:tr h="6583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Родина</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Значення</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Ключові коди</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1xx</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інформаційні</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100 Continue, 101 Switching Protocols</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2xx</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успіх</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200 OK · 201 Created (+Location) · 204 No Content</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3xx</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перенаправлення / кеш</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301/302 · 304 Not Modified</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4xx</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помилка клієнта</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400 · 401 · 403 · 404 · 405 · 409 · 412 · 415 · 422 · 429</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5xx</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помилка сервера</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500 · 502 · 503 · 504</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bl>
          </a:graphicData>
        </a:graphic>
      </p:graphicFrame>
      <p:sp>
        <p:nvSpPr>
          <p:cNvPr id="5" name="Shape 1"/>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6" name="Text 2"/>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i="1" dirty="0">
                <a:solidFill>
                  <a:srgbClr val="241C3B"/>
                </a:solidFill>
                <a:latin typeface="Calibri" pitchFamily="34" charset="0"/>
                <a:ea typeface="Calibri" pitchFamily="34" charset="-122"/>
                <a:cs typeface="Calibri" pitchFamily="34" charset="-120"/>
              </a:rPr>
              <a:t>401 «представся» ≠ 403 «тебе впізнали, але зась». 404 «немає» ≠ 405 «метод не для цього URI».</a:t>
            </a:r>
            <a:endParaRPr lang="en-US" sz="1200" dirty="0"/>
          </a:p>
        </p:txBody>
      </p:sp>
      <p:sp>
        <p:nvSpPr>
          <p:cNvPr id="7" name="Text 3"/>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HttpContext</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HttpContext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єдиний об'єкт, у якому зібрано все про поточний запит; створюється сервером на кожен запит і живе рівно один запит.</a:t>
            </a:r>
            <a:endParaRPr lang="en-US" sz="1450" dirty="0"/>
          </a:p>
        </p:txBody>
      </p:sp>
      <p:sp>
        <p:nvSpPr>
          <p:cNvPr id="6" name="Shape 3"/>
          <p:cNvSpPr/>
          <p:nvPr/>
        </p:nvSpPr>
        <p:spPr>
          <a:xfrm>
            <a:off x="566928" y="2231136"/>
            <a:ext cx="11057839" cy="610819"/>
          </a:xfrm>
          <a:prstGeom prst="roundRect">
            <a:avLst>
              <a:gd name="adj" fmla="val 7485"/>
            </a:avLst>
          </a:prstGeom>
          <a:solidFill>
            <a:srgbClr val="F3EFFD"/>
          </a:solidFill>
          <a:ln w="9525">
            <a:solidFill>
              <a:srgbClr val="D9CEF5"/>
            </a:solidFill>
            <a:prstDash val="solid"/>
          </a:ln>
        </p:spPr>
      </p:sp>
      <p:sp>
        <p:nvSpPr>
          <p:cNvPr id="7" name="Shape 4"/>
          <p:cNvSpPr/>
          <p:nvPr/>
        </p:nvSpPr>
        <p:spPr>
          <a:xfrm>
            <a:off x="768096" y="2362810"/>
            <a:ext cx="347472" cy="347472"/>
          </a:xfrm>
          <a:prstGeom prst="ellipse">
            <a:avLst/>
          </a:prstGeom>
          <a:solidFill>
            <a:srgbClr val="512BD4"/>
          </a:solidFill>
          <a:ln/>
        </p:spPr>
      </p:sp>
      <p:sp>
        <p:nvSpPr>
          <p:cNvPr id="8" name="Text 5"/>
          <p:cNvSpPr txBox="1"/>
          <p:nvPr/>
        </p:nvSpPr>
        <p:spPr>
          <a:xfrm>
            <a:off x="768096" y="236281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1298448" y="2231136"/>
            <a:ext cx="10097719" cy="610819"/>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Request   </a:t>
            </a:r>
            <a:pPr indent="0" marL="0">
              <a:buNone/>
            </a:pPr>
            <a:r>
              <a:rPr lang="en-US" sz="1250" dirty="0">
                <a:solidFill>
                  <a:srgbClr val="6E6785"/>
                </a:solidFill>
                <a:latin typeface="Calibri" pitchFamily="34" charset="0"/>
                <a:ea typeface="Calibri" pitchFamily="34" charset="-122"/>
                <a:cs typeface="Calibri" pitchFamily="34" charset="-120"/>
              </a:rPr>
              <a:t>метод, шлях, query, заголовки, тіло як потік, розібрані значення маршруту (RouteValues)</a:t>
            </a:r>
            <a:endParaRPr lang="en-US" sz="1500" dirty="0"/>
          </a:p>
        </p:txBody>
      </p:sp>
      <p:sp>
        <p:nvSpPr>
          <p:cNvPr id="10" name="Shape 7"/>
          <p:cNvSpPr/>
          <p:nvPr/>
        </p:nvSpPr>
        <p:spPr>
          <a:xfrm>
            <a:off x="566928" y="2960827"/>
            <a:ext cx="11057839" cy="610819"/>
          </a:xfrm>
          <a:prstGeom prst="roundRect">
            <a:avLst>
              <a:gd name="adj" fmla="val 7485"/>
            </a:avLst>
          </a:prstGeom>
          <a:solidFill>
            <a:srgbClr val="F3EFFD"/>
          </a:solidFill>
          <a:ln w="9525">
            <a:solidFill>
              <a:srgbClr val="D9CEF5"/>
            </a:solidFill>
            <a:prstDash val="solid"/>
          </a:ln>
        </p:spPr>
      </p:sp>
      <p:sp>
        <p:nvSpPr>
          <p:cNvPr id="11" name="Shape 8"/>
          <p:cNvSpPr/>
          <p:nvPr/>
        </p:nvSpPr>
        <p:spPr>
          <a:xfrm>
            <a:off x="768096" y="3092501"/>
            <a:ext cx="347472" cy="347472"/>
          </a:xfrm>
          <a:prstGeom prst="ellipse">
            <a:avLst/>
          </a:prstGeom>
          <a:solidFill>
            <a:srgbClr val="512BD4"/>
          </a:solidFill>
          <a:ln/>
        </p:spPr>
      </p:sp>
      <p:sp>
        <p:nvSpPr>
          <p:cNvPr id="12" name="Text 9"/>
          <p:cNvSpPr txBox="1"/>
          <p:nvPr/>
        </p:nvSpPr>
        <p:spPr>
          <a:xfrm>
            <a:off x="768096" y="3092501"/>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298448" y="2960827"/>
            <a:ext cx="10097719" cy="610819"/>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Response   </a:t>
            </a:r>
            <a:pPr indent="0" marL="0">
              <a:buNone/>
            </a:pPr>
            <a:r>
              <a:rPr lang="en-US" sz="1250" dirty="0">
                <a:solidFill>
                  <a:srgbClr val="6E6785"/>
                </a:solidFill>
                <a:latin typeface="Calibri" pitchFamily="34" charset="0"/>
                <a:ea typeface="Calibri" pitchFamily="34" charset="-122"/>
                <a:cs typeface="Calibri" pitchFamily="34" charset="-120"/>
              </a:rPr>
              <a:t>код статусу, заголовки, тіло; WriteAsync / WriteAsJsonAsync; прапорець HasStarted (після нього заголовки незмінні)</a:t>
            </a:r>
            <a:endParaRPr lang="en-US" sz="1500" dirty="0"/>
          </a:p>
        </p:txBody>
      </p:sp>
      <p:sp>
        <p:nvSpPr>
          <p:cNvPr id="14" name="Shape 11"/>
          <p:cNvSpPr/>
          <p:nvPr/>
        </p:nvSpPr>
        <p:spPr>
          <a:xfrm>
            <a:off x="566928" y="3690518"/>
            <a:ext cx="11057839" cy="610819"/>
          </a:xfrm>
          <a:prstGeom prst="roundRect">
            <a:avLst>
              <a:gd name="adj" fmla="val 7485"/>
            </a:avLst>
          </a:prstGeom>
          <a:solidFill>
            <a:srgbClr val="F3EFFD"/>
          </a:solidFill>
          <a:ln w="9525">
            <a:solidFill>
              <a:srgbClr val="D9CEF5"/>
            </a:solidFill>
            <a:prstDash val="solid"/>
          </a:ln>
        </p:spPr>
      </p:sp>
      <p:sp>
        <p:nvSpPr>
          <p:cNvPr id="15" name="Shape 12"/>
          <p:cNvSpPr/>
          <p:nvPr/>
        </p:nvSpPr>
        <p:spPr>
          <a:xfrm>
            <a:off x="768096" y="3822192"/>
            <a:ext cx="347472" cy="347472"/>
          </a:xfrm>
          <a:prstGeom prst="ellipse">
            <a:avLst/>
          </a:prstGeom>
          <a:solidFill>
            <a:srgbClr val="512BD4"/>
          </a:solidFill>
          <a:ln/>
        </p:spPr>
      </p:sp>
      <p:sp>
        <p:nvSpPr>
          <p:cNvPr id="16" name="Text 13"/>
          <p:cNvSpPr txBox="1"/>
          <p:nvPr/>
        </p:nvSpPr>
        <p:spPr>
          <a:xfrm>
            <a:off x="768096" y="38221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txBox="1"/>
          <p:nvPr/>
        </p:nvSpPr>
        <p:spPr>
          <a:xfrm>
            <a:off x="1298448" y="3690518"/>
            <a:ext cx="10097719" cy="610819"/>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User   </a:t>
            </a:r>
            <a:pPr indent="0" marL="0">
              <a:buNone/>
            </a:pPr>
            <a:r>
              <a:rPr lang="en-US" sz="1250" dirty="0">
                <a:solidFill>
                  <a:srgbClr val="6E6785"/>
                </a:solidFill>
                <a:latin typeface="Calibri" pitchFamily="34" charset="0"/>
                <a:ea typeface="Calibri" pitchFamily="34" charset="-122"/>
                <a:cs typeface="Calibri" pitchFamily="34" charset="-120"/>
              </a:rPr>
              <a:t>ClaimsPrincipal — хто виконує запит; заповнюється після автентифікації</a:t>
            </a:r>
            <a:endParaRPr lang="en-US" sz="1500" dirty="0"/>
          </a:p>
        </p:txBody>
      </p:sp>
      <p:sp>
        <p:nvSpPr>
          <p:cNvPr id="18" name="Shape 15"/>
          <p:cNvSpPr/>
          <p:nvPr/>
        </p:nvSpPr>
        <p:spPr>
          <a:xfrm>
            <a:off x="566928" y="4420210"/>
            <a:ext cx="11057839" cy="610819"/>
          </a:xfrm>
          <a:prstGeom prst="roundRect">
            <a:avLst>
              <a:gd name="adj" fmla="val 7485"/>
            </a:avLst>
          </a:prstGeom>
          <a:solidFill>
            <a:srgbClr val="F3EFFD"/>
          </a:solidFill>
          <a:ln w="9525">
            <a:solidFill>
              <a:srgbClr val="D9CEF5"/>
            </a:solidFill>
            <a:prstDash val="solid"/>
          </a:ln>
        </p:spPr>
      </p:sp>
      <p:sp>
        <p:nvSpPr>
          <p:cNvPr id="19" name="Shape 16"/>
          <p:cNvSpPr/>
          <p:nvPr/>
        </p:nvSpPr>
        <p:spPr>
          <a:xfrm>
            <a:off x="768096" y="4551883"/>
            <a:ext cx="347472" cy="347472"/>
          </a:xfrm>
          <a:prstGeom prst="ellipse">
            <a:avLst/>
          </a:prstGeom>
          <a:solidFill>
            <a:srgbClr val="512BD4"/>
          </a:solidFill>
          <a:ln/>
        </p:spPr>
      </p:sp>
      <p:sp>
        <p:nvSpPr>
          <p:cNvPr id="20" name="Text 17"/>
          <p:cNvSpPr txBox="1"/>
          <p:nvPr/>
        </p:nvSpPr>
        <p:spPr>
          <a:xfrm>
            <a:off x="768096" y="4551883"/>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txBox="1"/>
          <p:nvPr/>
        </p:nvSpPr>
        <p:spPr>
          <a:xfrm>
            <a:off x="1298448" y="4420210"/>
            <a:ext cx="10097719" cy="610819"/>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Items   </a:t>
            </a:r>
            <a:pPr indent="0" marL="0">
              <a:buNone/>
            </a:pPr>
            <a:r>
              <a:rPr lang="en-US" sz="1250" dirty="0">
                <a:solidFill>
                  <a:srgbClr val="6E6785"/>
                </a:solidFill>
                <a:latin typeface="Calibri" pitchFamily="34" charset="0"/>
                <a:ea typeface="Calibri" pitchFamily="34" charset="-122"/>
                <a:cs typeface="Calibri" pitchFamily="34" charset="-120"/>
              </a:rPr>
              <a:t>словник на час запиту — зручно передавати дані між middleware та endpoint</a:t>
            </a:r>
            <a:endParaRPr lang="en-US" sz="1500" dirty="0"/>
          </a:p>
        </p:txBody>
      </p:sp>
      <p:sp>
        <p:nvSpPr>
          <p:cNvPr id="22" name="Shape 19"/>
          <p:cNvSpPr/>
          <p:nvPr/>
        </p:nvSpPr>
        <p:spPr>
          <a:xfrm>
            <a:off x="566928" y="5149901"/>
            <a:ext cx="11057839" cy="610819"/>
          </a:xfrm>
          <a:prstGeom prst="roundRect">
            <a:avLst>
              <a:gd name="adj" fmla="val 7485"/>
            </a:avLst>
          </a:prstGeom>
          <a:solidFill>
            <a:srgbClr val="F3EFFD"/>
          </a:solidFill>
          <a:ln w="9525">
            <a:solidFill>
              <a:srgbClr val="D9CEF5"/>
            </a:solidFill>
            <a:prstDash val="solid"/>
          </a:ln>
        </p:spPr>
      </p:sp>
      <p:sp>
        <p:nvSpPr>
          <p:cNvPr id="23" name="Shape 20"/>
          <p:cNvSpPr/>
          <p:nvPr/>
        </p:nvSpPr>
        <p:spPr>
          <a:xfrm>
            <a:off x="768096" y="5281574"/>
            <a:ext cx="347472" cy="347472"/>
          </a:xfrm>
          <a:prstGeom prst="ellipse">
            <a:avLst/>
          </a:prstGeom>
          <a:solidFill>
            <a:srgbClr val="512BD4"/>
          </a:solidFill>
          <a:ln/>
        </p:spPr>
      </p:sp>
      <p:sp>
        <p:nvSpPr>
          <p:cNvPr id="24" name="Text 21"/>
          <p:cNvSpPr txBox="1"/>
          <p:nvPr/>
        </p:nvSpPr>
        <p:spPr>
          <a:xfrm>
            <a:off x="768096" y="528157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2"/>
          <p:cNvSpPr txBox="1"/>
          <p:nvPr/>
        </p:nvSpPr>
        <p:spPr>
          <a:xfrm>
            <a:off x="1298448" y="5149901"/>
            <a:ext cx="10097719" cy="610819"/>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RequestServices   </a:t>
            </a:r>
            <a:pPr indent="0" marL="0">
              <a:buNone/>
            </a:pPr>
            <a:r>
              <a:rPr lang="en-US" sz="1250" dirty="0">
                <a:solidFill>
                  <a:srgbClr val="6E6785"/>
                </a:solidFill>
                <a:latin typeface="Calibri" pitchFamily="34" charset="0"/>
                <a:ea typeface="Calibri" pitchFamily="34" charset="-122"/>
                <a:cs typeface="Calibri" pitchFamily="34" charset="-120"/>
              </a:rPr>
              <a:t>DI-провайдер поточної області (scope), з якого резолвляться Scoped-сервіси</a:t>
            </a:r>
            <a:endParaRPr lang="en-US" sz="1500" dirty="0"/>
          </a:p>
        </p:txBody>
      </p:sp>
      <p:sp>
        <p:nvSpPr>
          <p:cNvPr id="26" name="Shape 23"/>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27" name="Text 24"/>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i="1" dirty="0">
                <a:solidFill>
                  <a:srgbClr val="241C3B"/>
                </a:solidFill>
                <a:latin typeface="Calibri" pitchFamily="34" charset="0"/>
                <a:ea typeface="Calibri" pitchFamily="34" charset="-122"/>
                <a:cs typeface="Calibri" pitchFamily="34" charset="-120"/>
              </a:rPr>
              <a:t>Stateless: сервер не тримає жодної сесії між запитами — кожен запит самодостатній, у ньому є все потрібне.</a:t>
            </a:r>
            <a:endParaRPr lang="en-US" sz="1200" dirty="0"/>
          </a:p>
        </p:txBody>
      </p:sp>
      <p:sp>
        <p:nvSpPr>
          <p:cNvPr id="28" name="Text 25"/>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333"/>
        </a:solidFill>
      </p:bgPr>
    </p:bg>
    <p:spTree>
      <p:nvGrpSpPr>
        <p:cNvPr id="1" name=""/>
        <p:cNvGrpSpPr/>
        <p:nvPr/>
      </p:nvGrpSpPr>
      <p:grpSpPr>
        <a:xfrm>
          <a:off x="0" y="0"/>
          <a:ext cx="0" cy="0"/>
          <a:chOff x="0" y="0"/>
          <a:chExt cx="0" cy="0"/>
        </a:xfrm>
      </p:grpSpPr>
      <p:sp>
        <p:nvSpPr>
          <p:cNvPr id="3" name="Text 0"/>
          <p:cNvSpPr txBox="1"/>
          <p:nvPr/>
        </p:nvSpPr>
        <p:spPr>
          <a:xfrm>
            <a:off x="7680960" y="182880"/>
            <a:ext cx="4572000" cy="6400800"/>
          </a:xfrm>
          <a:prstGeom prst="rect">
            <a:avLst/>
          </a:prstGeom>
          <a:noFill/>
          <a:ln/>
        </p:spPr>
        <p:txBody>
          <a:bodyPr wrap="square" lIns="0" tIns="0" rIns="0" bIns="0" rtlCol="0" anchor="ctr"/>
          <a:lstStyle/>
          <a:p>
            <a:pPr algn="r" indent="0" marL="0">
              <a:buNone/>
            </a:pPr>
            <a:r>
              <a:rPr lang="en-US" sz="32000" b="1" dirty="0">
                <a:solidFill>
                  <a:srgbClr val="2A1E52"/>
                </a:solidFill>
                <a:latin typeface="Cambria" pitchFamily="34" charset="0"/>
                <a:ea typeface="Cambria" pitchFamily="34" charset="-122"/>
                <a:cs typeface="Cambria" pitchFamily="34" charset="-120"/>
              </a:rPr>
              <a:t>2</a:t>
            </a:r>
            <a:endParaRPr lang="en-US" sz="32000" dirty="0"/>
          </a:p>
        </p:txBody>
      </p:sp>
      <p:sp>
        <p:nvSpPr>
          <p:cNvPr id="4" name="Text 1"/>
          <p:cNvSpPr txBox="1"/>
          <p:nvPr/>
        </p:nvSpPr>
        <p:spPr>
          <a:xfrm>
            <a:off x="914400" y="2286000"/>
            <a:ext cx="8229600" cy="365760"/>
          </a:xfrm>
          <a:prstGeom prst="rect">
            <a:avLst/>
          </a:prstGeom>
          <a:noFill/>
          <a:ln/>
        </p:spPr>
        <p:txBody>
          <a:bodyPr wrap="square" lIns="0" tIns="0" rIns="0" bIns="0" rtlCol="0" anchor="ctr"/>
          <a:lstStyle/>
          <a:p>
            <a:pPr indent="0" marL="0">
              <a:buNone/>
            </a:pPr>
            <a:r>
              <a:rPr lang="en-US" sz="1500" b="1" spc="300" kern="0" dirty="0">
                <a:solidFill>
                  <a:srgbClr val="0E9C8E"/>
                </a:solidFill>
                <a:latin typeface="Calibri" pitchFamily="34" charset="0"/>
                <a:ea typeface="Calibri" pitchFamily="34" charset="-122"/>
                <a:cs typeface="Calibri" pitchFamily="34" charset="-120"/>
              </a:rPr>
              <a:t>МОДУЛЬ 2</a:t>
            </a:r>
            <a:endParaRPr lang="en-US" sz="1500" dirty="0"/>
          </a:p>
        </p:txBody>
      </p:sp>
      <p:sp>
        <p:nvSpPr>
          <p:cNvPr id="5" name="Text 2"/>
          <p:cNvSpPr txBox="1"/>
          <p:nvPr/>
        </p:nvSpPr>
        <p:spPr>
          <a:xfrm>
            <a:off x="914400" y="2743200"/>
            <a:ext cx="7772400" cy="15544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Конвеєр обробки запиту</a:t>
            </a:r>
            <a:endParaRPr lang="en-US" sz="4000" dirty="0"/>
          </a:p>
        </p:txBody>
      </p:sp>
      <p:sp>
        <p:nvSpPr>
          <p:cNvPr id="6" name="Text 3"/>
          <p:cNvSpPr txBox="1"/>
          <p:nvPr/>
        </p:nvSpPr>
        <p:spPr>
          <a:xfrm>
            <a:off x="960120" y="4389120"/>
            <a:ext cx="6949440" cy="1828800"/>
          </a:xfrm>
          <a:prstGeom prst="rect">
            <a:avLst/>
          </a:prstGeom>
          <a:noFill/>
          <a:ln/>
        </p:spPr>
        <p:txBody>
          <a:bodyPr wrap="square" lIns="0" tIns="0" rIns="0" bIns="0" rtlCol="0" anchor="ctr"/>
          <a:lstStyle/>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middleware, RequestDelegate, next</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обробка на вході / виході, short-circuit</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канонічний порядок</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розгалуження та наскрізні задачі</a:t>
            </a:r>
            <a:endParaRPr lang="en-US" sz="1400" dirty="0"/>
          </a:p>
        </p:txBody>
      </p:sp>
      <p:sp>
        <p:nvSpPr>
          <p:cNvPr id="7" name="Text 4"/>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9E93C4"/>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Головна ідея: конвеєр middleware</a:t>
            </a:r>
            <a:endParaRPr lang="en-US" sz="3000" dirty="0"/>
          </a:p>
        </p:txBody>
      </p:sp>
      <p:sp>
        <p:nvSpPr>
          <p:cNvPr id="4" name="Shape 1"/>
          <p:cNvSpPr/>
          <p:nvPr/>
        </p:nvSpPr>
        <p:spPr>
          <a:xfrm>
            <a:off x="566928" y="1243584"/>
            <a:ext cx="11057839" cy="1078992"/>
          </a:xfrm>
          <a:prstGeom prst="roundRect">
            <a:avLst>
              <a:gd name="adj" fmla="val 5085"/>
            </a:avLst>
          </a:prstGeom>
          <a:solidFill>
            <a:srgbClr val="E7DFFA"/>
          </a:solidFill>
          <a:ln/>
        </p:spPr>
      </p:sp>
      <p:sp>
        <p:nvSpPr>
          <p:cNvPr id="5" name="Text 2"/>
          <p:cNvSpPr txBox="1"/>
          <p:nvPr/>
        </p:nvSpPr>
        <p:spPr>
          <a:xfrm>
            <a:off x="841248" y="1243584"/>
            <a:ext cx="10509199" cy="107899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Middleware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компонент, що обробляє HTTP-запит і вирішує: щось із ним зробити та передати наступному компоненту, чи сформувати відповідь самому й далі не передавати. Запит проходить крізь усі middleware, доходить до endpoint і повертається назад тим самим шляхом.</a:t>
            </a:r>
            <a:endParaRPr lang="en-US" sz="1450" dirty="0"/>
          </a:p>
        </p:txBody>
      </p:sp>
      <p:pic>
        <p:nvPicPr>
          <p:cNvPr id="6" name="Image 0" descr="C:\Users\Yurii\AppData\Local\Temp\claude\C--Users-Yurii-source-repos---Examples-ASP-NET-AspNet-Basics\130b0e02-3c53-4be1-ac71-0d4d7a5d1c71\scratchpad\deck\assets\d03_onion.png">    </p:cNvPr>
          <p:cNvPicPr>
            <a:picLocks noChangeAspect="1"/>
          </p:cNvPicPr>
          <p:nvPr/>
        </p:nvPicPr>
        <p:blipFill>
          <a:blip r:embed="rId1"/>
          <a:stretch>
            <a:fillRect/>
          </a:stretch>
        </p:blipFill>
        <p:spPr>
          <a:xfrm>
            <a:off x="3060357" y="2551176"/>
            <a:ext cx="6070980" cy="3255264"/>
          </a:xfrm>
          <a:prstGeom prst="rect">
            <a:avLst/>
          </a:prstGeom>
        </p:spPr>
      </p:pic>
      <p:sp>
        <p:nvSpPr>
          <p:cNvPr id="7" name="Shape 3"/>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8" name="Text 4"/>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dirty="0">
                <a:solidFill>
                  <a:srgbClr val="241C3B"/>
                </a:solidFill>
                <a:latin typeface="Calibri" pitchFamily="34" charset="0"/>
                <a:ea typeface="Calibri" pitchFamily="34" charset="-122"/>
                <a:cs typeface="Calibri" pitchFamily="34" charset="-120"/>
              </a:rPr>
              <a:t>Технічно кожен middleware — делегат, що отримує HttpContext і посилання на «наступний» (next).</a:t>
            </a:r>
            <a:endParaRPr lang="en-US" sz="1200" dirty="0"/>
          </a:p>
        </p:txBody>
      </p:sp>
      <p:sp>
        <p:nvSpPr>
          <p:cNvPr id="9" name="Text 5"/>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Конвеєр = вкладені делегати</a:t>
            </a:r>
            <a:endParaRPr lang="en-US" sz="3000" dirty="0"/>
          </a:p>
        </p:txBody>
      </p:sp>
      <p:sp>
        <p:nvSpPr>
          <p:cNvPr id="4" name="Text 1"/>
          <p:cNvSpPr txBox="1"/>
          <p:nvPr/>
        </p:nvSpPr>
        <p:spPr>
          <a:xfrm>
            <a:off x="566928" y="1060704"/>
            <a:ext cx="11057839" cy="365760"/>
          </a:xfrm>
          <a:prstGeom prst="rect">
            <a:avLst/>
          </a:prstGeom>
          <a:noFill/>
          <a:ln/>
        </p:spPr>
        <p:txBody>
          <a:bodyPr wrap="square" lIns="0" tIns="0" rIns="0" bIns="0" rtlCol="0" anchor="ctr"/>
          <a:lstStyle/>
          <a:p>
            <a:pPr indent="0" marL="0">
              <a:buNone/>
            </a:pPr>
            <a:r>
              <a:rPr lang="en-US" sz="1400" dirty="0">
                <a:solidFill>
                  <a:srgbClr val="6E6785"/>
                </a:solidFill>
                <a:latin typeface="Calibri" pitchFamily="34" charset="0"/>
                <a:ea typeface="Calibri" pitchFamily="34" charset="-122"/>
                <a:cs typeface="Calibri" pitchFamily="34" charset="-120"/>
              </a:rPr>
              <a:t>app.Use додає ланку; await next(context) провалюється глибше</a:t>
            </a:r>
            <a:endParaRPr lang="en-US" sz="1400" dirty="0"/>
          </a:p>
        </p:txBody>
      </p:sp>
      <p:sp>
        <p:nvSpPr>
          <p:cNvPr id="5" name="Shape 2"/>
          <p:cNvSpPr/>
          <p:nvPr/>
        </p:nvSpPr>
        <p:spPr>
          <a:xfrm>
            <a:off x="566928" y="2267712"/>
            <a:ext cx="6949440" cy="3328416"/>
          </a:xfrm>
          <a:prstGeom prst="roundRect">
            <a:avLst>
              <a:gd name="adj" fmla="val 1648"/>
            </a:avLst>
          </a:prstGeom>
          <a:solidFill>
            <a:srgbClr val="201A38"/>
          </a:solidFill>
          <a:ln/>
        </p:spPr>
      </p:sp>
      <p:sp>
        <p:nvSpPr>
          <p:cNvPr id="6" name="Text 3"/>
          <p:cNvSpPr txBox="1"/>
          <p:nvPr/>
        </p:nvSpPr>
        <p:spPr>
          <a:xfrm>
            <a:off x="786384" y="2322576"/>
            <a:ext cx="6510528" cy="3218688"/>
          </a:xfrm>
          <a:prstGeom prst="rect">
            <a:avLst/>
          </a:prstGeom>
          <a:noFill/>
          <a:ln/>
        </p:spPr>
        <p:txBody>
          <a:bodyPr wrap="square" lIns="0" tIns="0" rIns="0" bIns="0" rtlCol="0" anchor="ctr"/>
          <a:lstStyle/>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app.Use(async (context, next) =&gt;</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a:t>
            </a:r>
            <a:endParaRPr lang="en-US" sz="1250" dirty="0"/>
          </a:p>
          <a:p>
            <a:pPr indent="0" marL="0">
              <a:lnSpc>
                <a:spcPct val="122000"/>
              </a:lnSpc>
              <a:buNone/>
            </a:pPr>
            <a:r>
              <a:rPr lang="en-US" sz="1250" dirty="0">
                <a:solidFill>
                  <a:srgbClr val="9E93C4"/>
                </a:solidFill>
                <a:latin typeface="Courier New" pitchFamily="34" charset="0"/>
                <a:ea typeface="Courier New" pitchFamily="34" charset="-122"/>
                <a:cs typeface="Courier New" pitchFamily="34" charset="-120"/>
              </a:rPr>
              <a:t>    // код ДО  — обробка на вході</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    await next(context);       // ← далі по конвеєру</a:t>
            </a:r>
            <a:endParaRPr lang="en-US" sz="1250" dirty="0"/>
          </a:p>
          <a:p>
            <a:pPr indent="0" marL="0">
              <a:lnSpc>
                <a:spcPct val="122000"/>
              </a:lnSpc>
              <a:buNone/>
            </a:pPr>
            <a:r>
              <a:rPr lang="en-US" sz="1250" dirty="0">
                <a:solidFill>
                  <a:srgbClr val="9E93C4"/>
                </a:solidFill>
                <a:latin typeface="Courier New" pitchFamily="34" charset="0"/>
                <a:ea typeface="Courier New" pitchFamily="34" charset="-122"/>
                <a:cs typeface="Courier New" pitchFamily="34" charset="-120"/>
              </a:rPr>
              <a:t>    // код ПІСЛЯ — обробка на виході (стек розкручується назад)</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 </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app.Run(async context =&gt;       // ТЕРМІНАЛЬНИЙ: next немає</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    await context.Response.WriteAsync("кінець конвеєра");</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a:t>
            </a:r>
            <a:endParaRPr lang="en-US" sz="1250" dirty="0"/>
          </a:p>
        </p:txBody>
      </p:sp>
      <p:sp>
        <p:nvSpPr>
          <p:cNvPr id="7" name="Text 4"/>
          <p:cNvSpPr txBox="1"/>
          <p:nvPr/>
        </p:nvSpPr>
        <p:spPr>
          <a:xfrm>
            <a:off x="7882128" y="2267712"/>
            <a:ext cx="3742639" cy="3328416"/>
          </a:xfrm>
          <a:prstGeom prst="rect">
            <a:avLst/>
          </a:prstGeom>
          <a:noFill/>
          <a:ln/>
        </p:spPr>
        <p:txBody>
          <a:bodyPr wrap="square" lIns="0" tIns="0" rIns="0" bIns="0" rtlCol="0" anchor="ctr"/>
          <a:lstStyle/>
          <a:p>
            <a:pPr marL="127000" indent="-127000">
              <a:spcAft>
                <a:spcPts val="1000"/>
              </a:spcAft>
              <a:buSzPct val="100000"/>
              <a:buChar char="•"/>
            </a:pPr>
            <a:r>
              <a:rPr lang="en-US" sz="1300" dirty="0">
                <a:solidFill>
                  <a:srgbClr val="241C3B"/>
                </a:solidFill>
                <a:latin typeface="Calibri" pitchFamily="34" charset="0"/>
                <a:ea typeface="Calibri" pitchFamily="34" charset="-122"/>
                <a:cs typeface="Calibri" pitchFamily="34" charset="-120"/>
              </a:rPr>
              <a:t>Use — звичайний middleware, може передати далі</a:t>
            </a:r>
            <a:endParaRPr lang="en-US" sz="1300" dirty="0"/>
          </a:p>
          <a:p>
            <a:pPr marL="127000" indent="-127000">
              <a:spcAft>
                <a:spcPts val="1000"/>
              </a:spcAft>
              <a:buSzPct val="100000"/>
              <a:buChar char="•"/>
            </a:pPr>
            <a:r>
              <a:rPr lang="en-US" sz="1300" dirty="0">
                <a:solidFill>
                  <a:srgbClr val="241C3B"/>
                </a:solidFill>
                <a:latin typeface="Calibri" pitchFamily="34" charset="0"/>
                <a:ea typeface="Calibri" pitchFamily="34" charset="-122"/>
                <a:cs typeface="Calibri" pitchFamily="34" charset="-120"/>
              </a:rPr>
              <a:t>Run — термінальний, конвеєр завершується тут</a:t>
            </a:r>
            <a:endParaRPr lang="en-US" sz="1300" dirty="0"/>
          </a:p>
          <a:p>
            <a:pPr marL="127000" indent="-127000">
              <a:spcAft>
                <a:spcPts val="1000"/>
              </a:spcAft>
              <a:buSzPct val="100000"/>
              <a:buChar char="•"/>
            </a:pPr>
            <a:r>
              <a:rPr lang="en-US" sz="1300" dirty="0">
                <a:solidFill>
                  <a:srgbClr val="241C3B"/>
                </a:solidFill>
                <a:latin typeface="Calibri" pitchFamily="34" charset="0"/>
                <a:ea typeface="Calibri" pitchFamily="34" charset="-122"/>
                <a:cs typeface="Calibri" pitchFamily="34" charset="-120"/>
              </a:rPr>
              <a:t>Не викликати next() → «коротке замикання» (auth, кеш, rate-limit)</a:t>
            </a:r>
            <a:endParaRPr lang="en-US" sz="1300" dirty="0"/>
          </a:p>
          <a:p>
            <a:pPr marL="127000" indent="-127000">
              <a:spcAft>
                <a:spcPts val="1000"/>
              </a:spcAft>
              <a:buSzPct val="100000"/>
              <a:buChar char="•"/>
            </a:pPr>
            <a:r>
              <a:rPr lang="en-US" sz="1300" dirty="0">
                <a:solidFill>
                  <a:srgbClr val="241C3B"/>
                </a:solidFill>
                <a:latin typeface="Calibri" pitchFamily="34" charset="0"/>
                <a:ea typeface="Calibri" pitchFamily="34" charset="-122"/>
                <a:cs typeface="Calibri" pitchFamily="34" charset="-120"/>
              </a:rPr>
              <a:t>Map(path, …) — під-конвеєр за префіксом шляху</a:t>
            </a:r>
            <a:endParaRPr lang="en-US" sz="1300" dirty="0"/>
          </a:p>
        </p:txBody>
      </p:sp>
      <p:sp>
        <p:nvSpPr>
          <p:cNvPr id="8" name="Text 5"/>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Три способи поводження middleware</a:t>
            </a:r>
            <a:endParaRPr lang="en-US" sz="3000" dirty="0"/>
          </a:p>
        </p:txBody>
      </p:sp>
      <p:sp>
        <p:nvSpPr>
          <p:cNvPr id="4" name="Text 1"/>
          <p:cNvSpPr txBox="1"/>
          <p:nvPr/>
        </p:nvSpPr>
        <p:spPr>
          <a:xfrm>
            <a:off x="566928" y="1243584"/>
            <a:ext cx="11057839" cy="603504"/>
          </a:xfrm>
          <a:prstGeom prst="rect">
            <a:avLst/>
          </a:prstGeom>
          <a:noFill/>
          <a:ln/>
        </p:spPr>
        <p:txBody>
          <a:bodyPr wrap="square" lIns="0" tIns="0" rIns="0" bIns="0" rtlCol="0" anchor="t"/>
          <a:lstStyle/>
          <a:p>
            <a:pPr indent="0" marL="0">
              <a:lnSpc>
                <a:spcPct val="116000"/>
              </a:lnSpc>
              <a:buNone/>
            </a:pPr>
            <a:r>
              <a:rPr lang="en-US" sz="1300" dirty="0">
                <a:solidFill>
                  <a:srgbClr val="241C3B"/>
                </a:solidFill>
                <a:latin typeface="Calibri" pitchFamily="34" charset="0"/>
                <a:ea typeface="Calibri" pitchFamily="34" charset="-122"/>
                <a:cs typeface="Calibri" pitchFamily="34" charset="-120"/>
              </a:rPr>
              <a:t>Код, який ви написали ДО виклику await next, виконується на вході — у порядку реєстрації. Код ПІСЛЯ await next — на виході, у зворотному порядку, коли внутрішні шари вже відпрацювали.</a:t>
            </a:r>
            <a:endParaRPr lang="en-US" sz="1300" dirty="0"/>
          </a:p>
        </p:txBody>
      </p:sp>
      <p:sp>
        <p:nvSpPr>
          <p:cNvPr id="5" name="Shape 2"/>
          <p:cNvSpPr/>
          <p:nvPr/>
        </p:nvSpPr>
        <p:spPr>
          <a:xfrm>
            <a:off x="566928" y="1993392"/>
            <a:ext cx="11057839" cy="1005840"/>
          </a:xfrm>
          <a:prstGeom prst="roundRect">
            <a:avLst>
              <a:gd name="adj" fmla="val 4545"/>
            </a:avLst>
          </a:prstGeom>
          <a:solidFill>
            <a:srgbClr val="F3EFFD"/>
          </a:solidFill>
          <a:ln w="9525">
            <a:solidFill>
              <a:srgbClr val="D9CEF5"/>
            </a:solidFill>
            <a:prstDash val="solid"/>
          </a:ln>
        </p:spPr>
      </p:sp>
      <p:sp>
        <p:nvSpPr>
          <p:cNvPr id="6" name="Shape 3"/>
          <p:cNvSpPr/>
          <p:nvPr/>
        </p:nvSpPr>
        <p:spPr>
          <a:xfrm>
            <a:off x="768096" y="2322576"/>
            <a:ext cx="347472" cy="347472"/>
          </a:xfrm>
          <a:prstGeom prst="ellipse">
            <a:avLst/>
          </a:prstGeom>
          <a:solidFill>
            <a:srgbClr val="512BD4"/>
          </a:solidFill>
          <a:ln/>
        </p:spPr>
      </p:sp>
      <p:sp>
        <p:nvSpPr>
          <p:cNvPr id="7" name="Text 4"/>
          <p:cNvSpPr txBox="1"/>
          <p:nvPr/>
        </p:nvSpPr>
        <p:spPr>
          <a:xfrm>
            <a:off x="768096" y="23225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298448" y="1993392"/>
            <a:ext cx="10097719" cy="1005840"/>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Наскрізний   </a:t>
            </a:r>
            <a:pPr indent="0" marL="0">
              <a:buNone/>
            </a:pPr>
            <a:r>
              <a:rPr lang="en-US" sz="1250" dirty="0">
                <a:solidFill>
                  <a:srgbClr val="6E6785"/>
                </a:solidFill>
                <a:latin typeface="Calibri" pitchFamily="34" charset="0"/>
                <a:ea typeface="Calibri" pitchFamily="34" charset="-122"/>
                <a:cs typeface="Calibri" pitchFamily="34" charset="-120"/>
              </a:rPr>
              <a:t>просто await next(context) — нічого не робимо, керування йде далі по конвеєру</a:t>
            </a:r>
            <a:endParaRPr lang="en-US" sz="1500" dirty="0"/>
          </a:p>
        </p:txBody>
      </p:sp>
      <p:sp>
        <p:nvSpPr>
          <p:cNvPr id="9" name="Shape 6"/>
          <p:cNvSpPr/>
          <p:nvPr/>
        </p:nvSpPr>
        <p:spPr>
          <a:xfrm>
            <a:off x="566928" y="3118104"/>
            <a:ext cx="11057839" cy="1005840"/>
          </a:xfrm>
          <a:prstGeom prst="roundRect">
            <a:avLst>
              <a:gd name="adj" fmla="val 4545"/>
            </a:avLst>
          </a:prstGeom>
          <a:solidFill>
            <a:srgbClr val="F3EFFD"/>
          </a:solidFill>
          <a:ln w="9525">
            <a:solidFill>
              <a:srgbClr val="D9CEF5"/>
            </a:solidFill>
            <a:prstDash val="solid"/>
          </a:ln>
        </p:spPr>
      </p:sp>
      <p:sp>
        <p:nvSpPr>
          <p:cNvPr id="10" name="Shape 7"/>
          <p:cNvSpPr/>
          <p:nvPr/>
        </p:nvSpPr>
        <p:spPr>
          <a:xfrm>
            <a:off x="768096" y="3447288"/>
            <a:ext cx="347472" cy="347472"/>
          </a:xfrm>
          <a:prstGeom prst="ellipse">
            <a:avLst/>
          </a:prstGeom>
          <a:solidFill>
            <a:srgbClr val="512BD4"/>
          </a:solidFill>
          <a:ln/>
        </p:spPr>
      </p:sp>
      <p:sp>
        <p:nvSpPr>
          <p:cNvPr id="11" name="Text 8"/>
          <p:cNvSpPr txBox="1"/>
          <p:nvPr/>
        </p:nvSpPr>
        <p:spPr>
          <a:xfrm>
            <a:off x="768096" y="344728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txBox="1"/>
          <p:nvPr/>
        </p:nvSpPr>
        <p:spPr>
          <a:xfrm>
            <a:off x="1298448" y="3118104"/>
            <a:ext cx="10097719" cy="1005840"/>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Обробка входу або виходу   </a:t>
            </a:r>
            <a:pPr indent="0" marL="0">
              <a:buNone/>
            </a:pPr>
            <a:r>
              <a:rPr lang="en-US" sz="1250" dirty="0">
                <a:solidFill>
                  <a:srgbClr val="6E6785"/>
                </a:solidFill>
                <a:latin typeface="Calibri" pitchFamily="34" charset="0"/>
                <a:ea typeface="Calibri" pitchFamily="34" charset="-122"/>
                <a:cs typeface="Calibri" pitchFamily="34" charset="-120"/>
              </a:rPr>
              <a:t>код до чи після next — так реалізують логування, вимірювання часу, додавання заголовків до відповіді</a:t>
            </a:r>
            <a:endParaRPr lang="en-US" sz="1500" dirty="0"/>
          </a:p>
        </p:txBody>
      </p:sp>
      <p:sp>
        <p:nvSpPr>
          <p:cNvPr id="13" name="Shape 10"/>
          <p:cNvSpPr/>
          <p:nvPr/>
        </p:nvSpPr>
        <p:spPr>
          <a:xfrm>
            <a:off x="566928" y="4242816"/>
            <a:ext cx="11057839" cy="1005840"/>
          </a:xfrm>
          <a:prstGeom prst="roundRect">
            <a:avLst>
              <a:gd name="adj" fmla="val 4545"/>
            </a:avLst>
          </a:prstGeom>
          <a:solidFill>
            <a:srgbClr val="F3EFFD"/>
          </a:solidFill>
          <a:ln w="9525">
            <a:solidFill>
              <a:srgbClr val="D9CEF5"/>
            </a:solidFill>
            <a:prstDash val="solid"/>
          </a:ln>
        </p:spPr>
      </p:sp>
      <p:sp>
        <p:nvSpPr>
          <p:cNvPr id="14" name="Shape 11"/>
          <p:cNvSpPr/>
          <p:nvPr/>
        </p:nvSpPr>
        <p:spPr>
          <a:xfrm>
            <a:off x="768096" y="4572000"/>
            <a:ext cx="347472" cy="347472"/>
          </a:xfrm>
          <a:prstGeom prst="ellipse">
            <a:avLst/>
          </a:prstGeom>
          <a:solidFill>
            <a:srgbClr val="512BD4"/>
          </a:solidFill>
          <a:ln/>
        </p:spPr>
      </p:sp>
      <p:sp>
        <p:nvSpPr>
          <p:cNvPr id="15" name="Text 12"/>
          <p:cNvSpPr txBox="1"/>
          <p:nvPr/>
        </p:nvSpPr>
        <p:spPr>
          <a:xfrm>
            <a:off x="768096" y="45720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3"/>
          <p:cNvSpPr txBox="1"/>
          <p:nvPr/>
        </p:nvSpPr>
        <p:spPr>
          <a:xfrm>
            <a:off x="1298448" y="4242816"/>
            <a:ext cx="10097719" cy="1005840"/>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Коротке замикання   </a:t>
            </a:r>
            <a:pPr indent="0" marL="0">
              <a:buNone/>
            </a:pPr>
            <a:r>
              <a:rPr lang="en-US" sz="1250" dirty="0">
                <a:solidFill>
                  <a:srgbClr val="6E6785"/>
                </a:solidFill>
                <a:latin typeface="Calibri" pitchFamily="34" charset="0"/>
                <a:ea typeface="Calibri" pitchFamily="34" charset="-122"/>
                <a:cs typeface="Calibri" pitchFamily="34" charset="-120"/>
              </a:rPr>
              <a:t>не викликати next і самому сформувати відповідь — endpoint не виконається (auth, кеш, rate-limit)</a:t>
            </a:r>
            <a:endParaRPr lang="en-US" sz="1500" dirty="0"/>
          </a:p>
        </p:txBody>
      </p:sp>
      <p:sp>
        <p:nvSpPr>
          <p:cNvPr id="17" name="Shape 14"/>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18" name="Text 15"/>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i="1" dirty="0">
                <a:solidFill>
                  <a:srgbClr val="241C3B"/>
                </a:solidFill>
                <a:latin typeface="Calibri" pitchFamily="34" charset="0"/>
                <a:ea typeface="Calibri" pitchFamily="34" charset="-122"/>
                <a:cs typeface="Calibri" pitchFamily="34" charset="-120"/>
              </a:rPr>
              <a:t>Дописати заголовок з обробки на виході надійно можна лише через Response.OnStarting(callback) — після Response.HasStarted заголовки вже незмінні.</a:t>
            </a:r>
            <a:endParaRPr lang="en-US" sz="1200" dirty="0"/>
          </a:p>
        </p:txBody>
      </p:sp>
      <p:sp>
        <p:nvSpPr>
          <p:cNvPr id="19" name="Text 16"/>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Порядок middleware — критичний</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Правило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порядок реєстрації middleware дорівнює порядку виконання на вході. Від нього критично залежить коректність — це найпоширеніша причина «магічних» багів у ASP.NET Core.</a:t>
            </a:r>
            <a:endParaRPr lang="en-US" sz="1450" dirty="0"/>
          </a:p>
        </p:txBody>
      </p:sp>
      <p:pic>
        <p:nvPicPr>
          <p:cNvPr id="6" name="Image 0" descr="C:\Users\Yurii\AppData\Local\Temp\claude\C--Users-Yurii-source-repos---Examples-ASP-NET-AspNet-Basics\130b0e02-3c53-4be1-ac71-0d4d7a5d1c71\scratchpad\deck\assets\d04_order.png">    </p:cNvPr>
          <p:cNvPicPr>
            <a:picLocks noChangeAspect="1"/>
          </p:cNvPicPr>
          <p:nvPr/>
        </p:nvPicPr>
        <p:blipFill>
          <a:blip r:embed="rId1"/>
          <a:stretch>
            <a:fillRect/>
          </a:stretch>
        </p:blipFill>
        <p:spPr>
          <a:xfrm>
            <a:off x="3997518" y="2276856"/>
            <a:ext cx="4196658" cy="3529584"/>
          </a:xfrm>
          <a:prstGeom prst="rect">
            <a:avLst/>
          </a:prstGeom>
        </p:spPr>
      </p:pic>
      <p:sp>
        <p:nvSpPr>
          <p:cNvPr id="7" name="Shape 3"/>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8" name="Text 4"/>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dirty="0">
                <a:solidFill>
                  <a:srgbClr val="241C3B"/>
                </a:solidFill>
                <a:latin typeface="Calibri" pitchFamily="34" charset="0"/>
                <a:ea typeface="Calibri" pitchFamily="34" charset="-122"/>
                <a:cs typeface="Calibri" pitchFamily="34" charset="-120"/>
              </a:rPr>
              <a:t>UseCors після endpoint-ів → заголовки CORS не додаються. UseAuthorization до UseRouting → [Authorize] не бачить метаданих endpoint.</a:t>
            </a:r>
            <a:endParaRPr lang="en-US" sz="1200" dirty="0"/>
          </a:p>
        </p:txBody>
      </p:sp>
      <p:sp>
        <p:nvSpPr>
          <p:cNvPr id="9" name="Text 5"/>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Власні middleware як класи</a:t>
            </a:r>
            <a:endParaRPr lang="en-US" sz="3000" dirty="0"/>
          </a:p>
        </p:txBody>
      </p:sp>
      <p:sp>
        <p:nvSpPr>
          <p:cNvPr id="4" name="Text 1"/>
          <p:cNvSpPr txBox="1"/>
          <p:nvPr/>
        </p:nvSpPr>
        <p:spPr>
          <a:xfrm>
            <a:off x="566928" y="1243584"/>
            <a:ext cx="11057839" cy="603504"/>
          </a:xfrm>
          <a:prstGeom prst="rect">
            <a:avLst/>
          </a:prstGeom>
          <a:noFill/>
          <a:ln/>
        </p:spPr>
        <p:txBody>
          <a:bodyPr wrap="square" lIns="0" tIns="0" rIns="0" bIns="0" rtlCol="0" anchor="t"/>
          <a:lstStyle/>
          <a:p>
            <a:pPr indent="0" marL="0">
              <a:lnSpc>
                <a:spcPct val="116000"/>
              </a:lnSpc>
              <a:buNone/>
            </a:pPr>
            <a:r>
              <a:rPr lang="en-US" sz="1300" dirty="0">
                <a:solidFill>
                  <a:srgbClr val="241C3B"/>
                </a:solidFill>
                <a:latin typeface="Calibri" pitchFamily="34" charset="0"/>
                <a:ea typeface="Calibri" pitchFamily="34" charset="-122"/>
                <a:cs typeface="Calibri" pitchFamily="34" charset="-120"/>
              </a:rPr>
              <a:t>Інлайн-лямбда годиться для дрібниць. Коли middleware треба перевикористовувати або покрити тестами — його виносять у клас. Є два стилі, і головна різниця між ними — час життя екземпляра:</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993392"/>
          <a:ext cx="11057839" cy="914400"/>
        </p:xfrm>
        <a:graphic>
          <a:graphicData uri="http://schemas.openxmlformats.org/drawingml/2006/table">
            <a:tbl>
              <a:tblPr/>
              <a:tblGrid>
                <a:gridCol w="2468880"/>
                <a:gridCol w="4297680"/>
                <a:gridCol w="4297680"/>
              </a:tblGrid>
              <a:tr h="635508">
                <a:tc>
                  <a:txBody>
                    <a:bodyPr/>
                    <a:lstStyle/>
                    <a:p>
                      <a:pPr indent="0" marL="0">
                        <a:buNone/>
                      </a:pP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За конвенцією</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IMiddleware</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r>
              <a:tr h="63550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Інтерфейс</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немає</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IMiddleware</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3550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Створення екземпляра</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один раз на застосунок</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на кожен запит</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63550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Реєстрація в DI</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не потрібна</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обов'язкова (AddScoped&lt;T&gt;)</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3550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Scoped-залежності</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лише параметром InvokeAsync</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можна в конструктор</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63550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Сигнатура</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InvokeAsync(HttpContext)</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InvokeAsync(HttpContext, RequestDelegate)</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bl>
          </a:graphicData>
        </a:graphic>
      </p:graphicFrame>
      <p:sp>
        <p:nvSpPr>
          <p:cNvPr id="6" name="Shape 2"/>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7" name="Text 3"/>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i="1" dirty="0">
                <a:solidFill>
                  <a:srgbClr val="241C3B"/>
                </a:solidFill>
                <a:latin typeface="Calibri" pitchFamily="34" charset="0"/>
                <a:ea typeface="Calibri" pitchFamily="34" charset="-122"/>
                <a:cs typeface="Calibri" pitchFamily="34" charset="-120"/>
              </a:rPr>
              <a:t>Патерн UseXxx() — метод-розширення, що ховає app.UseMiddleware&lt;T&gt;() за зрозумілою назвою (як UseRouting, UseCors).</a:t>
            </a:r>
            <a:endParaRPr lang="en-US" sz="1200" dirty="0"/>
          </a:p>
        </p:txBody>
      </p:sp>
      <p:sp>
        <p:nvSpPr>
          <p:cNvPr id="8" name="Text 4"/>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Розгалуження конвеєра</a:t>
            </a:r>
            <a:endParaRPr lang="en-US" sz="3000" dirty="0"/>
          </a:p>
        </p:txBody>
      </p:sp>
      <p:sp>
        <p:nvSpPr>
          <p:cNvPr id="4" name="Text 1"/>
          <p:cNvSpPr txBox="1"/>
          <p:nvPr/>
        </p:nvSpPr>
        <p:spPr>
          <a:xfrm>
            <a:off x="566928" y="1243584"/>
            <a:ext cx="11057839" cy="603504"/>
          </a:xfrm>
          <a:prstGeom prst="rect">
            <a:avLst/>
          </a:prstGeom>
          <a:noFill/>
          <a:ln/>
        </p:spPr>
        <p:txBody>
          <a:bodyPr wrap="square" lIns="0" tIns="0" rIns="0" bIns="0" rtlCol="0" anchor="t"/>
          <a:lstStyle/>
          <a:p>
            <a:pPr indent="0" marL="0">
              <a:lnSpc>
                <a:spcPct val="116000"/>
              </a:lnSpc>
              <a:buNone/>
            </a:pPr>
            <a:r>
              <a:rPr lang="en-US" sz="1300" dirty="0">
                <a:solidFill>
                  <a:srgbClr val="241C3B"/>
                </a:solidFill>
                <a:latin typeface="Calibri" pitchFamily="34" charset="0"/>
                <a:ea typeface="Calibri" pitchFamily="34" charset="-122"/>
                <a:cs typeface="Calibri" pitchFamily="34" charset="-120"/>
              </a:rPr>
              <a:t>Іноді частині запитів потрібен інший набір middleware. «Термінальна» означає, що гілка завершує обробку сама й керування назад в основний конвеєр не повертається.</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2583180"/>
          <a:ext cx="11057839" cy="914400"/>
        </p:xfrm>
        <a:graphic>
          <a:graphicData uri="http://schemas.openxmlformats.org/drawingml/2006/table">
            <a:tbl>
              <a:tblPr/>
              <a:tblGrid>
                <a:gridCol w="2103120"/>
                <a:gridCol w="2194560"/>
                <a:gridCol w="2103120"/>
                <a:gridCol w="4663440"/>
              </a:tblGrid>
              <a:tr h="6583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Метод</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Умова</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Термінальна?</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Застосування</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Map(path, …)</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префікс шляху</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так</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під-застосунок: /admin, /health, вебхуки</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MapWhen(pred, …)</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будь-яка (заголовок, query)</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так</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гілка за нешляховою умовою</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UseWhen(pred, …)</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будь-яка</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ні — повертається</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умовний middleware: напр. auth лише для /api/*</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bl>
          </a:graphicData>
        </a:graphic>
      </p:graphicFrame>
      <p:sp>
        <p:nvSpPr>
          <p:cNvPr id="6" name="Shape 2"/>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7" name="Text 3"/>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i="1" dirty="0">
                <a:solidFill>
                  <a:srgbClr val="241C3B"/>
                </a:solidFill>
                <a:latin typeface="Calibri" pitchFamily="34" charset="0"/>
                <a:ea typeface="Calibri" pitchFamily="34" charset="-122"/>
                <a:cs typeface="Calibri" pitchFamily="34" charset="-120"/>
              </a:rPr>
              <a:t>Map обрізає префікс: усередині гілки Request.Path вже без нього, а Request.PathBase дорівнює префіксу.</a:t>
            </a:r>
            <a:endParaRPr lang="en-US" sz="1200" dirty="0"/>
          </a:p>
        </p:txBody>
      </p:sp>
      <p:sp>
        <p:nvSpPr>
          <p:cNvPr id="8" name="Text 4"/>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Наскрізні задачі (cross-cutting)</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Наскрізна задача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функціональність, потрібна багатьом endpoint-ам одразу (обробка помилок, логування, CORS). У ASP.NET Core усе це — окремі middleware, які ставлять один раз у потрібному місці конвеєра.</a:t>
            </a:r>
            <a:endParaRPr lang="en-US" sz="1450" dirty="0"/>
          </a:p>
        </p:txBody>
      </p:sp>
      <p:sp>
        <p:nvSpPr>
          <p:cNvPr id="6" name="Shape 3"/>
          <p:cNvSpPr/>
          <p:nvPr/>
        </p:nvSpPr>
        <p:spPr>
          <a:xfrm>
            <a:off x="566928" y="2231136"/>
            <a:ext cx="11057839" cy="724205"/>
          </a:xfrm>
          <a:prstGeom prst="roundRect">
            <a:avLst>
              <a:gd name="adj" fmla="val 6313"/>
            </a:avLst>
          </a:prstGeom>
          <a:solidFill>
            <a:srgbClr val="F3EFFD"/>
          </a:solidFill>
          <a:ln w="9525">
            <a:solidFill>
              <a:srgbClr val="D9CEF5"/>
            </a:solidFill>
            <a:prstDash val="solid"/>
          </a:ln>
        </p:spPr>
      </p:sp>
      <p:sp>
        <p:nvSpPr>
          <p:cNvPr id="7" name="Shape 4"/>
          <p:cNvSpPr/>
          <p:nvPr/>
        </p:nvSpPr>
        <p:spPr>
          <a:xfrm>
            <a:off x="768096" y="2419502"/>
            <a:ext cx="347472" cy="347472"/>
          </a:xfrm>
          <a:prstGeom prst="ellipse">
            <a:avLst/>
          </a:prstGeom>
          <a:solidFill>
            <a:srgbClr val="512BD4"/>
          </a:solidFill>
          <a:ln/>
        </p:spPr>
      </p:sp>
      <p:sp>
        <p:nvSpPr>
          <p:cNvPr id="8" name="Text 5"/>
          <p:cNvSpPr txBox="1"/>
          <p:nvPr/>
        </p:nvSpPr>
        <p:spPr>
          <a:xfrm>
            <a:off x="768096" y="241950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1298448" y="2231136"/>
            <a:ext cx="10097719" cy="724205"/>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UseExceptionHandler   </a:t>
            </a:r>
            <a:pPr indent="0" marL="0">
              <a:buNone/>
            </a:pPr>
            <a:r>
              <a:rPr lang="en-US" sz="1250" dirty="0">
                <a:solidFill>
                  <a:srgbClr val="6E6785"/>
                </a:solidFill>
                <a:latin typeface="Calibri" pitchFamily="34" charset="0"/>
                <a:ea typeface="Calibri" pitchFamily="34" charset="-122"/>
                <a:cs typeface="Calibri" pitchFamily="34" charset="-120"/>
              </a:rPr>
              <a:t>перехоплює необроблені винятки й перетворює на відповідь у форматі Problem Details (RFC 9457)</a:t>
            </a:r>
            <a:endParaRPr lang="en-US" sz="1500" dirty="0"/>
          </a:p>
        </p:txBody>
      </p:sp>
      <p:sp>
        <p:nvSpPr>
          <p:cNvPr id="10" name="Shape 7"/>
          <p:cNvSpPr/>
          <p:nvPr/>
        </p:nvSpPr>
        <p:spPr>
          <a:xfrm>
            <a:off x="566928" y="3074213"/>
            <a:ext cx="11057839" cy="724205"/>
          </a:xfrm>
          <a:prstGeom prst="roundRect">
            <a:avLst>
              <a:gd name="adj" fmla="val 6313"/>
            </a:avLst>
          </a:prstGeom>
          <a:solidFill>
            <a:srgbClr val="F3EFFD"/>
          </a:solidFill>
          <a:ln w="9525">
            <a:solidFill>
              <a:srgbClr val="D9CEF5"/>
            </a:solidFill>
            <a:prstDash val="solid"/>
          </a:ln>
        </p:spPr>
      </p:sp>
      <p:sp>
        <p:nvSpPr>
          <p:cNvPr id="11" name="Shape 8"/>
          <p:cNvSpPr/>
          <p:nvPr/>
        </p:nvSpPr>
        <p:spPr>
          <a:xfrm>
            <a:off x="768096" y="3262579"/>
            <a:ext cx="347472" cy="347472"/>
          </a:xfrm>
          <a:prstGeom prst="ellipse">
            <a:avLst/>
          </a:prstGeom>
          <a:solidFill>
            <a:srgbClr val="512BD4"/>
          </a:solidFill>
          <a:ln/>
        </p:spPr>
      </p:sp>
      <p:sp>
        <p:nvSpPr>
          <p:cNvPr id="12" name="Text 9"/>
          <p:cNvSpPr txBox="1"/>
          <p:nvPr/>
        </p:nvSpPr>
        <p:spPr>
          <a:xfrm>
            <a:off x="768096" y="3262579"/>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298448" y="3074213"/>
            <a:ext cx="10097719" cy="724205"/>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UseStatusCodePages   </a:t>
            </a:r>
            <a:pPr indent="0" marL="0">
              <a:buNone/>
            </a:pPr>
            <a:r>
              <a:rPr lang="en-US" sz="1250" dirty="0">
                <a:solidFill>
                  <a:srgbClr val="6E6785"/>
                </a:solidFill>
                <a:latin typeface="Calibri" pitchFamily="34" charset="0"/>
                <a:ea typeface="Calibri" pitchFamily="34" charset="-122"/>
                <a:cs typeface="Calibri" pitchFamily="34" charset="-120"/>
              </a:rPr>
              <a:t>додає тіло для «голих» статус-кодів, наприклад 404 без жодного тексту</a:t>
            </a:r>
            <a:endParaRPr lang="en-US" sz="1500" dirty="0"/>
          </a:p>
        </p:txBody>
      </p:sp>
      <p:sp>
        <p:nvSpPr>
          <p:cNvPr id="14" name="Shape 11"/>
          <p:cNvSpPr/>
          <p:nvPr/>
        </p:nvSpPr>
        <p:spPr>
          <a:xfrm>
            <a:off x="566928" y="3917290"/>
            <a:ext cx="11057839" cy="724205"/>
          </a:xfrm>
          <a:prstGeom prst="roundRect">
            <a:avLst>
              <a:gd name="adj" fmla="val 6313"/>
            </a:avLst>
          </a:prstGeom>
          <a:solidFill>
            <a:srgbClr val="F3EFFD"/>
          </a:solidFill>
          <a:ln w="9525">
            <a:solidFill>
              <a:srgbClr val="D9CEF5"/>
            </a:solidFill>
            <a:prstDash val="solid"/>
          </a:ln>
        </p:spPr>
      </p:sp>
      <p:sp>
        <p:nvSpPr>
          <p:cNvPr id="15" name="Shape 12"/>
          <p:cNvSpPr/>
          <p:nvPr/>
        </p:nvSpPr>
        <p:spPr>
          <a:xfrm>
            <a:off x="768096" y="4105656"/>
            <a:ext cx="347472" cy="347472"/>
          </a:xfrm>
          <a:prstGeom prst="ellipse">
            <a:avLst/>
          </a:prstGeom>
          <a:solidFill>
            <a:srgbClr val="512BD4"/>
          </a:solidFill>
          <a:ln/>
        </p:spPr>
      </p:sp>
      <p:sp>
        <p:nvSpPr>
          <p:cNvPr id="16" name="Text 13"/>
          <p:cNvSpPr txBox="1"/>
          <p:nvPr/>
        </p:nvSpPr>
        <p:spPr>
          <a:xfrm>
            <a:off x="768096" y="410565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txBox="1"/>
          <p:nvPr/>
        </p:nvSpPr>
        <p:spPr>
          <a:xfrm>
            <a:off x="1298448" y="3917290"/>
            <a:ext cx="10097719" cy="724205"/>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UseDefaultFiles / UseStaticFiles   </a:t>
            </a:r>
            <a:pPr indent="0" marL="0">
              <a:buNone/>
            </a:pPr>
            <a:r>
              <a:rPr lang="en-US" sz="1250" dirty="0">
                <a:solidFill>
                  <a:srgbClr val="6E6785"/>
                </a:solidFill>
                <a:latin typeface="Calibri" pitchFamily="34" charset="0"/>
                <a:ea typeface="Calibri" pitchFamily="34" charset="-122"/>
                <a:cs typeface="Calibri" pitchFamily="34" charset="-120"/>
              </a:rPr>
              <a:t>віддають файли з wwwroot; ставляться до маршрутизації, щоб не робити зайвої роботи</a:t>
            </a:r>
            <a:endParaRPr lang="en-US" sz="1500" dirty="0"/>
          </a:p>
        </p:txBody>
      </p:sp>
      <p:sp>
        <p:nvSpPr>
          <p:cNvPr id="18" name="Shape 15"/>
          <p:cNvSpPr/>
          <p:nvPr/>
        </p:nvSpPr>
        <p:spPr>
          <a:xfrm>
            <a:off x="566928" y="4760366"/>
            <a:ext cx="11057839" cy="724205"/>
          </a:xfrm>
          <a:prstGeom prst="roundRect">
            <a:avLst>
              <a:gd name="adj" fmla="val 6313"/>
            </a:avLst>
          </a:prstGeom>
          <a:solidFill>
            <a:srgbClr val="F3EFFD"/>
          </a:solidFill>
          <a:ln w="9525">
            <a:solidFill>
              <a:srgbClr val="D9CEF5"/>
            </a:solidFill>
            <a:prstDash val="solid"/>
          </a:ln>
        </p:spPr>
      </p:sp>
      <p:sp>
        <p:nvSpPr>
          <p:cNvPr id="19" name="Shape 16"/>
          <p:cNvSpPr/>
          <p:nvPr/>
        </p:nvSpPr>
        <p:spPr>
          <a:xfrm>
            <a:off x="768096" y="4948733"/>
            <a:ext cx="347472" cy="347472"/>
          </a:xfrm>
          <a:prstGeom prst="ellipse">
            <a:avLst/>
          </a:prstGeom>
          <a:solidFill>
            <a:srgbClr val="512BD4"/>
          </a:solidFill>
          <a:ln/>
        </p:spPr>
      </p:sp>
      <p:sp>
        <p:nvSpPr>
          <p:cNvPr id="20" name="Text 17"/>
          <p:cNvSpPr txBox="1"/>
          <p:nvPr/>
        </p:nvSpPr>
        <p:spPr>
          <a:xfrm>
            <a:off x="768096" y="4948733"/>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txBox="1"/>
          <p:nvPr/>
        </p:nvSpPr>
        <p:spPr>
          <a:xfrm>
            <a:off x="1298448" y="4760366"/>
            <a:ext cx="10097719" cy="724205"/>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UseCors   </a:t>
            </a:r>
            <a:pPr indent="0" marL="0">
              <a:buNone/>
            </a:pPr>
            <a:r>
              <a:rPr lang="en-US" sz="1250" dirty="0">
                <a:solidFill>
                  <a:srgbClr val="6E6785"/>
                </a:solidFill>
                <a:latin typeface="Calibri" pitchFamily="34" charset="0"/>
                <a:ea typeface="Calibri" pitchFamily="34" charset="-122"/>
                <a:cs typeface="Calibri" pitchFamily="34" charset="-120"/>
              </a:rPr>
              <a:t>дозволяє браузерному JavaScript звертатися з іншого origin; це послаблення обмеження браузера, а не захист сервера</a:t>
            </a:r>
            <a:endParaRPr lang="en-US" sz="1500" dirty="0"/>
          </a:p>
        </p:txBody>
      </p:sp>
      <p:sp>
        <p:nvSpPr>
          <p:cNvPr id="22" name="Shape 19"/>
          <p:cNvSpPr/>
          <p:nvPr/>
        </p:nvSpPr>
        <p:spPr>
          <a:xfrm>
            <a:off x="566928" y="5603443"/>
            <a:ext cx="11057839" cy="724205"/>
          </a:xfrm>
          <a:prstGeom prst="roundRect">
            <a:avLst>
              <a:gd name="adj" fmla="val 6313"/>
            </a:avLst>
          </a:prstGeom>
          <a:solidFill>
            <a:srgbClr val="F3EFFD"/>
          </a:solidFill>
          <a:ln w="9525">
            <a:solidFill>
              <a:srgbClr val="D9CEF5"/>
            </a:solidFill>
            <a:prstDash val="solid"/>
          </a:ln>
        </p:spPr>
      </p:sp>
      <p:sp>
        <p:nvSpPr>
          <p:cNvPr id="23" name="Shape 20"/>
          <p:cNvSpPr/>
          <p:nvPr/>
        </p:nvSpPr>
        <p:spPr>
          <a:xfrm>
            <a:off x="768096" y="5791810"/>
            <a:ext cx="347472" cy="347472"/>
          </a:xfrm>
          <a:prstGeom prst="ellipse">
            <a:avLst/>
          </a:prstGeom>
          <a:solidFill>
            <a:srgbClr val="512BD4"/>
          </a:solidFill>
          <a:ln/>
        </p:spPr>
      </p:sp>
      <p:sp>
        <p:nvSpPr>
          <p:cNvPr id="24" name="Text 21"/>
          <p:cNvSpPr txBox="1"/>
          <p:nvPr/>
        </p:nvSpPr>
        <p:spPr>
          <a:xfrm>
            <a:off x="768096" y="579181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2"/>
          <p:cNvSpPr txBox="1"/>
          <p:nvPr/>
        </p:nvSpPr>
        <p:spPr>
          <a:xfrm>
            <a:off x="1298448" y="5603443"/>
            <a:ext cx="10097719" cy="724205"/>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UseResponseCompression / Caching   </a:t>
            </a:r>
            <a:pPr indent="0" marL="0">
              <a:buNone/>
            </a:pPr>
            <a:r>
              <a:rPr lang="en-US" sz="1250" dirty="0">
                <a:solidFill>
                  <a:srgbClr val="6E6785"/>
                </a:solidFill>
                <a:latin typeface="Calibri" pitchFamily="34" charset="0"/>
                <a:ea typeface="Calibri" pitchFamily="34" charset="-122"/>
                <a:cs typeface="Calibri" pitchFamily="34" charset="-120"/>
              </a:rPr>
              <a:t>стиснення та кешування відповідей</a:t>
            </a:r>
            <a:endParaRPr lang="en-US" sz="1500" dirty="0"/>
          </a:p>
        </p:txBody>
      </p:sp>
      <p:sp>
        <p:nvSpPr>
          <p:cNvPr id="26" name="Text 23"/>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3EFFD"/>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Модуль 2 — приклади</a:t>
            </a:r>
            <a:endParaRPr lang="en-US" sz="3000" dirty="0"/>
          </a:p>
        </p:txBody>
      </p:sp>
      <p:sp>
        <p:nvSpPr>
          <p:cNvPr id="4" name="Shape 1"/>
          <p:cNvSpPr/>
          <p:nvPr/>
        </p:nvSpPr>
        <p:spPr>
          <a:xfrm>
            <a:off x="566928" y="1243584"/>
            <a:ext cx="11057839" cy="1117854"/>
          </a:xfrm>
          <a:prstGeom prst="roundRect">
            <a:avLst>
              <a:gd name="adj" fmla="val 5726"/>
            </a:avLst>
          </a:prstGeom>
          <a:solidFill>
            <a:srgbClr val="FFFFFF"/>
          </a:solidFill>
          <a:ln w="12700">
            <a:solidFill>
              <a:srgbClr val="D9CEF5"/>
            </a:solidFill>
            <a:prstDash val="solid"/>
          </a:ln>
        </p:spPr>
      </p:sp>
      <p:sp>
        <p:nvSpPr>
          <p:cNvPr id="5" name="Shape 2"/>
          <p:cNvSpPr/>
          <p:nvPr/>
        </p:nvSpPr>
        <p:spPr>
          <a:xfrm>
            <a:off x="795528" y="1628775"/>
            <a:ext cx="2926080" cy="347472"/>
          </a:xfrm>
          <a:prstGeom prst="roundRect">
            <a:avLst>
              <a:gd name="adj" fmla="val 13158"/>
            </a:avLst>
          </a:prstGeom>
          <a:solidFill>
            <a:srgbClr val="E7DFFA"/>
          </a:solidFill>
          <a:ln/>
        </p:spPr>
      </p:sp>
      <p:sp>
        <p:nvSpPr>
          <p:cNvPr id="6" name="Text 3"/>
          <p:cNvSpPr txBox="1"/>
          <p:nvPr/>
        </p:nvSpPr>
        <p:spPr>
          <a:xfrm>
            <a:off x="795528" y="1628775"/>
            <a:ext cx="2926080" cy="347472"/>
          </a:xfrm>
          <a:prstGeom prst="rect">
            <a:avLst/>
          </a:prstGeom>
          <a:noFill/>
          <a:ln/>
        </p:spPr>
        <p:txBody>
          <a:bodyPr wrap="square" lIns="0" tIns="0" rIns="0" bIns="0" rtlCol="0" anchor="ctr"/>
          <a:lstStyle/>
          <a:p>
            <a:pPr algn="ctr" indent="0" marL="0">
              <a:buNone/>
            </a:pPr>
            <a:r>
              <a:rPr lang="en-US" sz="1100" b="1" dirty="0">
                <a:solidFill>
                  <a:srgbClr val="512BD4"/>
                </a:solidFill>
                <a:latin typeface="Courier New" pitchFamily="34" charset="0"/>
                <a:ea typeface="Courier New" pitchFamily="34" charset="-122"/>
                <a:cs typeface="Courier New" pitchFamily="34" charset="-120"/>
              </a:rPr>
              <a:t>03.Pipeline.FromScratch</a:t>
            </a:r>
            <a:endParaRPr lang="en-US" sz="1100" dirty="0"/>
          </a:p>
        </p:txBody>
      </p:sp>
      <p:sp>
        <p:nvSpPr>
          <p:cNvPr id="7" name="Text 4"/>
          <p:cNvSpPr txBox="1"/>
          <p:nvPr/>
        </p:nvSpPr>
        <p:spPr>
          <a:xfrm>
            <a:off x="3995928" y="1243584"/>
            <a:ext cx="7400239" cy="1117854"/>
          </a:xfrm>
          <a:prstGeom prst="rect">
            <a:avLst/>
          </a:prstGeom>
          <a:noFill/>
          <a:ln/>
        </p:spPr>
        <p:txBody>
          <a:bodyPr wrap="square" lIns="0" tIns="0" rIns="0" bIns="0" rtlCol="0" anchor="ctr"/>
          <a:lstStyle/>
          <a:p>
            <a:pPr indent="0" marL="0">
              <a:buNone/>
            </a:pPr>
            <a:r>
              <a:rPr lang="en-US" sz="1250" b="1" dirty="0">
                <a:solidFill>
                  <a:srgbClr val="241C3B"/>
                </a:solidFill>
                <a:latin typeface="Calibri" pitchFamily="34" charset="0"/>
                <a:ea typeface="Calibri" pitchFamily="34" charset="-122"/>
                <a:cs typeface="Calibri" pitchFamily="34" charset="-120"/>
              </a:rPr>
              <a:t>Конвеєр з нуля  —  </a:t>
            </a:r>
            <a:pPr indent="0" marL="0">
              <a:buNone/>
            </a:pPr>
            <a:r>
              <a:rPr lang="en-US" sz="1250" dirty="0">
                <a:solidFill>
                  <a:srgbClr val="6E6785"/>
                </a:solidFill>
                <a:latin typeface="Calibri" pitchFamily="34" charset="0"/>
                <a:ea typeface="Calibri" pitchFamily="34" charset="-122"/>
                <a:cs typeface="Calibri" pitchFamily="34" charset="-120"/>
              </a:rPr>
              <a:t>Use/Run, next, обробка входу/виходу, коротке замикання, термінальний Run</a:t>
            </a:r>
            <a:endParaRPr lang="en-US" sz="1250" dirty="0"/>
          </a:p>
        </p:txBody>
      </p:sp>
      <p:sp>
        <p:nvSpPr>
          <p:cNvPr id="8" name="Shape 5"/>
          <p:cNvSpPr/>
          <p:nvPr/>
        </p:nvSpPr>
        <p:spPr>
          <a:xfrm>
            <a:off x="566928" y="2544318"/>
            <a:ext cx="11057839" cy="1117854"/>
          </a:xfrm>
          <a:prstGeom prst="roundRect">
            <a:avLst>
              <a:gd name="adj" fmla="val 5726"/>
            </a:avLst>
          </a:prstGeom>
          <a:solidFill>
            <a:srgbClr val="FFFFFF"/>
          </a:solidFill>
          <a:ln w="12700">
            <a:solidFill>
              <a:srgbClr val="D9CEF5"/>
            </a:solidFill>
            <a:prstDash val="solid"/>
          </a:ln>
        </p:spPr>
      </p:sp>
      <p:sp>
        <p:nvSpPr>
          <p:cNvPr id="9" name="Shape 6"/>
          <p:cNvSpPr/>
          <p:nvPr/>
        </p:nvSpPr>
        <p:spPr>
          <a:xfrm>
            <a:off x="795528" y="2929509"/>
            <a:ext cx="2926080" cy="347472"/>
          </a:xfrm>
          <a:prstGeom prst="roundRect">
            <a:avLst>
              <a:gd name="adj" fmla="val 13158"/>
            </a:avLst>
          </a:prstGeom>
          <a:solidFill>
            <a:srgbClr val="E7DFFA"/>
          </a:solidFill>
          <a:ln/>
        </p:spPr>
      </p:sp>
      <p:sp>
        <p:nvSpPr>
          <p:cNvPr id="10" name="Text 7"/>
          <p:cNvSpPr txBox="1"/>
          <p:nvPr/>
        </p:nvSpPr>
        <p:spPr>
          <a:xfrm>
            <a:off x="795528" y="2929509"/>
            <a:ext cx="2926080" cy="347472"/>
          </a:xfrm>
          <a:prstGeom prst="rect">
            <a:avLst/>
          </a:prstGeom>
          <a:noFill/>
          <a:ln/>
        </p:spPr>
        <p:txBody>
          <a:bodyPr wrap="square" lIns="0" tIns="0" rIns="0" bIns="0" rtlCol="0" anchor="ctr"/>
          <a:lstStyle/>
          <a:p>
            <a:pPr algn="ctr" indent="0" marL="0">
              <a:buNone/>
            </a:pPr>
            <a:r>
              <a:rPr lang="en-US" sz="1100" b="1" dirty="0">
                <a:solidFill>
                  <a:srgbClr val="512BD4"/>
                </a:solidFill>
                <a:latin typeface="Courier New" pitchFamily="34" charset="0"/>
                <a:ea typeface="Courier New" pitchFamily="34" charset="-122"/>
                <a:cs typeface="Courier New" pitchFamily="34" charset="-120"/>
              </a:rPr>
              <a:t>04.Pipeline.CustomMiddleware</a:t>
            </a:r>
            <a:endParaRPr lang="en-US" sz="1100" dirty="0"/>
          </a:p>
        </p:txBody>
      </p:sp>
      <p:sp>
        <p:nvSpPr>
          <p:cNvPr id="11" name="Text 8"/>
          <p:cNvSpPr txBox="1"/>
          <p:nvPr/>
        </p:nvSpPr>
        <p:spPr>
          <a:xfrm>
            <a:off x="3995928" y="2544318"/>
            <a:ext cx="7400239" cy="1117854"/>
          </a:xfrm>
          <a:prstGeom prst="rect">
            <a:avLst/>
          </a:prstGeom>
          <a:noFill/>
          <a:ln/>
        </p:spPr>
        <p:txBody>
          <a:bodyPr wrap="square" lIns="0" tIns="0" rIns="0" bIns="0" rtlCol="0" anchor="ctr"/>
          <a:lstStyle/>
          <a:p>
            <a:pPr indent="0" marL="0">
              <a:buNone/>
            </a:pPr>
            <a:r>
              <a:rPr lang="en-US" sz="1250" b="1" dirty="0">
                <a:solidFill>
                  <a:srgbClr val="241C3B"/>
                </a:solidFill>
                <a:latin typeface="Calibri" pitchFamily="34" charset="0"/>
                <a:ea typeface="Calibri" pitchFamily="34" charset="-122"/>
                <a:cs typeface="Calibri" pitchFamily="34" charset="-120"/>
              </a:rPr>
              <a:t>Власні middleware  —  </a:t>
            </a:r>
            <a:pPr indent="0" marL="0">
              <a:buNone/>
            </a:pPr>
            <a:r>
              <a:rPr lang="en-US" sz="1250" dirty="0">
                <a:solidFill>
                  <a:srgbClr val="6E6785"/>
                </a:solidFill>
                <a:latin typeface="Calibri" pitchFamily="34" charset="0"/>
                <a:ea typeface="Calibri" pitchFamily="34" charset="-122"/>
                <a:cs typeface="Calibri" pitchFamily="34" charset="-120"/>
              </a:rPr>
              <a:t>конвенція vs IMiddleware, HttpContext.Items, патерн UseXxx()</a:t>
            </a:r>
            <a:endParaRPr lang="en-US" sz="1250" dirty="0"/>
          </a:p>
        </p:txBody>
      </p:sp>
      <p:sp>
        <p:nvSpPr>
          <p:cNvPr id="12" name="Shape 9"/>
          <p:cNvSpPr/>
          <p:nvPr/>
        </p:nvSpPr>
        <p:spPr>
          <a:xfrm>
            <a:off x="566928" y="3845052"/>
            <a:ext cx="11057839" cy="1117854"/>
          </a:xfrm>
          <a:prstGeom prst="roundRect">
            <a:avLst>
              <a:gd name="adj" fmla="val 5726"/>
            </a:avLst>
          </a:prstGeom>
          <a:solidFill>
            <a:srgbClr val="FFFFFF"/>
          </a:solidFill>
          <a:ln w="12700">
            <a:solidFill>
              <a:srgbClr val="D9CEF5"/>
            </a:solidFill>
            <a:prstDash val="solid"/>
          </a:ln>
        </p:spPr>
      </p:sp>
      <p:sp>
        <p:nvSpPr>
          <p:cNvPr id="13" name="Shape 10"/>
          <p:cNvSpPr/>
          <p:nvPr/>
        </p:nvSpPr>
        <p:spPr>
          <a:xfrm>
            <a:off x="795528" y="4230243"/>
            <a:ext cx="2926080" cy="347472"/>
          </a:xfrm>
          <a:prstGeom prst="roundRect">
            <a:avLst>
              <a:gd name="adj" fmla="val 13158"/>
            </a:avLst>
          </a:prstGeom>
          <a:solidFill>
            <a:srgbClr val="E7DFFA"/>
          </a:solidFill>
          <a:ln/>
        </p:spPr>
      </p:sp>
      <p:sp>
        <p:nvSpPr>
          <p:cNvPr id="14" name="Text 11"/>
          <p:cNvSpPr txBox="1"/>
          <p:nvPr/>
        </p:nvSpPr>
        <p:spPr>
          <a:xfrm>
            <a:off x="795528" y="4230243"/>
            <a:ext cx="2926080" cy="347472"/>
          </a:xfrm>
          <a:prstGeom prst="rect">
            <a:avLst/>
          </a:prstGeom>
          <a:noFill/>
          <a:ln/>
        </p:spPr>
        <p:txBody>
          <a:bodyPr wrap="square" lIns="0" tIns="0" rIns="0" bIns="0" rtlCol="0" anchor="ctr"/>
          <a:lstStyle/>
          <a:p>
            <a:pPr algn="ctr" indent="0" marL="0">
              <a:buNone/>
            </a:pPr>
            <a:r>
              <a:rPr lang="en-US" sz="1100" b="1" dirty="0">
                <a:solidFill>
                  <a:srgbClr val="512BD4"/>
                </a:solidFill>
                <a:latin typeface="Courier New" pitchFamily="34" charset="0"/>
                <a:ea typeface="Courier New" pitchFamily="34" charset="-122"/>
                <a:cs typeface="Courier New" pitchFamily="34" charset="-120"/>
              </a:rPr>
              <a:t>05.Pipeline.CrossCutting</a:t>
            </a:r>
            <a:endParaRPr lang="en-US" sz="1100" dirty="0"/>
          </a:p>
        </p:txBody>
      </p:sp>
      <p:sp>
        <p:nvSpPr>
          <p:cNvPr id="15" name="Text 12"/>
          <p:cNvSpPr txBox="1"/>
          <p:nvPr/>
        </p:nvSpPr>
        <p:spPr>
          <a:xfrm>
            <a:off x="3995928" y="3845052"/>
            <a:ext cx="7400239" cy="1117854"/>
          </a:xfrm>
          <a:prstGeom prst="rect">
            <a:avLst/>
          </a:prstGeom>
          <a:noFill/>
          <a:ln/>
        </p:spPr>
        <p:txBody>
          <a:bodyPr wrap="square" lIns="0" tIns="0" rIns="0" bIns="0" rtlCol="0" anchor="ctr"/>
          <a:lstStyle/>
          <a:p>
            <a:pPr indent="0" marL="0">
              <a:buNone/>
            </a:pPr>
            <a:r>
              <a:rPr lang="en-US" sz="1250" b="1" dirty="0">
                <a:solidFill>
                  <a:srgbClr val="241C3B"/>
                </a:solidFill>
                <a:latin typeface="Calibri" pitchFamily="34" charset="0"/>
                <a:ea typeface="Calibri" pitchFamily="34" charset="-122"/>
                <a:cs typeface="Calibri" pitchFamily="34" charset="-120"/>
              </a:rPr>
              <a:t>Наскрізні задачі  —  </a:t>
            </a:r>
            <a:pPr indent="0" marL="0">
              <a:buNone/>
            </a:pPr>
            <a:r>
              <a:rPr lang="en-US" sz="1250" dirty="0">
                <a:solidFill>
                  <a:srgbClr val="6E6785"/>
                </a:solidFill>
                <a:latin typeface="Calibri" pitchFamily="34" charset="0"/>
                <a:ea typeface="Calibri" pitchFamily="34" charset="-122"/>
                <a:cs typeface="Calibri" pitchFamily="34" charset="-120"/>
              </a:rPr>
              <a:t>ProblemDetails, StatusCodePages, StaticFiles, CORS — і ПОРЯДОК</a:t>
            </a:r>
            <a:endParaRPr lang="en-US" sz="1250" dirty="0"/>
          </a:p>
        </p:txBody>
      </p:sp>
      <p:sp>
        <p:nvSpPr>
          <p:cNvPr id="16" name="Shape 13"/>
          <p:cNvSpPr/>
          <p:nvPr/>
        </p:nvSpPr>
        <p:spPr>
          <a:xfrm>
            <a:off x="566928" y="5145786"/>
            <a:ext cx="11057839" cy="1117854"/>
          </a:xfrm>
          <a:prstGeom prst="roundRect">
            <a:avLst>
              <a:gd name="adj" fmla="val 5726"/>
            </a:avLst>
          </a:prstGeom>
          <a:solidFill>
            <a:srgbClr val="FFFFFF"/>
          </a:solidFill>
          <a:ln w="12700">
            <a:solidFill>
              <a:srgbClr val="D9CEF5"/>
            </a:solidFill>
            <a:prstDash val="solid"/>
          </a:ln>
        </p:spPr>
      </p:sp>
      <p:sp>
        <p:nvSpPr>
          <p:cNvPr id="17" name="Shape 14"/>
          <p:cNvSpPr/>
          <p:nvPr/>
        </p:nvSpPr>
        <p:spPr>
          <a:xfrm>
            <a:off x="795528" y="5530977"/>
            <a:ext cx="2926080" cy="347472"/>
          </a:xfrm>
          <a:prstGeom prst="roundRect">
            <a:avLst>
              <a:gd name="adj" fmla="val 13158"/>
            </a:avLst>
          </a:prstGeom>
          <a:solidFill>
            <a:srgbClr val="E7DFFA"/>
          </a:solidFill>
          <a:ln/>
        </p:spPr>
      </p:sp>
      <p:sp>
        <p:nvSpPr>
          <p:cNvPr id="18" name="Text 15"/>
          <p:cNvSpPr txBox="1"/>
          <p:nvPr/>
        </p:nvSpPr>
        <p:spPr>
          <a:xfrm>
            <a:off x="795528" y="5530977"/>
            <a:ext cx="2926080" cy="347472"/>
          </a:xfrm>
          <a:prstGeom prst="rect">
            <a:avLst/>
          </a:prstGeom>
          <a:noFill/>
          <a:ln/>
        </p:spPr>
        <p:txBody>
          <a:bodyPr wrap="square" lIns="0" tIns="0" rIns="0" bIns="0" rtlCol="0" anchor="ctr"/>
          <a:lstStyle/>
          <a:p>
            <a:pPr algn="ctr" indent="0" marL="0">
              <a:buNone/>
            </a:pPr>
            <a:r>
              <a:rPr lang="en-US" sz="1100" b="1" dirty="0">
                <a:solidFill>
                  <a:srgbClr val="512BD4"/>
                </a:solidFill>
                <a:latin typeface="Courier New" pitchFamily="34" charset="0"/>
                <a:ea typeface="Courier New" pitchFamily="34" charset="-122"/>
                <a:cs typeface="Courier New" pitchFamily="34" charset="-120"/>
              </a:rPr>
              <a:t>06.Pipeline.Branching</a:t>
            </a:r>
            <a:endParaRPr lang="en-US" sz="1100" dirty="0"/>
          </a:p>
        </p:txBody>
      </p:sp>
      <p:sp>
        <p:nvSpPr>
          <p:cNvPr id="19" name="Text 16"/>
          <p:cNvSpPr txBox="1"/>
          <p:nvPr/>
        </p:nvSpPr>
        <p:spPr>
          <a:xfrm>
            <a:off x="3995928" y="5145786"/>
            <a:ext cx="7400239" cy="1117854"/>
          </a:xfrm>
          <a:prstGeom prst="rect">
            <a:avLst/>
          </a:prstGeom>
          <a:noFill/>
          <a:ln/>
        </p:spPr>
        <p:txBody>
          <a:bodyPr wrap="square" lIns="0" tIns="0" rIns="0" bIns="0" rtlCol="0" anchor="ctr"/>
          <a:lstStyle/>
          <a:p>
            <a:pPr indent="0" marL="0">
              <a:buNone/>
            </a:pPr>
            <a:r>
              <a:rPr lang="en-US" sz="1250" b="1" dirty="0">
                <a:solidFill>
                  <a:srgbClr val="241C3B"/>
                </a:solidFill>
                <a:latin typeface="Calibri" pitchFamily="34" charset="0"/>
                <a:ea typeface="Calibri" pitchFamily="34" charset="-122"/>
                <a:cs typeface="Calibri" pitchFamily="34" charset="-120"/>
              </a:rPr>
              <a:t>Розгалуження  —  </a:t>
            </a:r>
            <a:pPr indent="0" marL="0">
              <a:buNone/>
            </a:pPr>
            <a:r>
              <a:rPr lang="en-US" sz="1250" dirty="0">
                <a:solidFill>
                  <a:srgbClr val="6E6785"/>
                </a:solidFill>
                <a:latin typeface="Calibri" pitchFamily="34" charset="0"/>
                <a:ea typeface="Calibri" pitchFamily="34" charset="-122"/>
                <a:cs typeface="Calibri" pitchFamily="34" charset="-120"/>
              </a:rPr>
              <a:t>Map / MapWhen / UseWhen, PathBase, повернення в основний конвеєр</a:t>
            </a:r>
            <a:endParaRPr lang="en-US" sz="1250" dirty="0"/>
          </a:p>
        </p:txBody>
      </p:sp>
      <p:sp>
        <p:nvSpPr>
          <p:cNvPr id="20" name="Text 17"/>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A1333"/>
        </a:solidFill>
      </p:bgPr>
    </p:bg>
    <p:spTree>
      <p:nvGrpSpPr>
        <p:cNvPr id="1" name=""/>
        <p:cNvGrpSpPr/>
        <p:nvPr/>
      </p:nvGrpSpPr>
      <p:grpSpPr>
        <a:xfrm>
          <a:off x="0" y="0"/>
          <a:ext cx="0" cy="0"/>
          <a:chOff x="0" y="0"/>
          <a:chExt cx="0" cy="0"/>
        </a:xfrm>
      </p:grpSpPr>
      <p:sp>
        <p:nvSpPr>
          <p:cNvPr id="2" name="Text 0"/>
          <p:cNvSpPr txBox="1"/>
          <p:nvPr/>
        </p:nvSpPr>
        <p:spPr>
          <a:xfrm>
            <a:off x="7680960" y="182880"/>
            <a:ext cx="4572000" cy="6400800"/>
          </a:xfrm>
          <a:prstGeom prst="rect">
            <a:avLst/>
          </a:prstGeom>
          <a:noFill/>
          <a:ln/>
        </p:spPr>
        <p:txBody>
          <a:bodyPr wrap="square" lIns="0" tIns="0" rIns="0" bIns="0" rtlCol="0" anchor="ctr"/>
          <a:lstStyle/>
          <a:p>
            <a:pPr algn="r" indent="0" marL="0">
              <a:buNone/>
            </a:pPr>
            <a:r>
              <a:rPr lang="en-US" sz="32000" b="1" dirty="0">
                <a:solidFill>
                  <a:srgbClr val="2A1E52"/>
                </a:solidFill>
                <a:latin typeface="Cambria" pitchFamily="34" charset="0"/>
                <a:ea typeface="Cambria" pitchFamily="34" charset="-122"/>
                <a:cs typeface="Cambria" pitchFamily="34" charset="-120"/>
              </a:rPr>
              <a:t>3</a:t>
            </a:r>
            <a:endParaRPr lang="en-US" sz="32000" dirty="0"/>
          </a:p>
        </p:txBody>
      </p:sp>
      <p:sp>
        <p:nvSpPr>
          <p:cNvPr id="3" name="Text 1"/>
          <p:cNvSpPr txBox="1"/>
          <p:nvPr/>
        </p:nvSpPr>
        <p:spPr>
          <a:xfrm>
            <a:off x="914400" y="2286000"/>
            <a:ext cx="8229600" cy="365760"/>
          </a:xfrm>
          <a:prstGeom prst="rect">
            <a:avLst/>
          </a:prstGeom>
          <a:noFill/>
          <a:ln/>
        </p:spPr>
        <p:txBody>
          <a:bodyPr wrap="square" lIns="0" tIns="0" rIns="0" bIns="0" rtlCol="0" anchor="ctr"/>
          <a:lstStyle/>
          <a:p>
            <a:pPr indent="0" marL="0">
              <a:buNone/>
            </a:pPr>
            <a:r>
              <a:rPr lang="en-US" sz="1500" b="1" spc="300" kern="0" dirty="0">
                <a:solidFill>
                  <a:srgbClr val="0E9C8E"/>
                </a:solidFill>
                <a:latin typeface="Calibri" pitchFamily="34" charset="0"/>
                <a:ea typeface="Calibri" pitchFamily="34" charset="-122"/>
                <a:cs typeface="Calibri" pitchFamily="34" charset="-120"/>
              </a:rPr>
              <a:t>МОДУЛЬ 3</a:t>
            </a:r>
            <a:endParaRPr lang="en-US" sz="1500" dirty="0"/>
          </a:p>
        </p:txBody>
      </p:sp>
      <p:sp>
        <p:nvSpPr>
          <p:cNvPr id="4" name="Text 2"/>
          <p:cNvSpPr txBox="1"/>
          <p:nvPr/>
        </p:nvSpPr>
        <p:spPr>
          <a:xfrm>
            <a:off x="914400" y="2743200"/>
            <a:ext cx="7772400" cy="15544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Dependency Injection і конфігурація</a:t>
            </a:r>
            <a:endParaRPr lang="en-US" sz="4000" dirty="0"/>
          </a:p>
        </p:txBody>
      </p:sp>
      <p:sp>
        <p:nvSpPr>
          <p:cNvPr id="5" name="Text 3"/>
          <p:cNvSpPr txBox="1"/>
          <p:nvPr/>
        </p:nvSpPr>
        <p:spPr>
          <a:xfrm>
            <a:off x="960120" y="4389120"/>
            <a:ext cx="6949440" cy="1828800"/>
          </a:xfrm>
          <a:prstGeom prst="rect">
            <a:avLst/>
          </a:prstGeom>
          <a:noFill/>
          <a:ln/>
        </p:spPr>
        <p:txBody>
          <a:bodyPr wrap="square" lIns="0" tIns="0" rIns="0" bIns="0" rtlCol="0" anchor="ctr"/>
          <a:lstStyle/>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IoC та DI: навіщо</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Transient / Scoped / Singleton</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captive dependency</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патерн Options</a:t>
            </a:r>
            <a:endParaRPr lang="en-US" sz="1400" dirty="0"/>
          </a:p>
        </p:txBody>
      </p:sp>
      <p:sp>
        <p:nvSpPr>
          <p:cNvPr id="6" name="Text 4"/>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9E93C4"/>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Inversion of Control та DI</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Dependency Injection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клас не створює свої залежності сам — він оголошує їх у параметрах конструктора, а спеціальний контейнер створює й «вручає» потрібні екземпляри при побудові об'єкта.</a:t>
            </a:r>
            <a:endParaRPr lang="en-US" sz="1450" dirty="0"/>
          </a:p>
        </p:txBody>
      </p:sp>
      <p:sp>
        <p:nvSpPr>
          <p:cNvPr id="6" name="Shape 3"/>
          <p:cNvSpPr/>
          <p:nvPr/>
        </p:nvSpPr>
        <p:spPr>
          <a:xfrm>
            <a:off x="566928" y="2231136"/>
            <a:ext cx="11057839" cy="793242"/>
          </a:xfrm>
          <a:prstGeom prst="roundRect">
            <a:avLst>
              <a:gd name="adj" fmla="val 5764"/>
            </a:avLst>
          </a:prstGeom>
          <a:solidFill>
            <a:srgbClr val="F3EFFD"/>
          </a:solidFill>
          <a:ln w="9525">
            <a:solidFill>
              <a:srgbClr val="D9CEF5"/>
            </a:solidFill>
            <a:prstDash val="solid"/>
          </a:ln>
        </p:spPr>
      </p:sp>
      <p:sp>
        <p:nvSpPr>
          <p:cNvPr id="7" name="Shape 4"/>
          <p:cNvSpPr/>
          <p:nvPr/>
        </p:nvSpPr>
        <p:spPr>
          <a:xfrm>
            <a:off x="768096" y="2454021"/>
            <a:ext cx="347472" cy="347472"/>
          </a:xfrm>
          <a:prstGeom prst="ellipse">
            <a:avLst/>
          </a:prstGeom>
          <a:solidFill>
            <a:srgbClr val="512BD4"/>
          </a:solidFill>
          <a:ln/>
        </p:spPr>
      </p:sp>
      <p:sp>
        <p:nvSpPr>
          <p:cNvPr id="8" name="Text 5"/>
          <p:cNvSpPr txBox="1"/>
          <p:nvPr/>
        </p:nvSpPr>
        <p:spPr>
          <a:xfrm>
            <a:off x="768096" y="2454021"/>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1298448" y="2231136"/>
            <a:ext cx="10097719" cy="793242"/>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Проблема   </a:t>
            </a:r>
            <a:pPr indent="0" marL="0">
              <a:buNone/>
            </a:pPr>
            <a:r>
              <a:rPr lang="en-US" sz="1250" dirty="0">
                <a:solidFill>
                  <a:srgbClr val="6E6785"/>
                </a:solidFill>
                <a:latin typeface="Calibri" pitchFamily="34" charset="0"/>
                <a:ea typeface="Calibri" pitchFamily="34" charset="-122"/>
                <a:cs typeface="Calibri" pitchFamily="34" charset="-120"/>
              </a:rPr>
              <a:t>new SqlRepository() усередині класу — жорстка зв'язність, неможливо ані підмінити реалізацію, ані протестувати клас</a:t>
            </a:r>
            <a:endParaRPr lang="en-US" sz="1500" dirty="0"/>
          </a:p>
        </p:txBody>
      </p:sp>
      <p:sp>
        <p:nvSpPr>
          <p:cNvPr id="10" name="Shape 7"/>
          <p:cNvSpPr/>
          <p:nvPr/>
        </p:nvSpPr>
        <p:spPr>
          <a:xfrm>
            <a:off x="566928" y="3143250"/>
            <a:ext cx="11057839" cy="793242"/>
          </a:xfrm>
          <a:prstGeom prst="roundRect">
            <a:avLst>
              <a:gd name="adj" fmla="val 5764"/>
            </a:avLst>
          </a:prstGeom>
          <a:solidFill>
            <a:srgbClr val="F3EFFD"/>
          </a:solidFill>
          <a:ln w="9525">
            <a:solidFill>
              <a:srgbClr val="D9CEF5"/>
            </a:solidFill>
            <a:prstDash val="solid"/>
          </a:ln>
        </p:spPr>
      </p:sp>
      <p:sp>
        <p:nvSpPr>
          <p:cNvPr id="11" name="Shape 8"/>
          <p:cNvSpPr/>
          <p:nvPr/>
        </p:nvSpPr>
        <p:spPr>
          <a:xfrm>
            <a:off x="768096" y="3366135"/>
            <a:ext cx="347472" cy="347472"/>
          </a:xfrm>
          <a:prstGeom prst="ellipse">
            <a:avLst/>
          </a:prstGeom>
          <a:solidFill>
            <a:srgbClr val="512BD4"/>
          </a:solidFill>
          <a:ln/>
        </p:spPr>
      </p:sp>
      <p:sp>
        <p:nvSpPr>
          <p:cNvPr id="12" name="Text 9"/>
          <p:cNvSpPr txBox="1"/>
          <p:nvPr/>
        </p:nvSpPr>
        <p:spPr>
          <a:xfrm>
            <a:off x="768096" y="3366135"/>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298448" y="3143250"/>
            <a:ext cx="10097719" cy="793242"/>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Рішення   </a:t>
            </a:r>
            <a:pPr indent="0" marL="0">
              <a:buNone/>
            </a:pPr>
            <a:r>
              <a:rPr lang="en-US" sz="1250" dirty="0">
                <a:solidFill>
                  <a:srgbClr val="6E6785"/>
                </a:solidFill>
                <a:latin typeface="Calibri" pitchFamily="34" charset="0"/>
                <a:ea typeface="Calibri" pitchFamily="34" charset="-122"/>
                <a:cs typeface="Calibri" pitchFamily="34" charset="-120"/>
              </a:rPr>
              <a:t>клас приймає ICatalog у конструкторі; контейнер знаходить зареєстровану реалізацію й підставляє її</a:t>
            </a:r>
            <a:endParaRPr lang="en-US" sz="1500" dirty="0"/>
          </a:p>
        </p:txBody>
      </p:sp>
      <p:sp>
        <p:nvSpPr>
          <p:cNvPr id="14" name="Shape 11"/>
          <p:cNvSpPr/>
          <p:nvPr/>
        </p:nvSpPr>
        <p:spPr>
          <a:xfrm>
            <a:off x="566928" y="4055364"/>
            <a:ext cx="11057839" cy="793242"/>
          </a:xfrm>
          <a:prstGeom prst="roundRect">
            <a:avLst>
              <a:gd name="adj" fmla="val 5764"/>
            </a:avLst>
          </a:prstGeom>
          <a:solidFill>
            <a:srgbClr val="F3EFFD"/>
          </a:solidFill>
          <a:ln w="9525">
            <a:solidFill>
              <a:srgbClr val="D9CEF5"/>
            </a:solidFill>
            <a:prstDash val="solid"/>
          </a:ln>
        </p:spPr>
      </p:sp>
      <p:sp>
        <p:nvSpPr>
          <p:cNvPr id="15" name="Shape 12"/>
          <p:cNvSpPr/>
          <p:nvPr/>
        </p:nvSpPr>
        <p:spPr>
          <a:xfrm>
            <a:off x="768096" y="4278249"/>
            <a:ext cx="347472" cy="347472"/>
          </a:xfrm>
          <a:prstGeom prst="ellipse">
            <a:avLst/>
          </a:prstGeom>
          <a:solidFill>
            <a:srgbClr val="512BD4"/>
          </a:solidFill>
          <a:ln/>
        </p:spPr>
      </p:sp>
      <p:sp>
        <p:nvSpPr>
          <p:cNvPr id="16" name="Text 13"/>
          <p:cNvSpPr txBox="1"/>
          <p:nvPr/>
        </p:nvSpPr>
        <p:spPr>
          <a:xfrm>
            <a:off x="768096" y="4278249"/>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txBox="1"/>
          <p:nvPr/>
        </p:nvSpPr>
        <p:spPr>
          <a:xfrm>
            <a:off x="1298448" y="4055364"/>
            <a:ext cx="10097719" cy="793242"/>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Dependency Inversion   </a:t>
            </a:r>
            <a:pPr indent="0" marL="0">
              <a:buNone/>
            </a:pPr>
            <a:r>
              <a:rPr lang="en-US" sz="1250" dirty="0">
                <a:solidFill>
                  <a:srgbClr val="6E6785"/>
                </a:solidFill>
                <a:latin typeface="Calibri" pitchFamily="34" charset="0"/>
                <a:ea typeface="Calibri" pitchFamily="34" charset="-122"/>
                <a:cs typeface="Calibri" pitchFamily="34" charset="-120"/>
              </a:rPr>
              <a:t>залежність від абстракції (інтерфейсу), а не від конкретного класу</a:t>
            </a:r>
            <a:endParaRPr lang="en-US" sz="1500" dirty="0"/>
          </a:p>
        </p:txBody>
      </p:sp>
      <p:sp>
        <p:nvSpPr>
          <p:cNvPr id="18" name="Shape 15"/>
          <p:cNvSpPr/>
          <p:nvPr/>
        </p:nvSpPr>
        <p:spPr>
          <a:xfrm>
            <a:off x="566928" y="4967478"/>
            <a:ext cx="11057839" cy="793242"/>
          </a:xfrm>
          <a:prstGeom prst="roundRect">
            <a:avLst>
              <a:gd name="adj" fmla="val 5764"/>
            </a:avLst>
          </a:prstGeom>
          <a:solidFill>
            <a:srgbClr val="F3EFFD"/>
          </a:solidFill>
          <a:ln w="9525">
            <a:solidFill>
              <a:srgbClr val="D9CEF5"/>
            </a:solidFill>
            <a:prstDash val="solid"/>
          </a:ln>
        </p:spPr>
      </p:sp>
      <p:sp>
        <p:nvSpPr>
          <p:cNvPr id="19" name="Shape 16"/>
          <p:cNvSpPr/>
          <p:nvPr/>
        </p:nvSpPr>
        <p:spPr>
          <a:xfrm>
            <a:off x="768096" y="5190363"/>
            <a:ext cx="347472" cy="347472"/>
          </a:xfrm>
          <a:prstGeom prst="ellipse">
            <a:avLst/>
          </a:prstGeom>
          <a:solidFill>
            <a:srgbClr val="512BD4"/>
          </a:solidFill>
          <a:ln/>
        </p:spPr>
      </p:sp>
      <p:sp>
        <p:nvSpPr>
          <p:cNvPr id="20" name="Text 17"/>
          <p:cNvSpPr txBox="1"/>
          <p:nvPr/>
        </p:nvSpPr>
        <p:spPr>
          <a:xfrm>
            <a:off x="768096" y="5190363"/>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txBox="1"/>
          <p:nvPr/>
        </p:nvSpPr>
        <p:spPr>
          <a:xfrm>
            <a:off x="1298448" y="4967478"/>
            <a:ext cx="10097719" cy="793242"/>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Вигоди   </a:t>
            </a:r>
            <a:pPr indent="0" marL="0">
              <a:buNone/>
            </a:pPr>
            <a:r>
              <a:rPr lang="en-US" sz="1250" dirty="0">
                <a:solidFill>
                  <a:srgbClr val="6E6785"/>
                </a:solidFill>
                <a:latin typeface="Calibri" pitchFamily="34" charset="0"/>
                <a:ea typeface="Calibri" pitchFamily="34" charset="-122"/>
                <a:cs typeface="Calibri" pitchFamily="34" charset="-120"/>
              </a:rPr>
              <a:t>тестованість, легка заміна реалізації, єдине місце, де налаштовується час життя об'єктів</a:t>
            </a:r>
            <a:endParaRPr lang="en-US" sz="1500" dirty="0"/>
          </a:p>
        </p:txBody>
      </p:sp>
      <p:sp>
        <p:nvSpPr>
          <p:cNvPr id="22" name="Shape 19"/>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23" name="Text 20"/>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i="1" dirty="0">
                <a:solidFill>
                  <a:srgbClr val="241C3B"/>
                </a:solidFill>
                <a:latin typeface="Calibri" pitchFamily="34" charset="0"/>
                <a:ea typeface="Calibri" pitchFamily="34" charset="-122"/>
                <a:cs typeface="Calibri" pitchFamily="34" charset="-120"/>
              </a:rPr>
              <a:t>Увесь ASP.NET Core побудований на DI: контролери, middleware, Options, логери — усе резолвиться з контейнера.</a:t>
            </a:r>
            <a:endParaRPr lang="en-US" sz="1200" dirty="0"/>
          </a:p>
        </p:txBody>
      </p:sp>
      <p:sp>
        <p:nvSpPr>
          <p:cNvPr id="24" name="Text 21"/>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Реєстрація сервісів</a:t>
            </a:r>
            <a:endParaRPr lang="en-US" sz="3000" dirty="0"/>
          </a:p>
        </p:txBody>
      </p:sp>
      <p:sp>
        <p:nvSpPr>
          <p:cNvPr id="4" name="Text 1"/>
          <p:cNvSpPr txBox="1"/>
          <p:nvPr/>
        </p:nvSpPr>
        <p:spPr>
          <a:xfrm>
            <a:off x="566928" y="1060704"/>
            <a:ext cx="11057839" cy="365760"/>
          </a:xfrm>
          <a:prstGeom prst="rect">
            <a:avLst/>
          </a:prstGeom>
          <a:noFill/>
          <a:ln/>
        </p:spPr>
        <p:txBody>
          <a:bodyPr wrap="square" lIns="0" tIns="0" rIns="0" bIns="0" rtlCol="0" anchor="ctr"/>
          <a:lstStyle/>
          <a:p>
            <a:pPr indent="0" marL="0">
              <a:buNone/>
            </a:pPr>
            <a:r>
              <a:rPr lang="en-US" sz="1400" dirty="0">
                <a:solidFill>
                  <a:srgbClr val="6E6785"/>
                </a:solidFill>
                <a:latin typeface="Calibri" pitchFamily="34" charset="0"/>
                <a:ea typeface="Calibri" pitchFamily="34" charset="-122"/>
                <a:cs typeface="Calibri" pitchFamily="34" charset="-120"/>
              </a:rPr>
              <a:t>IServiceCollection наповнюють до Build(); патерн Add{Feature}</a:t>
            </a:r>
            <a:endParaRPr lang="en-US" sz="1400" dirty="0"/>
          </a:p>
        </p:txBody>
      </p:sp>
      <p:sp>
        <p:nvSpPr>
          <p:cNvPr id="5" name="Shape 2"/>
          <p:cNvSpPr/>
          <p:nvPr/>
        </p:nvSpPr>
        <p:spPr>
          <a:xfrm>
            <a:off x="566928" y="2267712"/>
            <a:ext cx="6949440" cy="3328416"/>
          </a:xfrm>
          <a:prstGeom prst="roundRect">
            <a:avLst>
              <a:gd name="adj" fmla="val 1648"/>
            </a:avLst>
          </a:prstGeom>
          <a:solidFill>
            <a:srgbClr val="201A38"/>
          </a:solidFill>
          <a:ln/>
        </p:spPr>
      </p:sp>
      <p:sp>
        <p:nvSpPr>
          <p:cNvPr id="6" name="Text 3"/>
          <p:cNvSpPr txBox="1"/>
          <p:nvPr/>
        </p:nvSpPr>
        <p:spPr>
          <a:xfrm>
            <a:off x="786384" y="2322576"/>
            <a:ext cx="6510528" cy="3218688"/>
          </a:xfrm>
          <a:prstGeom prst="rect">
            <a:avLst/>
          </a:prstGeom>
          <a:noFill/>
          <a:ln/>
        </p:spPr>
        <p:txBody>
          <a:bodyPr wrap="square" lIns="0" tIns="0" rIns="0" bIns="0" rtlCol="0" anchor="ctr"/>
          <a:lstStyle/>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builder.Services.AddSingleton&lt;ICatalog, InMemoryCatalog&gt;();</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builder.Services.AddScoped&lt;IOrderService, OrderService&gt;();</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builder.Services.AddTransient&lt;IEmailSender, SmtpSender&gt;();</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 </a:t>
            </a:r>
            <a:endParaRPr lang="en-US" sz="1250" dirty="0"/>
          </a:p>
          <a:p>
            <a:pPr indent="0" marL="0">
              <a:lnSpc>
                <a:spcPct val="122000"/>
              </a:lnSpc>
              <a:buNone/>
            </a:pPr>
            <a:r>
              <a:rPr lang="en-US" sz="1250" dirty="0">
                <a:solidFill>
                  <a:srgbClr val="9E93C4"/>
                </a:solidFill>
                <a:latin typeface="Courier New" pitchFamily="34" charset="0"/>
                <a:ea typeface="Courier New" pitchFamily="34" charset="-122"/>
                <a:cs typeface="Courier New" pitchFamily="34" charset="-120"/>
              </a:rPr>
              <a:t>// бібліотека інкапсулює свої реєстрації в один метод:</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public static IServiceCollection AddCatalog(this IServiceCollection s)</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    s.AddSingleton&lt;ICatalog, InMemoryCatalog&gt;();</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    return s;</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a:t>
            </a:r>
            <a:endParaRPr lang="en-US" sz="1250" dirty="0"/>
          </a:p>
          <a:p>
            <a:pPr indent="0" marL="0">
              <a:lnSpc>
                <a:spcPct val="122000"/>
              </a:lnSpc>
              <a:buNone/>
            </a:pPr>
            <a:r>
              <a:rPr lang="en-US" sz="1250" dirty="0">
                <a:solidFill>
                  <a:srgbClr val="9E93C4"/>
                </a:solidFill>
                <a:latin typeface="Courier New" pitchFamily="34" charset="0"/>
                <a:ea typeface="Courier New" pitchFamily="34" charset="-122"/>
                <a:cs typeface="Courier New" pitchFamily="34" charset="-120"/>
              </a:rPr>
              <a:t>// builder.Services.AddCatalog();</a:t>
            </a:r>
            <a:endParaRPr lang="en-US" sz="1250" dirty="0"/>
          </a:p>
        </p:txBody>
      </p:sp>
      <p:sp>
        <p:nvSpPr>
          <p:cNvPr id="7" name="Text 4"/>
          <p:cNvSpPr txBox="1"/>
          <p:nvPr/>
        </p:nvSpPr>
        <p:spPr>
          <a:xfrm>
            <a:off x="7882128" y="2267712"/>
            <a:ext cx="3742639" cy="3328416"/>
          </a:xfrm>
          <a:prstGeom prst="rect">
            <a:avLst/>
          </a:prstGeom>
          <a:noFill/>
          <a:ln/>
        </p:spPr>
        <p:txBody>
          <a:bodyPr wrap="square" lIns="0" tIns="0" rIns="0" bIns="0" rtlCol="0" anchor="ctr"/>
          <a:lstStyle/>
          <a:p>
            <a:pPr marL="127000" indent="-127000">
              <a:spcAft>
                <a:spcPts val="1000"/>
              </a:spcAft>
              <a:buSzPct val="100000"/>
              <a:buChar char="•"/>
            </a:pPr>
            <a:r>
              <a:rPr lang="en-US" sz="1300" dirty="0">
                <a:solidFill>
                  <a:srgbClr val="241C3B"/>
                </a:solidFill>
                <a:latin typeface="Calibri" pitchFamily="34" charset="0"/>
                <a:ea typeface="Calibri" pitchFamily="34" charset="-122"/>
                <a:cs typeface="Calibri" pitchFamily="34" charset="-120"/>
              </a:rPr>
              <a:t>AddControllers(), AddAuthentication(), AddOpenApi() — той самий патерн</a:t>
            </a:r>
            <a:endParaRPr lang="en-US" sz="1300" dirty="0"/>
          </a:p>
          <a:p>
            <a:pPr marL="127000" indent="-127000">
              <a:spcAft>
                <a:spcPts val="1000"/>
              </a:spcAft>
              <a:buSzPct val="100000"/>
              <a:buChar char="•"/>
            </a:pPr>
            <a:r>
              <a:rPr lang="en-US" sz="1300" dirty="0">
                <a:solidFill>
                  <a:srgbClr val="241C3B"/>
                </a:solidFill>
                <a:latin typeface="Calibri" pitchFamily="34" charset="0"/>
                <a:ea typeface="Calibri" pitchFamily="34" charset="-122"/>
                <a:cs typeface="Calibri" pitchFamily="34" charset="-120"/>
              </a:rPr>
              <a:t>Резолв: у параметри конструктора / хендлера</a:t>
            </a:r>
            <a:endParaRPr lang="en-US" sz="1300" dirty="0"/>
          </a:p>
          <a:p>
            <a:pPr marL="127000" indent="-127000">
              <a:spcAft>
                <a:spcPts val="1000"/>
              </a:spcAft>
              <a:buSzPct val="100000"/>
              <a:buChar char="•"/>
            </a:pPr>
            <a:r>
              <a:rPr lang="en-US" sz="1300" dirty="0">
                <a:solidFill>
                  <a:srgbClr val="241C3B"/>
                </a:solidFill>
                <a:latin typeface="Calibri" pitchFamily="34" charset="0"/>
                <a:ea typeface="Calibri" pitchFamily="34" charset="-122"/>
                <a:cs typeface="Calibri" pitchFamily="34" charset="-120"/>
              </a:rPr>
              <a:t>[FromServices] у Minimal API зазвичай не потрібен</a:t>
            </a:r>
            <a:endParaRPr lang="en-US" sz="1300" dirty="0"/>
          </a:p>
        </p:txBody>
      </p:sp>
      <p:sp>
        <p:nvSpPr>
          <p:cNvPr id="8" name="Text 5"/>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Час життя сервісів</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Час життя (lifetime)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правило, за яким контейнер вирішує, створити новий екземпляр сервісу чи віддати наявний. Transient — новий на кожне впровадження; Scoped — один на HTTP-запит; Singleton — один на весь застосунок.</a:t>
            </a:r>
            <a:endParaRPr lang="en-US" sz="1450" dirty="0"/>
          </a:p>
        </p:txBody>
      </p:sp>
      <p:pic>
        <p:nvPicPr>
          <p:cNvPr id="6" name="Image 0" descr="C:\Users\Yurii\AppData\Local\Temp\claude\C--Users-Yurii-source-repos---Examples-ASP-NET-AspNet-Basics\130b0e02-3c53-4be1-ac71-0d4d7a5d1c71\scratchpad\deck\assets\d06_di.png">    </p:cNvPr>
          <p:cNvPicPr>
            <a:picLocks noChangeAspect="1"/>
          </p:cNvPicPr>
          <p:nvPr/>
        </p:nvPicPr>
        <p:blipFill>
          <a:blip r:embed="rId1"/>
          <a:stretch>
            <a:fillRect/>
          </a:stretch>
        </p:blipFill>
        <p:spPr>
          <a:xfrm>
            <a:off x="2711914" y="2276856"/>
            <a:ext cx="6767868" cy="3529584"/>
          </a:xfrm>
          <a:prstGeom prst="rect">
            <a:avLst/>
          </a:prstGeom>
        </p:spPr>
      </p:pic>
      <p:sp>
        <p:nvSpPr>
          <p:cNvPr id="7" name="Shape 3"/>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8" name="Text 4"/>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dirty="0">
                <a:solidFill>
                  <a:srgbClr val="241C3B"/>
                </a:solidFill>
                <a:latin typeface="Calibri" pitchFamily="34" charset="0"/>
                <a:ea typeface="Calibri" pitchFamily="34" charset="-122"/>
                <a:cs typeface="Calibri" pitchFamily="34" charset="-120"/>
              </a:rPr>
              <a:t>«Область» (scope) у веб-застосунку — це один HTTP-запит: ASP.NET Core створює її на кожен запит і звільняє в кінці.</a:t>
            </a:r>
            <a:endParaRPr lang="en-US" sz="1200" dirty="0"/>
          </a:p>
        </p:txBody>
      </p:sp>
      <p:sp>
        <p:nvSpPr>
          <p:cNvPr id="9" name="Text 5"/>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Який час життя обрати</a:t>
            </a:r>
            <a:endParaRPr lang="en-US" sz="3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66928" y="2208276"/>
          <a:ext cx="11057839" cy="914400"/>
        </p:xfrm>
        <a:graphic>
          <a:graphicData uri="http://schemas.openxmlformats.org/drawingml/2006/table">
            <a:tbl>
              <a:tblPr/>
              <a:tblGrid>
                <a:gridCol w="2011680"/>
                <a:gridCol w="3017520"/>
                <a:gridCol w="6035040"/>
              </a:tblGrid>
              <a:tr h="6583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Час життя</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Створюється</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Типові кандидати</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Transient</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при кожному резолві</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легкі stateless-хелпери, мапери, валідатори</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Scoped</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раз на HTTP-запит</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DbContext, репозиторії, «одиниця роботи», контекст користувача</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Singleton</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раз на застосунок</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кеш, конфіг, пул з'єднань, HttpClientFactory</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bl>
          </a:graphicData>
        </a:graphic>
      </p:graphicFrame>
      <p:sp>
        <p:nvSpPr>
          <p:cNvPr id="5" name="Shape 1"/>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6" name="Text 2"/>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i="1" dirty="0">
                <a:solidFill>
                  <a:srgbClr val="241C3B"/>
                </a:solidFill>
                <a:latin typeface="Calibri" pitchFamily="34" charset="0"/>
                <a:ea typeface="Calibri" pitchFamily="34" charset="-122"/>
                <a:cs typeface="Calibri" pitchFamily="34" charset="-120"/>
              </a:rPr>
              <a:t>За замовчуванням — Scoped для роботи з даними, Singleton для інфраструктури без стану запиту.</a:t>
            </a:r>
            <a:endParaRPr lang="en-US" sz="1200" dirty="0"/>
          </a:p>
        </p:txBody>
      </p:sp>
      <p:sp>
        <p:nvSpPr>
          <p:cNvPr id="7" name="Text 3"/>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Captive dependency (полонена залежність)</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Captive dependency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коли Singleton приймає в конструктор Scoped- або Transient-сервіс. «Коротший» сервіс живе стільки ж, скільки Singleton — фактично стає Singleton, з усіма наслідками.</a:t>
            </a:r>
            <a:endParaRPr lang="en-US" sz="1450" dirty="0"/>
          </a:p>
        </p:txBody>
      </p:sp>
      <p:sp>
        <p:nvSpPr>
          <p:cNvPr id="6" name="Shape 3"/>
          <p:cNvSpPr/>
          <p:nvPr/>
        </p:nvSpPr>
        <p:spPr>
          <a:xfrm>
            <a:off x="566928" y="2231136"/>
            <a:ext cx="11057839" cy="934974"/>
          </a:xfrm>
          <a:prstGeom prst="roundRect">
            <a:avLst>
              <a:gd name="adj" fmla="val 4890"/>
            </a:avLst>
          </a:prstGeom>
          <a:solidFill>
            <a:srgbClr val="F3EFFD"/>
          </a:solidFill>
          <a:ln w="9525">
            <a:solidFill>
              <a:srgbClr val="D9CEF5"/>
            </a:solidFill>
            <a:prstDash val="solid"/>
          </a:ln>
        </p:spPr>
      </p:sp>
      <p:sp>
        <p:nvSpPr>
          <p:cNvPr id="7" name="Shape 4"/>
          <p:cNvSpPr/>
          <p:nvPr/>
        </p:nvSpPr>
        <p:spPr>
          <a:xfrm>
            <a:off x="768096" y="2524887"/>
            <a:ext cx="347472" cy="347472"/>
          </a:xfrm>
          <a:prstGeom prst="ellipse">
            <a:avLst/>
          </a:prstGeom>
          <a:solidFill>
            <a:srgbClr val="512BD4"/>
          </a:solidFill>
          <a:ln/>
        </p:spPr>
      </p:sp>
      <p:sp>
        <p:nvSpPr>
          <p:cNvPr id="8" name="Text 5"/>
          <p:cNvSpPr txBox="1"/>
          <p:nvPr/>
        </p:nvSpPr>
        <p:spPr>
          <a:xfrm>
            <a:off x="768096" y="2524887"/>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1298448" y="2231136"/>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Наслідки   </a:t>
            </a:r>
            <a:pPr indent="0" marL="0">
              <a:buNone/>
            </a:pPr>
            <a:r>
              <a:rPr lang="en-US" sz="1250" dirty="0">
                <a:solidFill>
                  <a:srgbClr val="6E6785"/>
                </a:solidFill>
                <a:latin typeface="Calibri" pitchFamily="34" charset="0"/>
                <a:ea typeface="Calibri" pitchFamily="34" charset="-122"/>
                <a:cs typeface="Calibri" pitchFamily="34" charset="-120"/>
              </a:rPr>
              <a:t>витоки пам'яті, гонки даних, застарілі значення, ObjectDisposedException на вже звільненому DbContext</a:t>
            </a:r>
            <a:endParaRPr lang="en-US" sz="1500" dirty="0"/>
          </a:p>
        </p:txBody>
      </p:sp>
      <p:sp>
        <p:nvSpPr>
          <p:cNvPr id="10" name="Shape 7"/>
          <p:cNvSpPr/>
          <p:nvPr/>
        </p:nvSpPr>
        <p:spPr>
          <a:xfrm>
            <a:off x="566928" y="3284982"/>
            <a:ext cx="11057839" cy="934974"/>
          </a:xfrm>
          <a:prstGeom prst="roundRect">
            <a:avLst>
              <a:gd name="adj" fmla="val 4890"/>
            </a:avLst>
          </a:prstGeom>
          <a:solidFill>
            <a:srgbClr val="F3EFFD"/>
          </a:solidFill>
          <a:ln w="9525">
            <a:solidFill>
              <a:srgbClr val="D9CEF5"/>
            </a:solidFill>
            <a:prstDash val="solid"/>
          </a:ln>
        </p:spPr>
      </p:sp>
      <p:sp>
        <p:nvSpPr>
          <p:cNvPr id="11" name="Shape 8"/>
          <p:cNvSpPr/>
          <p:nvPr/>
        </p:nvSpPr>
        <p:spPr>
          <a:xfrm>
            <a:off x="768096" y="3578733"/>
            <a:ext cx="347472" cy="347472"/>
          </a:xfrm>
          <a:prstGeom prst="ellipse">
            <a:avLst/>
          </a:prstGeom>
          <a:solidFill>
            <a:srgbClr val="512BD4"/>
          </a:solidFill>
          <a:ln/>
        </p:spPr>
      </p:sp>
      <p:sp>
        <p:nvSpPr>
          <p:cNvPr id="12" name="Text 9"/>
          <p:cNvSpPr txBox="1"/>
          <p:nvPr/>
        </p:nvSpPr>
        <p:spPr>
          <a:xfrm>
            <a:off x="768096" y="3578733"/>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298448" y="3284982"/>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Захист .NET   </a:t>
            </a:r>
            <a:pPr indent="0" marL="0">
              <a:buNone/>
            </a:pPr>
            <a:r>
              <a:rPr lang="en-US" sz="1250" dirty="0">
                <a:solidFill>
                  <a:srgbClr val="6E6785"/>
                </a:solidFill>
                <a:latin typeface="Calibri" pitchFamily="34" charset="0"/>
                <a:ea typeface="Calibri" pitchFamily="34" charset="-122"/>
                <a:cs typeface="Calibri" pitchFamily="34" charset="-120"/>
              </a:rPr>
              <a:t>у Development хост валідує області на старті й кидає виняток «Cannot consume scoped service ... from singleton»</a:t>
            </a:r>
            <a:endParaRPr lang="en-US" sz="1500" dirty="0"/>
          </a:p>
        </p:txBody>
      </p:sp>
      <p:sp>
        <p:nvSpPr>
          <p:cNvPr id="14" name="Shape 11"/>
          <p:cNvSpPr/>
          <p:nvPr/>
        </p:nvSpPr>
        <p:spPr>
          <a:xfrm>
            <a:off x="566928" y="4338828"/>
            <a:ext cx="11057839" cy="934974"/>
          </a:xfrm>
          <a:prstGeom prst="roundRect">
            <a:avLst>
              <a:gd name="adj" fmla="val 4890"/>
            </a:avLst>
          </a:prstGeom>
          <a:solidFill>
            <a:srgbClr val="F3EFFD"/>
          </a:solidFill>
          <a:ln w="9525">
            <a:solidFill>
              <a:srgbClr val="D9CEF5"/>
            </a:solidFill>
            <a:prstDash val="solid"/>
          </a:ln>
        </p:spPr>
      </p:sp>
      <p:sp>
        <p:nvSpPr>
          <p:cNvPr id="15" name="Shape 12"/>
          <p:cNvSpPr/>
          <p:nvPr/>
        </p:nvSpPr>
        <p:spPr>
          <a:xfrm>
            <a:off x="768096" y="4632579"/>
            <a:ext cx="347472" cy="347472"/>
          </a:xfrm>
          <a:prstGeom prst="ellipse">
            <a:avLst/>
          </a:prstGeom>
          <a:solidFill>
            <a:srgbClr val="512BD4"/>
          </a:solidFill>
          <a:ln/>
        </p:spPr>
      </p:sp>
      <p:sp>
        <p:nvSpPr>
          <p:cNvPr id="16" name="Text 13"/>
          <p:cNvSpPr txBox="1"/>
          <p:nvPr/>
        </p:nvSpPr>
        <p:spPr>
          <a:xfrm>
            <a:off x="768096" y="4632579"/>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txBox="1"/>
          <p:nvPr/>
        </p:nvSpPr>
        <p:spPr>
          <a:xfrm>
            <a:off x="1298448" y="4338828"/>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Правильно   </a:t>
            </a:r>
            <a:pPr indent="0" marL="0">
              <a:buNone/>
            </a:pPr>
            <a:r>
              <a:rPr lang="en-US" sz="1250" dirty="0">
                <a:solidFill>
                  <a:srgbClr val="6E6785"/>
                </a:solidFill>
                <a:latin typeface="Calibri" pitchFamily="34" charset="0"/>
                <a:ea typeface="Calibri" pitchFamily="34" charset="-122"/>
                <a:cs typeface="Calibri" pitchFamily="34" charset="-120"/>
              </a:rPr>
              <a:t>впровадити IServiceScopeFactory, у потрібний момент CreateScope() і резолвити сервіс уже з цієї області</a:t>
            </a:r>
            <a:endParaRPr lang="en-US" sz="1500" dirty="0"/>
          </a:p>
        </p:txBody>
      </p:sp>
      <p:sp>
        <p:nvSpPr>
          <p:cNvPr id="18" name="Shape 15"/>
          <p:cNvSpPr/>
          <p:nvPr/>
        </p:nvSpPr>
        <p:spPr>
          <a:xfrm>
            <a:off x="566928" y="5392674"/>
            <a:ext cx="11057839" cy="934974"/>
          </a:xfrm>
          <a:prstGeom prst="roundRect">
            <a:avLst>
              <a:gd name="adj" fmla="val 4890"/>
            </a:avLst>
          </a:prstGeom>
          <a:solidFill>
            <a:srgbClr val="F3EFFD"/>
          </a:solidFill>
          <a:ln w="9525">
            <a:solidFill>
              <a:srgbClr val="D9CEF5"/>
            </a:solidFill>
            <a:prstDash val="solid"/>
          </a:ln>
        </p:spPr>
      </p:sp>
      <p:sp>
        <p:nvSpPr>
          <p:cNvPr id="19" name="Shape 16"/>
          <p:cNvSpPr/>
          <p:nvPr/>
        </p:nvSpPr>
        <p:spPr>
          <a:xfrm>
            <a:off x="768096" y="5686425"/>
            <a:ext cx="347472" cy="347472"/>
          </a:xfrm>
          <a:prstGeom prst="ellipse">
            <a:avLst/>
          </a:prstGeom>
          <a:solidFill>
            <a:srgbClr val="512BD4"/>
          </a:solidFill>
          <a:ln/>
        </p:spPr>
      </p:sp>
      <p:sp>
        <p:nvSpPr>
          <p:cNvPr id="20" name="Text 17"/>
          <p:cNvSpPr txBox="1"/>
          <p:nvPr/>
        </p:nvSpPr>
        <p:spPr>
          <a:xfrm>
            <a:off x="768096" y="5686425"/>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txBox="1"/>
          <p:nvPr/>
        </p:nvSpPr>
        <p:spPr>
          <a:xfrm>
            <a:off x="1298448" y="5392674"/>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Окремий антипатерн   </a:t>
            </a:r>
            <a:pPr indent="0" marL="0">
              <a:buNone/>
            </a:pPr>
            <a:r>
              <a:rPr lang="en-US" sz="1250" dirty="0">
                <a:solidFill>
                  <a:srgbClr val="6E6785"/>
                </a:solidFill>
                <a:latin typeface="Calibri" pitchFamily="34" charset="0"/>
                <a:ea typeface="Calibri" pitchFamily="34" charset="-122"/>
                <a:cs typeface="Calibri" pitchFamily="34" charset="-120"/>
              </a:rPr>
              <a:t>виклик BuildServiceProvider() у Program.cs — створює ДРУГИЙ контейнер з дублями синглтонів</a:t>
            </a:r>
            <a:endParaRPr lang="en-US" sz="1500" dirty="0"/>
          </a:p>
        </p:txBody>
      </p:sp>
      <p:sp>
        <p:nvSpPr>
          <p:cNvPr id="22" name="Text 19"/>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Конфігурація: провайдери та пріоритет</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Конфігурація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набір пар «ключ — значення», зібраний із кількох джерел (провайдерів). Порядок має значення: кожне наступне джерело перекриває попередні за однаковим ключем.</a:t>
            </a:r>
            <a:endParaRPr lang="en-US" sz="1450" dirty="0"/>
          </a:p>
        </p:txBody>
      </p:sp>
      <p:pic>
        <p:nvPicPr>
          <p:cNvPr id="6" name="Image 0" descr="C:\Users\Yurii\AppData\Local\Temp\claude\C--Users-Yurii-source-repos---Examples-ASP-NET-AspNet-Basics\130b0e02-3c53-4be1-ac71-0d4d7a5d1c71\scratchpad\deck\assets\d07_config.png">    </p:cNvPr>
          <p:cNvPicPr>
            <a:picLocks noChangeAspect="1"/>
          </p:cNvPicPr>
          <p:nvPr/>
        </p:nvPicPr>
        <p:blipFill>
          <a:blip r:embed="rId1"/>
          <a:stretch>
            <a:fillRect/>
          </a:stretch>
        </p:blipFill>
        <p:spPr>
          <a:xfrm>
            <a:off x="3299331" y="2276856"/>
            <a:ext cx="5593033" cy="3529584"/>
          </a:xfrm>
          <a:prstGeom prst="rect">
            <a:avLst/>
          </a:prstGeom>
        </p:spPr>
      </p:pic>
      <p:sp>
        <p:nvSpPr>
          <p:cNvPr id="7" name="Shape 3"/>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8" name="Text 4"/>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dirty="0">
                <a:solidFill>
                  <a:srgbClr val="241C3B"/>
                </a:solidFill>
                <a:latin typeface="Calibri" pitchFamily="34" charset="0"/>
                <a:ea typeface="Calibri" pitchFamily="34" charset="-122"/>
                <a:cs typeface="Calibri" pitchFamily="34" charset="-120"/>
              </a:rPr>
              <a:t>((IConfigurationRoot)config).GetDebugView() показує підсумкове значення кожного ключа й те, з якого джерела воно прийшло.</a:t>
            </a:r>
            <a:endParaRPr lang="en-US" sz="1200" dirty="0"/>
          </a:p>
        </p:txBody>
      </p:sp>
      <p:sp>
        <p:nvSpPr>
          <p:cNvPr id="9" name="Text 5"/>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Патерн Options</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Патерн Options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секцію конфігурації один раз прив'язують до типізованого класу — і далі по всьому коду впроваджують IOptions&lt;T&gt; замість того, щоб читати рядкові ключі вручну.</a:t>
            </a:r>
            <a:endParaRPr lang="en-US" sz="14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66928" y="2702052"/>
          <a:ext cx="11057839" cy="914400"/>
        </p:xfrm>
        <a:graphic>
          <a:graphicData uri="http://schemas.openxmlformats.org/drawingml/2006/table">
            <a:tbl>
              <a:tblPr/>
              <a:tblGrid>
                <a:gridCol w="2560320"/>
                <a:gridCol w="2103120"/>
                <a:gridCol w="2926080"/>
                <a:gridCol w="3474720"/>
              </a:tblGrid>
              <a:tr h="6583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Тип</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Час життя</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Перечитує зміни</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У middleware / singleton</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IOptions&lt;T&gt;</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Singleton</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ні (обчислюється раз)</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так</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IOptionsSnapshot&lt;T&gt;</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Scoped</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так, раз на запит</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ні</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IOptionsMonitor&lt;T&gt;</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Singleton</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так, миттєво + OnChange</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так</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bl>
          </a:graphicData>
        </a:graphic>
      </p:graphicFrame>
      <p:sp>
        <p:nvSpPr>
          <p:cNvPr id="7" name="Shape 3"/>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8" name="Text 4"/>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i="1" dirty="0">
                <a:solidFill>
                  <a:srgbClr val="241C3B"/>
                </a:solidFill>
                <a:latin typeface="Calibri" pitchFamily="34" charset="0"/>
                <a:ea typeface="Calibri" pitchFamily="34" charset="-122"/>
                <a:cs typeface="Calibri" pitchFamily="34" charset="-120"/>
              </a:rPr>
              <a:t>AddOptions&lt;T&gt;().Bind(section).ValidateDataAnnotations().ValidateOnStart() — падіння на старті, а не при першому доступі.</a:t>
            </a:r>
            <a:endParaRPr lang="en-US" sz="1200" dirty="0"/>
          </a:p>
        </p:txBody>
      </p:sp>
      <p:sp>
        <p:nvSpPr>
          <p:cNvPr id="9" name="Text 5"/>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36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3EFFD"/>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Модуль 3 — приклади</a:t>
            </a:r>
            <a:endParaRPr lang="en-US" sz="3000" dirty="0"/>
          </a:p>
        </p:txBody>
      </p:sp>
      <p:sp>
        <p:nvSpPr>
          <p:cNvPr id="4" name="Shape 1"/>
          <p:cNvSpPr/>
          <p:nvPr/>
        </p:nvSpPr>
        <p:spPr>
          <a:xfrm>
            <a:off x="566928" y="1833372"/>
            <a:ext cx="11057839" cy="1828800"/>
          </a:xfrm>
          <a:prstGeom prst="roundRect">
            <a:avLst>
              <a:gd name="adj" fmla="val 3500"/>
            </a:avLst>
          </a:prstGeom>
          <a:solidFill>
            <a:srgbClr val="FFFFFF"/>
          </a:solidFill>
          <a:ln w="12700">
            <a:solidFill>
              <a:srgbClr val="D9CEF5"/>
            </a:solidFill>
            <a:prstDash val="solid"/>
          </a:ln>
        </p:spPr>
      </p:sp>
      <p:sp>
        <p:nvSpPr>
          <p:cNvPr id="5" name="Shape 2"/>
          <p:cNvSpPr/>
          <p:nvPr/>
        </p:nvSpPr>
        <p:spPr>
          <a:xfrm>
            <a:off x="795528" y="2574036"/>
            <a:ext cx="2926080" cy="347472"/>
          </a:xfrm>
          <a:prstGeom prst="roundRect">
            <a:avLst>
              <a:gd name="adj" fmla="val 13158"/>
            </a:avLst>
          </a:prstGeom>
          <a:solidFill>
            <a:srgbClr val="E7DFFA"/>
          </a:solidFill>
          <a:ln/>
        </p:spPr>
      </p:sp>
      <p:sp>
        <p:nvSpPr>
          <p:cNvPr id="6" name="Text 3"/>
          <p:cNvSpPr txBox="1"/>
          <p:nvPr/>
        </p:nvSpPr>
        <p:spPr>
          <a:xfrm>
            <a:off x="795528" y="2574036"/>
            <a:ext cx="2926080" cy="347472"/>
          </a:xfrm>
          <a:prstGeom prst="rect">
            <a:avLst/>
          </a:prstGeom>
          <a:noFill/>
          <a:ln/>
        </p:spPr>
        <p:txBody>
          <a:bodyPr wrap="square" lIns="0" tIns="0" rIns="0" bIns="0" rtlCol="0" anchor="ctr"/>
          <a:lstStyle/>
          <a:p>
            <a:pPr algn="ctr" indent="0" marL="0">
              <a:buNone/>
            </a:pPr>
            <a:r>
              <a:rPr lang="en-US" sz="1100" b="1" dirty="0">
                <a:solidFill>
                  <a:srgbClr val="512BD4"/>
                </a:solidFill>
                <a:latin typeface="Courier New" pitchFamily="34" charset="0"/>
                <a:ea typeface="Courier New" pitchFamily="34" charset="-122"/>
                <a:cs typeface="Courier New" pitchFamily="34" charset="-120"/>
              </a:rPr>
              <a:t>07.DependencyInjection…</a:t>
            </a:r>
            <a:endParaRPr lang="en-US" sz="1100" dirty="0"/>
          </a:p>
        </p:txBody>
      </p:sp>
      <p:sp>
        <p:nvSpPr>
          <p:cNvPr id="7" name="Text 4"/>
          <p:cNvSpPr txBox="1"/>
          <p:nvPr/>
        </p:nvSpPr>
        <p:spPr>
          <a:xfrm>
            <a:off x="3995928" y="1833372"/>
            <a:ext cx="7400239" cy="1828800"/>
          </a:xfrm>
          <a:prstGeom prst="rect">
            <a:avLst/>
          </a:prstGeom>
          <a:noFill/>
          <a:ln/>
        </p:spPr>
        <p:txBody>
          <a:bodyPr wrap="square" lIns="0" tIns="0" rIns="0" bIns="0" rtlCol="0" anchor="ctr"/>
          <a:lstStyle/>
          <a:p>
            <a:pPr indent="0" marL="0">
              <a:buNone/>
            </a:pPr>
            <a:r>
              <a:rPr lang="en-US" sz="1250" b="1" dirty="0">
                <a:solidFill>
                  <a:srgbClr val="241C3B"/>
                </a:solidFill>
                <a:latin typeface="Calibri" pitchFamily="34" charset="0"/>
                <a:ea typeface="Calibri" pitchFamily="34" charset="-122"/>
                <a:cs typeface="Calibri" pitchFamily="34" charset="-120"/>
              </a:rPr>
              <a:t>Час життя сервісів  —  </a:t>
            </a:r>
            <a:pPr indent="0" marL="0">
              <a:buNone/>
            </a:pPr>
            <a:r>
              <a:rPr lang="en-US" sz="1250" dirty="0">
                <a:solidFill>
                  <a:srgbClr val="6E6785"/>
                </a:solidFill>
                <a:latin typeface="Calibri" pitchFamily="34" charset="0"/>
                <a:ea typeface="Calibri" pitchFamily="34" charset="-122"/>
                <a:cs typeface="Calibri" pitchFamily="34" charset="-120"/>
              </a:rPr>
              <a:t>Transient/Scoped/Singleton на живому Guid; IServiceScopeFactory</a:t>
            </a:r>
            <a:endParaRPr lang="en-US" sz="1250" dirty="0"/>
          </a:p>
        </p:txBody>
      </p:sp>
      <p:sp>
        <p:nvSpPr>
          <p:cNvPr id="8" name="Shape 5"/>
          <p:cNvSpPr/>
          <p:nvPr/>
        </p:nvSpPr>
        <p:spPr>
          <a:xfrm>
            <a:off x="566928" y="3845052"/>
            <a:ext cx="11057839" cy="1828800"/>
          </a:xfrm>
          <a:prstGeom prst="roundRect">
            <a:avLst>
              <a:gd name="adj" fmla="val 3500"/>
            </a:avLst>
          </a:prstGeom>
          <a:solidFill>
            <a:srgbClr val="FFFFFF"/>
          </a:solidFill>
          <a:ln w="12700">
            <a:solidFill>
              <a:srgbClr val="D9CEF5"/>
            </a:solidFill>
            <a:prstDash val="solid"/>
          </a:ln>
        </p:spPr>
      </p:sp>
      <p:sp>
        <p:nvSpPr>
          <p:cNvPr id="9" name="Shape 6"/>
          <p:cNvSpPr/>
          <p:nvPr/>
        </p:nvSpPr>
        <p:spPr>
          <a:xfrm>
            <a:off x="795528" y="4585716"/>
            <a:ext cx="2926080" cy="347472"/>
          </a:xfrm>
          <a:prstGeom prst="roundRect">
            <a:avLst>
              <a:gd name="adj" fmla="val 13158"/>
            </a:avLst>
          </a:prstGeom>
          <a:solidFill>
            <a:srgbClr val="E7DFFA"/>
          </a:solidFill>
          <a:ln/>
        </p:spPr>
      </p:sp>
      <p:sp>
        <p:nvSpPr>
          <p:cNvPr id="10" name="Text 7"/>
          <p:cNvSpPr txBox="1"/>
          <p:nvPr/>
        </p:nvSpPr>
        <p:spPr>
          <a:xfrm>
            <a:off x="795528" y="4585716"/>
            <a:ext cx="2926080" cy="347472"/>
          </a:xfrm>
          <a:prstGeom prst="rect">
            <a:avLst/>
          </a:prstGeom>
          <a:noFill/>
          <a:ln/>
        </p:spPr>
        <p:txBody>
          <a:bodyPr wrap="square" lIns="0" tIns="0" rIns="0" bIns="0" rtlCol="0" anchor="ctr"/>
          <a:lstStyle/>
          <a:p>
            <a:pPr algn="ctr" indent="0" marL="0">
              <a:buNone/>
            </a:pPr>
            <a:r>
              <a:rPr lang="en-US" sz="1100" b="1" dirty="0">
                <a:solidFill>
                  <a:srgbClr val="512BD4"/>
                </a:solidFill>
                <a:latin typeface="Courier New" pitchFamily="34" charset="0"/>
                <a:ea typeface="Courier New" pitchFamily="34" charset="-122"/>
                <a:cs typeface="Courier New" pitchFamily="34" charset="-120"/>
              </a:rPr>
              <a:t>08.Configuration.Options</a:t>
            </a:r>
            <a:endParaRPr lang="en-US" sz="1100" dirty="0"/>
          </a:p>
        </p:txBody>
      </p:sp>
      <p:sp>
        <p:nvSpPr>
          <p:cNvPr id="11" name="Text 8"/>
          <p:cNvSpPr txBox="1"/>
          <p:nvPr/>
        </p:nvSpPr>
        <p:spPr>
          <a:xfrm>
            <a:off x="3995928" y="3845052"/>
            <a:ext cx="7400239" cy="1828800"/>
          </a:xfrm>
          <a:prstGeom prst="rect">
            <a:avLst/>
          </a:prstGeom>
          <a:noFill/>
          <a:ln/>
        </p:spPr>
        <p:txBody>
          <a:bodyPr wrap="square" lIns="0" tIns="0" rIns="0" bIns="0" rtlCol="0" anchor="ctr"/>
          <a:lstStyle/>
          <a:p>
            <a:pPr indent="0" marL="0">
              <a:buNone/>
            </a:pPr>
            <a:r>
              <a:rPr lang="en-US" sz="1250" b="1" dirty="0">
                <a:solidFill>
                  <a:srgbClr val="241C3B"/>
                </a:solidFill>
                <a:latin typeface="Calibri" pitchFamily="34" charset="0"/>
                <a:ea typeface="Calibri" pitchFamily="34" charset="-122"/>
                <a:cs typeface="Calibri" pitchFamily="34" charset="-120"/>
              </a:rPr>
              <a:t>Конфігурація та Options  —  </a:t>
            </a:r>
            <a:pPr indent="0" marL="0">
              <a:buNone/>
            </a:pPr>
            <a:r>
              <a:rPr lang="en-US" sz="1250" dirty="0">
                <a:solidFill>
                  <a:srgbClr val="6E6785"/>
                </a:solidFill>
                <a:latin typeface="Calibri" pitchFamily="34" charset="0"/>
                <a:ea typeface="Calibri" pitchFamily="34" charset="-122"/>
                <a:cs typeface="Calibri" pitchFamily="34" charset="-120"/>
              </a:rPr>
              <a:t>джерела й пріоритет, GetDebugView, IOptions/Snapshot/Monitor, валідація</a:t>
            </a:r>
            <a:endParaRPr lang="en-US" sz="1250" dirty="0"/>
          </a:p>
        </p:txBody>
      </p:sp>
      <p:sp>
        <p:nvSpPr>
          <p:cNvPr id="12" name="Text 9"/>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A1333"/>
        </a:solidFill>
      </p:bgPr>
    </p:bg>
    <p:spTree>
      <p:nvGrpSpPr>
        <p:cNvPr id="1" name=""/>
        <p:cNvGrpSpPr/>
        <p:nvPr/>
      </p:nvGrpSpPr>
      <p:grpSpPr>
        <a:xfrm>
          <a:off x="0" y="0"/>
          <a:ext cx="0" cy="0"/>
          <a:chOff x="0" y="0"/>
          <a:chExt cx="0" cy="0"/>
        </a:xfrm>
      </p:grpSpPr>
      <p:sp>
        <p:nvSpPr>
          <p:cNvPr id="2" name="Text 0"/>
          <p:cNvSpPr txBox="1"/>
          <p:nvPr/>
        </p:nvSpPr>
        <p:spPr>
          <a:xfrm>
            <a:off x="7680960" y="182880"/>
            <a:ext cx="4572000" cy="6400800"/>
          </a:xfrm>
          <a:prstGeom prst="rect">
            <a:avLst/>
          </a:prstGeom>
          <a:noFill/>
          <a:ln/>
        </p:spPr>
        <p:txBody>
          <a:bodyPr wrap="square" lIns="0" tIns="0" rIns="0" bIns="0" rtlCol="0" anchor="ctr"/>
          <a:lstStyle/>
          <a:p>
            <a:pPr algn="r" indent="0" marL="0">
              <a:buNone/>
            </a:pPr>
            <a:r>
              <a:rPr lang="en-US" sz="32000" b="1" dirty="0">
                <a:solidFill>
                  <a:srgbClr val="2A1E52"/>
                </a:solidFill>
                <a:latin typeface="Cambria" pitchFamily="34" charset="0"/>
                <a:ea typeface="Cambria" pitchFamily="34" charset="-122"/>
                <a:cs typeface="Cambria" pitchFamily="34" charset="-120"/>
              </a:rPr>
              <a:t>4</a:t>
            </a:r>
            <a:endParaRPr lang="en-US" sz="32000" dirty="0"/>
          </a:p>
        </p:txBody>
      </p:sp>
      <p:sp>
        <p:nvSpPr>
          <p:cNvPr id="3" name="Text 1"/>
          <p:cNvSpPr txBox="1"/>
          <p:nvPr/>
        </p:nvSpPr>
        <p:spPr>
          <a:xfrm>
            <a:off x="914400" y="2286000"/>
            <a:ext cx="8229600" cy="365760"/>
          </a:xfrm>
          <a:prstGeom prst="rect">
            <a:avLst/>
          </a:prstGeom>
          <a:noFill/>
          <a:ln/>
        </p:spPr>
        <p:txBody>
          <a:bodyPr wrap="square" lIns="0" tIns="0" rIns="0" bIns="0" rtlCol="0" anchor="ctr"/>
          <a:lstStyle/>
          <a:p>
            <a:pPr indent="0" marL="0">
              <a:buNone/>
            </a:pPr>
            <a:r>
              <a:rPr lang="en-US" sz="1500" b="1" spc="300" kern="0" dirty="0">
                <a:solidFill>
                  <a:srgbClr val="0E9C8E"/>
                </a:solidFill>
                <a:latin typeface="Calibri" pitchFamily="34" charset="0"/>
                <a:ea typeface="Calibri" pitchFamily="34" charset="-122"/>
                <a:cs typeface="Calibri" pitchFamily="34" charset="-120"/>
              </a:rPr>
              <a:t>МОДУЛЬ 4</a:t>
            </a:r>
            <a:endParaRPr lang="en-US" sz="1500" dirty="0"/>
          </a:p>
        </p:txBody>
      </p:sp>
      <p:sp>
        <p:nvSpPr>
          <p:cNvPr id="4" name="Text 2"/>
          <p:cNvSpPr txBox="1"/>
          <p:nvPr/>
        </p:nvSpPr>
        <p:spPr>
          <a:xfrm>
            <a:off x="914400" y="2743200"/>
            <a:ext cx="7772400" cy="15544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Маршрутизація</a:t>
            </a:r>
            <a:endParaRPr lang="en-US" sz="4000" dirty="0"/>
          </a:p>
        </p:txBody>
      </p:sp>
      <p:sp>
        <p:nvSpPr>
          <p:cNvPr id="5" name="Text 3"/>
          <p:cNvSpPr txBox="1"/>
          <p:nvPr/>
        </p:nvSpPr>
        <p:spPr>
          <a:xfrm>
            <a:off x="960120" y="4389120"/>
            <a:ext cx="6949440" cy="1828800"/>
          </a:xfrm>
          <a:prstGeom prst="rect">
            <a:avLst/>
          </a:prstGeom>
          <a:noFill/>
          <a:ln/>
        </p:spPr>
        <p:txBody>
          <a:bodyPr wrap="square" lIns="0" tIns="0" rIns="0" bIns="0" rtlCol="0" anchor="ctr"/>
          <a:lstStyle/>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endpoint routing — теж middleware</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дві фази: UseRouting / UseEndpoints</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шаблони, обмеження, пріоритет</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route values vs query string</a:t>
            </a:r>
            <a:endParaRPr lang="en-US" sz="1400" dirty="0"/>
          </a:p>
        </p:txBody>
      </p:sp>
      <p:sp>
        <p:nvSpPr>
          <p:cNvPr id="6" name="Text 4"/>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9E93C4"/>
                </a:solidFill>
                <a:latin typeface="Calibri" pitchFamily="34" charset="0"/>
                <a:ea typeface="Calibri" pitchFamily="34" charset="-122"/>
                <a:cs typeface="Calibri" pitchFamily="34" charset="-120"/>
              </a:rPr>
              <a:t>38</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Endpoint routing: дві фази</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Маршрутизація (routing)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процес зіставлення URL запиту з конкретним обробником. У ASP.NET Core вона двоетапна й сама є middleware: спершу співставлення, потім — окремо — виконання.</a:t>
            </a:r>
            <a:endParaRPr lang="en-US" sz="1450" dirty="0"/>
          </a:p>
        </p:txBody>
      </p:sp>
      <p:pic>
        <p:nvPicPr>
          <p:cNvPr id="6" name="Image 0" descr="C:\Users\Yurii\AppData\Local\Temp\claude\C--Users-Yurii-source-repos---Examples-ASP-NET-AspNet-Basics\130b0e02-3c53-4be1-ac71-0d4d7a5d1c71\scratchpad\deck\assets\d08_routing.png">    </p:cNvPr>
          <p:cNvPicPr>
            <a:picLocks noChangeAspect="1"/>
          </p:cNvPicPr>
          <p:nvPr/>
        </p:nvPicPr>
        <p:blipFill>
          <a:blip r:embed="rId1"/>
          <a:stretch>
            <a:fillRect/>
          </a:stretch>
        </p:blipFill>
        <p:spPr>
          <a:xfrm>
            <a:off x="566928" y="2609840"/>
            <a:ext cx="11057839" cy="2863615"/>
          </a:xfrm>
          <a:prstGeom prst="rect">
            <a:avLst/>
          </a:prstGeom>
        </p:spPr>
      </p:pic>
      <p:sp>
        <p:nvSpPr>
          <p:cNvPr id="7" name="Shape 3"/>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8" name="Text 4"/>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dirty="0">
                <a:solidFill>
                  <a:srgbClr val="241C3B"/>
                </a:solidFill>
                <a:latin typeface="Calibri" pitchFamily="34" charset="0"/>
                <a:ea typeface="Calibri" pitchFamily="34" charset="-122"/>
                <a:cs typeface="Calibri" pitchFamily="34" charset="-120"/>
              </a:rPr>
              <a:t>Між фазами можна вставити свій middleware: context.GetEndpoint() != null означає, що endpoint уже обрано, але ще не виконано.</a:t>
            </a:r>
            <a:endParaRPr lang="en-US" sz="1200" dirty="0"/>
          </a:p>
        </p:txBody>
      </p:sp>
      <p:sp>
        <p:nvSpPr>
          <p:cNvPr id="9" name="Text 5"/>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39</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Шаблони та обмеження маршрутів</a:t>
            </a:r>
            <a:endParaRPr lang="en-US" sz="30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66928" y="1243584"/>
          <a:ext cx="11057839" cy="914400"/>
        </p:xfrm>
        <a:graphic>
          <a:graphicData uri="http://schemas.openxmlformats.org/drawingml/2006/table">
            <a:tbl>
              <a:tblPr/>
              <a:tblGrid>
                <a:gridCol w="3931920"/>
                <a:gridCol w="7132320"/>
              </a:tblGrid>
              <a:tr h="651837">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Синтаксис</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Значення</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r>
              <a:tr h="651837">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/products/{id}</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обов'язковий параметр</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1837">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{id:int}</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обмеження типу — несумісний сегмент дає 404, а не 400</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651837">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{page:int=1}</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значення за замовчуванням</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1837">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{slug?}</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необов'язковий параметр</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651837">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{**path}</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catch-all — захоплює решту шляху разом зі слешами</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1837">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:int :guid :bool :alpha :minlength(n) :range(a,b) :regex(...)</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поширені обмеження</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bl>
          </a:graphicData>
        </a:graphic>
      </p:graphicFrame>
      <p:sp>
        <p:nvSpPr>
          <p:cNvPr id="5" name="Shape 1"/>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6" name="Text 2"/>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i="1" dirty="0">
                <a:solidFill>
                  <a:srgbClr val="241C3B"/>
                </a:solidFill>
                <a:latin typeface="Calibri" pitchFamily="34" charset="0"/>
                <a:ea typeface="Calibri" pitchFamily="34" charset="-122"/>
                <a:cs typeface="Calibri" pitchFamily="34" charset="-120"/>
              </a:rPr>
              <a:t>Обмеження — це фільтр СПІВСТАВЛЕННЯ, а не валідація. Конкретніший шаблон виграє: /products/featured перекриває /products/{id}.</a:t>
            </a:r>
            <a:endParaRPr lang="en-US" sz="1200" dirty="0"/>
          </a:p>
        </p:txBody>
      </p:sp>
      <p:sp>
        <p:nvSpPr>
          <p:cNvPr id="7" name="Text 3"/>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40</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Route values vs query string</a:t>
            </a:r>
            <a:endParaRPr lang="en-US" sz="3000" dirty="0"/>
          </a:p>
        </p:txBody>
      </p:sp>
      <p:sp>
        <p:nvSpPr>
          <p:cNvPr id="4" name="Text 1"/>
          <p:cNvSpPr txBox="1"/>
          <p:nvPr/>
        </p:nvSpPr>
        <p:spPr>
          <a:xfrm>
            <a:off x="566928" y="1243584"/>
            <a:ext cx="11057839" cy="603504"/>
          </a:xfrm>
          <a:prstGeom prst="rect">
            <a:avLst/>
          </a:prstGeom>
          <a:noFill/>
          <a:ln/>
        </p:spPr>
        <p:txBody>
          <a:bodyPr wrap="square" lIns="0" tIns="0" rIns="0" bIns="0" rtlCol="0" anchor="t"/>
          <a:lstStyle/>
          <a:p>
            <a:pPr indent="0" marL="0">
              <a:lnSpc>
                <a:spcPct val="116000"/>
              </a:lnSpc>
              <a:buNone/>
            </a:pPr>
            <a:r>
              <a:rPr lang="en-US" sz="1300" dirty="0">
                <a:solidFill>
                  <a:srgbClr val="241C3B"/>
                </a:solidFill>
                <a:latin typeface="Calibri" pitchFamily="34" charset="0"/>
                <a:ea typeface="Calibri" pitchFamily="34" charset="-122"/>
                <a:cs typeface="Calibri" pitchFamily="34" charset="-120"/>
              </a:rPr>
              <a:t>Дві частини URL мають різне призначення, і їх часто плутають. Шлях — це ідентичність ресурсу; query — параметри операції над ним.</a:t>
            </a:r>
            <a:endParaRPr lang="en-US" sz="1300" dirty="0"/>
          </a:p>
        </p:txBody>
      </p:sp>
      <p:sp>
        <p:nvSpPr>
          <p:cNvPr id="5" name="Shape 2"/>
          <p:cNvSpPr/>
          <p:nvPr/>
        </p:nvSpPr>
        <p:spPr>
          <a:xfrm>
            <a:off x="566928" y="1993392"/>
            <a:ext cx="11057839" cy="994410"/>
          </a:xfrm>
          <a:prstGeom prst="roundRect">
            <a:avLst>
              <a:gd name="adj" fmla="val 4598"/>
            </a:avLst>
          </a:prstGeom>
          <a:solidFill>
            <a:srgbClr val="F3EFFD"/>
          </a:solidFill>
          <a:ln w="9525">
            <a:solidFill>
              <a:srgbClr val="D9CEF5"/>
            </a:solidFill>
            <a:prstDash val="solid"/>
          </a:ln>
        </p:spPr>
      </p:sp>
      <p:sp>
        <p:nvSpPr>
          <p:cNvPr id="6" name="Shape 3"/>
          <p:cNvSpPr/>
          <p:nvPr/>
        </p:nvSpPr>
        <p:spPr>
          <a:xfrm>
            <a:off x="768096" y="2316861"/>
            <a:ext cx="347472" cy="347472"/>
          </a:xfrm>
          <a:prstGeom prst="ellipse">
            <a:avLst/>
          </a:prstGeom>
          <a:solidFill>
            <a:srgbClr val="512BD4"/>
          </a:solidFill>
          <a:ln/>
        </p:spPr>
      </p:sp>
      <p:sp>
        <p:nvSpPr>
          <p:cNvPr id="7" name="Text 4"/>
          <p:cNvSpPr txBox="1"/>
          <p:nvPr/>
        </p:nvSpPr>
        <p:spPr>
          <a:xfrm>
            <a:off x="768096" y="2316861"/>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298448" y="1993392"/>
            <a:ext cx="10097719" cy="994410"/>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Шлях ідентифікує РЕСУРС   </a:t>
            </a:r>
            <a:pPr indent="0" marL="0">
              <a:buNone/>
            </a:pPr>
            <a:r>
              <a:rPr lang="en-US" sz="1250" dirty="0">
                <a:solidFill>
                  <a:srgbClr val="6E6785"/>
                </a:solidFill>
                <a:latin typeface="Calibri" pitchFamily="34" charset="0"/>
                <a:ea typeface="Calibri" pitchFamily="34" charset="-122"/>
                <a:cs typeface="Calibri" pitchFamily="34" charset="-120"/>
              </a:rPr>
              <a:t>/products/42, /categories/laptops, /products/42/reviews — стабільна адреса конкретної сутності</a:t>
            </a:r>
            <a:endParaRPr lang="en-US" sz="1500" dirty="0"/>
          </a:p>
        </p:txBody>
      </p:sp>
      <p:sp>
        <p:nvSpPr>
          <p:cNvPr id="9" name="Shape 6"/>
          <p:cNvSpPr/>
          <p:nvPr/>
        </p:nvSpPr>
        <p:spPr>
          <a:xfrm>
            <a:off x="566928" y="3106674"/>
            <a:ext cx="11057839" cy="994410"/>
          </a:xfrm>
          <a:prstGeom prst="roundRect">
            <a:avLst>
              <a:gd name="adj" fmla="val 4598"/>
            </a:avLst>
          </a:prstGeom>
          <a:solidFill>
            <a:srgbClr val="F3EFFD"/>
          </a:solidFill>
          <a:ln w="9525">
            <a:solidFill>
              <a:srgbClr val="D9CEF5"/>
            </a:solidFill>
            <a:prstDash val="solid"/>
          </a:ln>
        </p:spPr>
      </p:sp>
      <p:sp>
        <p:nvSpPr>
          <p:cNvPr id="10" name="Shape 7"/>
          <p:cNvSpPr/>
          <p:nvPr/>
        </p:nvSpPr>
        <p:spPr>
          <a:xfrm>
            <a:off x="768096" y="3430143"/>
            <a:ext cx="347472" cy="347472"/>
          </a:xfrm>
          <a:prstGeom prst="ellipse">
            <a:avLst/>
          </a:prstGeom>
          <a:solidFill>
            <a:srgbClr val="512BD4"/>
          </a:solidFill>
          <a:ln/>
        </p:spPr>
      </p:sp>
      <p:sp>
        <p:nvSpPr>
          <p:cNvPr id="11" name="Text 8"/>
          <p:cNvSpPr txBox="1"/>
          <p:nvPr/>
        </p:nvSpPr>
        <p:spPr>
          <a:xfrm>
            <a:off x="768096" y="3430143"/>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txBox="1"/>
          <p:nvPr/>
        </p:nvSpPr>
        <p:spPr>
          <a:xfrm>
            <a:off x="1298448" y="3106674"/>
            <a:ext cx="10097719" cy="994410"/>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Query — параметри операції над колекцією   </a:t>
            </a:r>
            <a:pPr indent="0" marL="0">
              <a:buNone/>
            </a:pPr>
            <a:r>
              <a:rPr lang="en-US" sz="1250" dirty="0">
                <a:solidFill>
                  <a:srgbClr val="6E6785"/>
                </a:solidFill>
                <a:latin typeface="Calibri" pitchFamily="34" charset="0"/>
                <a:ea typeface="Calibri" pitchFamily="34" charset="-122"/>
                <a:cs typeface="Calibri" pitchFamily="34" charset="-120"/>
              </a:rPr>
              <a:t>?q=hub&amp;page=2&amp;sort=price — фільтрування, сортування, пагінація вибірки</a:t>
            </a:r>
            <a:endParaRPr lang="en-US" sz="1500" dirty="0"/>
          </a:p>
        </p:txBody>
      </p:sp>
      <p:sp>
        <p:nvSpPr>
          <p:cNvPr id="13" name="Shape 10"/>
          <p:cNvSpPr/>
          <p:nvPr/>
        </p:nvSpPr>
        <p:spPr>
          <a:xfrm>
            <a:off x="566928" y="4219956"/>
            <a:ext cx="11057839" cy="994410"/>
          </a:xfrm>
          <a:prstGeom prst="roundRect">
            <a:avLst>
              <a:gd name="adj" fmla="val 4598"/>
            </a:avLst>
          </a:prstGeom>
          <a:solidFill>
            <a:srgbClr val="F3EFFD"/>
          </a:solidFill>
          <a:ln w="9525">
            <a:solidFill>
              <a:srgbClr val="D9CEF5"/>
            </a:solidFill>
            <a:prstDash val="solid"/>
          </a:ln>
        </p:spPr>
      </p:sp>
      <p:sp>
        <p:nvSpPr>
          <p:cNvPr id="14" name="Shape 11"/>
          <p:cNvSpPr/>
          <p:nvPr/>
        </p:nvSpPr>
        <p:spPr>
          <a:xfrm>
            <a:off x="768096" y="4543425"/>
            <a:ext cx="347472" cy="347472"/>
          </a:xfrm>
          <a:prstGeom prst="ellipse">
            <a:avLst/>
          </a:prstGeom>
          <a:solidFill>
            <a:srgbClr val="512BD4"/>
          </a:solidFill>
          <a:ln/>
        </p:spPr>
      </p:sp>
      <p:sp>
        <p:nvSpPr>
          <p:cNvPr id="15" name="Text 12"/>
          <p:cNvSpPr txBox="1"/>
          <p:nvPr/>
        </p:nvSpPr>
        <p:spPr>
          <a:xfrm>
            <a:off x="768096" y="4543425"/>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3"/>
          <p:cNvSpPr txBox="1"/>
          <p:nvPr/>
        </p:nvSpPr>
        <p:spPr>
          <a:xfrm>
            <a:off x="1298448" y="4219956"/>
            <a:ext cx="10097719" cy="994410"/>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Правило   </a:t>
            </a:r>
            <a:pPr indent="0" marL="0">
              <a:buNone/>
            </a:pPr>
            <a:r>
              <a:rPr lang="en-US" sz="1250" dirty="0">
                <a:solidFill>
                  <a:srgbClr val="6E6785"/>
                </a:solidFill>
                <a:latin typeface="Calibri" pitchFamily="34" charset="0"/>
                <a:ea typeface="Calibri" pitchFamily="34" charset="-122"/>
                <a:cs typeface="Calibri" pitchFamily="34" charset="-120"/>
              </a:rPr>
              <a:t>не кладіть у шлях те, що не є частиною ідентичності ресурсу</a:t>
            </a:r>
            <a:endParaRPr lang="en-US" sz="1500" dirty="0"/>
          </a:p>
        </p:txBody>
      </p:sp>
      <p:sp>
        <p:nvSpPr>
          <p:cNvPr id="17" name="Shape 14"/>
          <p:cNvSpPr/>
          <p:nvPr/>
        </p:nvSpPr>
        <p:spPr>
          <a:xfrm>
            <a:off x="566928" y="5333238"/>
            <a:ext cx="11057839" cy="994410"/>
          </a:xfrm>
          <a:prstGeom prst="roundRect">
            <a:avLst>
              <a:gd name="adj" fmla="val 4598"/>
            </a:avLst>
          </a:prstGeom>
          <a:solidFill>
            <a:srgbClr val="F3EFFD"/>
          </a:solidFill>
          <a:ln w="9525">
            <a:solidFill>
              <a:srgbClr val="D9CEF5"/>
            </a:solidFill>
            <a:prstDash val="solid"/>
          </a:ln>
        </p:spPr>
      </p:sp>
      <p:sp>
        <p:nvSpPr>
          <p:cNvPr id="18" name="Shape 15"/>
          <p:cNvSpPr/>
          <p:nvPr/>
        </p:nvSpPr>
        <p:spPr>
          <a:xfrm>
            <a:off x="768096" y="5656707"/>
            <a:ext cx="347472" cy="347472"/>
          </a:xfrm>
          <a:prstGeom prst="ellipse">
            <a:avLst/>
          </a:prstGeom>
          <a:solidFill>
            <a:srgbClr val="512BD4"/>
          </a:solidFill>
          <a:ln/>
        </p:spPr>
      </p:sp>
      <p:sp>
        <p:nvSpPr>
          <p:cNvPr id="19" name="Text 16"/>
          <p:cNvSpPr txBox="1"/>
          <p:nvPr/>
        </p:nvSpPr>
        <p:spPr>
          <a:xfrm>
            <a:off x="768096" y="5656707"/>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7"/>
          <p:cNvSpPr txBox="1"/>
          <p:nvPr/>
        </p:nvSpPr>
        <p:spPr>
          <a:xfrm>
            <a:off x="1298448" y="5333238"/>
            <a:ext cx="10097719" cy="994410"/>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Генерація URL   </a:t>
            </a:r>
            <a:pPr indent="0" marL="0">
              <a:buNone/>
            </a:pPr>
            <a:r>
              <a:rPr lang="en-US" sz="1250" dirty="0">
                <a:solidFill>
                  <a:srgbClr val="6E6785"/>
                </a:solidFill>
                <a:latin typeface="Calibri" pitchFamily="34" charset="0"/>
                <a:ea typeface="Calibri" pitchFamily="34" charset="-122"/>
                <a:cs typeface="Calibri" pitchFamily="34" charset="-120"/>
              </a:rPr>
              <a:t>не склеюйте адреси рядками — LinkGenerator / IUrlHelper будують їх за ІМЕНЕМ маршруту (.WithName), враховуючи PathBase й кодування</a:t>
            </a:r>
            <a:endParaRPr lang="en-US" sz="1500" dirty="0"/>
          </a:p>
        </p:txBody>
      </p:sp>
      <p:sp>
        <p:nvSpPr>
          <p:cNvPr id="21" name="Text 18"/>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41</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3EFFD"/>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Модуль 4 — приклад</a:t>
            </a:r>
            <a:endParaRPr lang="en-US" sz="3000" dirty="0"/>
          </a:p>
        </p:txBody>
      </p:sp>
      <p:sp>
        <p:nvSpPr>
          <p:cNvPr id="4" name="Shape 1"/>
          <p:cNvSpPr/>
          <p:nvPr/>
        </p:nvSpPr>
        <p:spPr>
          <a:xfrm>
            <a:off x="1847088" y="2519172"/>
            <a:ext cx="3566160" cy="502920"/>
          </a:xfrm>
          <a:prstGeom prst="roundRect">
            <a:avLst>
              <a:gd name="adj" fmla="val 12727"/>
            </a:avLst>
          </a:prstGeom>
          <a:solidFill>
            <a:srgbClr val="512BD4"/>
          </a:solidFill>
          <a:ln/>
        </p:spPr>
      </p:sp>
      <p:sp>
        <p:nvSpPr>
          <p:cNvPr id="5" name="Text 2"/>
          <p:cNvSpPr txBox="1"/>
          <p:nvPr/>
        </p:nvSpPr>
        <p:spPr>
          <a:xfrm>
            <a:off x="1847088" y="2519172"/>
            <a:ext cx="356616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09.Routing.Endpoints</a:t>
            </a:r>
            <a:endParaRPr lang="en-US" sz="1400" dirty="0"/>
          </a:p>
        </p:txBody>
      </p:sp>
      <p:sp>
        <p:nvSpPr>
          <p:cNvPr id="6" name="Text 3"/>
          <p:cNvSpPr txBox="1"/>
          <p:nvPr/>
        </p:nvSpPr>
        <p:spPr>
          <a:xfrm>
            <a:off x="1847088" y="3204972"/>
            <a:ext cx="8497519" cy="640080"/>
          </a:xfrm>
          <a:prstGeom prst="rect">
            <a:avLst/>
          </a:prstGeom>
          <a:noFill/>
          <a:ln/>
        </p:spPr>
        <p:txBody>
          <a:bodyPr wrap="square" lIns="0" tIns="0" rIns="0" bIns="0" rtlCol="0" anchor="ctr"/>
          <a:lstStyle/>
          <a:p>
            <a:pPr indent="0" marL="0">
              <a:buNone/>
            </a:pPr>
            <a:r>
              <a:rPr lang="en-US" sz="2800" b="1" dirty="0">
                <a:solidFill>
                  <a:srgbClr val="241C3B"/>
                </a:solidFill>
                <a:latin typeface="Cambria" pitchFamily="34" charset="0"/>
                <a:ea typeface="Cambria" pitchFamily="34" charset="-122"/>
                <a:cs typeface="Cambria" pitchFamily="34" charset="-120"/>
              </a:rPr>
              <a:t>Endpoint routing</a:t>
            </a:r>
            <a:endParaRPr lang="en-US" sz="2800" dirty="0"/>
          </a:p>
        </p:txBody>
      </p:sp>
      <p:sp>
        <p:nvSpPr>
          <p:cNvPr id="7" name="Text 4"/>
          <p:cNvSpPr txBox="1"/>
          <p:nvPr/>
        </p:nvSpPr>
        <p:spPr>
          <a:xfrm>
            <a:off x="1847088" y="3890772"/>
            <a:ext cx="8497519" cy="914400"/>
          </a:xfrm>
          <a:prstGeom prst="rect">
            <a:avLst/>
          </a:prstGeom>
          <a:noFill/>
          <a:ln/>
        </p:spPr>
        <p:txBody>
          <a:bodyPr wrap="square" lIns="0" tIns="0" rIns="0" bIns="0" rtlCol="0" anchor="ctr"/>
          <a:lstStyle/>
          <a:p>
            <a:pPr indent="0" marL="0">
              <a:buNone/>
            </a:pPr>
            <a:r>
              <a:rPr lang="en-US" sz="1500" dirty="0">
                <a:solidFill>
                  <a:srgbClr val="6E6785"/>
                </a:solidFill>
                <a:latin typeface="Calibri" pitchFamily="34" charset="0"/>
                <a:ea typeface="Calibri" pitchFamily="34" charset="-122"/>
                <a:cs typeface="Calibri" pitchFamily="34" charset="-120"/>
              </a:rPr>
              <a:t>constraints, значення за замовчуванням, catch-all, пріоритет, LinkGenerator, middleware між фазами</a:t>
            </a:r>
            <a:endParaRPr lang="en-US" sz="1500" dirty="0"/>
          </a:p>
        </p:txBody>
      </p:sp>
      <p:sp>
        <p:nvSpPr>
          <p:cNvPr id="8" name="Text 5"/>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42</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A1333"/>
        </a:solidFill>
      </p:bgPr>
    </p:bg>
    <p:spTree>
      <p:nvGrpSpPr>
        <p:cNvPr id="1" name=""/>
        <p:cNvGrpSpPr/>
        <p:nvPr/>
      </p:nvGrpSpPr>
      <p:grpSpPr>
        <a:xfrm>
          <a:off x="0" y="0"/>
          <a:ext cx="0" cy="0"/>
          <a:chOff x="0" y="0"/>
          <a:chExt cx="0" cy="0"/>
        </a:xfrm>
      </p:grpSpPr>
      <p:sp>
        <p:nvSpPr>
          <p:cNvPr id="2" name="Text 0"/>
          <p:cNvSpPr txBox="1"/>
          <p:nvPr/>
        </p:nvSpPr>
        <p:spPr>
          <a:xfrm>
            <a:off x="7680960" y="182880"/>
            <a:ext cx="4572000" cy="6400800"/>
          </a:xfrm>
          <a:prstGeom prst="rect">
            <a:avLst/>
          </a:prstGeom>
          <a:noFill/>
          <a:ln/>
        </p:spPr>
        <p:txBody>
          <a:bodyPr wrap="square" lIns="0" tIns="0" rIns="0" bIns="0" rtlCol="0" anchor="ctr"/>
          <a:lstStyle/>
          <a:p>
            <a:pPr algn="r" indent="0" marL="0">
              <a:buNone/>
            </a:pPr>
            <a:r>
              <a:rPr lang="en-US" sz="32000" b="1" dirty="0">
                <a:solidFill>
                  <a:srgbClr val="2A1E52"/>
                </a:solidFill>
                <a:latin typeface="Cambria" pitchFamily="34" charset="0"/>
                <a:ea typeface="Cambria" pitchFamily="34" charset="-122"/>
                <a:cs typeface="Cambria" pitchFamily="34" charset="-120"/>
              </a:rPr>
              <a:t>5</a:t>
            </a:r>
            <a:endParaRPr lang="en-US" sz="32000" dirty="0"/>
          </a:p>
        </p:txBody>
      </p:sp>
      <p:sp>
        <p:nvSpPr>
          <p:cNvPr id="3" name="Text 1"/>
          <p:cNvSpPr txBox="1"/>
          <p:nvPr/>
        </p:nvSpPr>
        <p:spPr>
          <a:xfrm>
            <a:off x="914400" y="2286000"/>
            <a:ext cx="8229600" cy="365760"/>
          </a:xfrm>
          <a:prstGeom prst="rect">
            <a:avLst/>
          </a:prstGeom>
          <a:noFill/>
          <a:ln/>
        </p:spPr>
        <p:txBody>
          <a:bodyPr wrap="square" lIns="0" tIns="0" rIns="0" bIns="0" rtlCol="0" anchor="ctr"/>
          <a:lstStyle/>
          <a:p>
            <a:pPr indent="0" marL="0">
              <a:buNone/>
            </a:pPr>
            <a:r>
              <a:rPr lang="en-US" sz="1500" b="1" spc="300" kern="0" dirty="0">
                <a:solidFill>
                  <a:srgbClr val="0E9C8E"/>
                </a:solidFill>
                <a:latin typeface="Calibri" pitchFamily="34" charset="0"/>
                <a:ea typeface="Calibri" pitchFamily="34" charset="-122"/>
                <a:cs typeface="Calibri" pitchFamily="34" charset="-120"/>
              </a:rPr>
              <a:t>МОДУЛЬ 5</a:t>
            </a:r>
            <a:endParaRPr lang="en-US" sz="1500" dirty="0"/>
          </a:p>
        </p:txBody>
      </p:sp>
      <p:sp>
        <p:nvSpPr>
          <p:cNvPr id="4" name="Text 2"/>
          <p:cNvSpPr txBox="1"/>
          <p:nvPr/>
        </p:nvSpPr>
        <p:spPr>
          <a:xfrm>
            <a:off x="914400" y="2743200"/>
            <a:ext cx="7772400" cy="15544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Побудова API: Minimal API</a:t>
            </a:r>
            <a:endParaRPr lang="en-US" sz="4000" dirty="0"/>
          </a:p>
        </p:txBody>
      </p:sp>
      <p:sp>
        <p:nvSpPr>
          <p:cNvPr id="5" name="Text 3"/>
          <p:cNvSpPr txBox="1"/>
          <p:nvPr/>
        </p:nvSpPr>
        <p:spPr>
          <a:xfrm>
            <a:off x="960120" y="4389120"/>
            <a:ext cx="6949440" cy="1828800"/>
          </a:xfrm>
          <a:prstGeom prst="rect">
            <a:avLst/>
          </a:prstGeom>
          <a:noFill/>
          <a:ln/>
        </p:spPr>
        <p:txBody>
          <a:bodyPr wrap="square" lIns="0" tIns="0" rIns="0" bIns="0" rtlCol="0" anchor="ctr"/>
          <a:lstStyle/>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MapGet/Post/…, MapGroup</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Results / TypedResults</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прив'язка параметрів</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валідація та endpoint filters</a:t>
            </a:r>
            <a:endParaRPr lang="en-US" sz="1400" dirty="0"/>
          </a:p>
        </p:txBody>
      </p:sp>
      <p:sp>
        <p:nvSpPr>
          <p:cNvPr id="6" name="Text 4"/>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9E93C4"/>
                </a:solidFill>
                <a:latin typeface="Calibri" pitchFamily="34" charset="0"/>
                <a:ea typeface="Calibri" pitchFamily="34" charset="-122"/>
                <a:cs typeface="Calibri" pitchFamily="34" charset="-120"/>
              </a:rPr>
              <a:t>43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Minimal API — компактні endpoint-и</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Minimal API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стиль оголошення endpoint-ів без класів-контролерів: хендлер — це лямбда або метод, переданий у MapGet / MapPost. Той самий конвеєр і DI, менше церемоній.</a:t>
            </a:r>
            <a:endParaRPr lang="en-US" sz="1450" dirty="0"/>
          </a:p>
        </p:txBody>
      </p:sp>
      <p:sp>
        <p:nvSpPr>
          <p:cNvPr id="6" name="Shape 3"/>
          <p:cNvSpPr/>
          <p:nvPr/>
        </p:nvSpPr>
        <p:spPr>
          <a:xfrm>
            <a:off x="566928" y="2468880"/>
            <a:ext cx="6949440" cy="3602736"/>
          </a:xfrm>
          <a:prstGeom prst="roundRect">
            <a:avLst>
              <a:gd name="adj" fmla="val 1523"/>
            </a:avLst>
          </a:prstGeom>
          <a:solidFill>
            <a:srgbClr val="201A38"/>
          </a:solidFill>
          <a:ln/>
        </p:spPr>
      </p:sp>
      <p:sp>
        <p:nvSpPr>
          <p:cNvPr id="7" name="Text 4"/>
          <p:cNvSpPr txBox="1"/>
          <p:nvPr/>
        </p:nvSpPr>
        <p:spPr>
          <a:xfrm>
            <a:off x="786384" y="2523744"/>
            <a:ext cx="6510528" cy="3493008"/>
          </a:xfrm>
          <a:prstGeom prst="rect">
            <a:avLst/>
          </a:prstGeom>
          <a:noFill/>
          <a:ln/>
        </p:spPr>
        <p:txBody>
          <a:bodyPr wrap="square" lIns="0" tIns="0" rIns="0" bIns="0" rtlCol="0" anchor="ctr"/>
          <a:lstStyle/>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var products = app.MapGroup("/products").WithTags("Products");</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 </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products.MapGet("/", (ICatalog c) =&gt; c.GetProducts());</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 </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products.MapGet("/{id:int}", (int id, ICatalog c) =&gt;</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    c.FindProduct(id) is { } p ? Results.Ok(p) : Results.NotFound());</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 </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products.MapPost("/", (ProductInput input, ICatalog c) =&gt;</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    var created = c.Add(input);</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    return Results.Created($"/products/{created.Id}", created);</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a:t>
            </a:r>
            <a:endParaRPr lang="en-US" sz="1250" dirty="0"/>
          </a:p>
        </p:txBody>
      </p:sp>
      <p:sp>
        <p:nvSpPr>
          <p:cNvPr id="8" name="Text 5"/>
          <p:cNvSpPr txBox="1"/>
          <p:nvPr/>
        </p:nvSpPr>
        <p:spPr>
          <a:xfrm>
            <a:off x="7882128" y="2468880"/>
            <a:ext cx="3742639" cy="3602736"/>
          </a:xfrm>
          <a:prstGeom prst="rect">
            <a:avLst/>
          </a:prstGeom>
          <a:noFill/>
          <a:ln/>
        </p:spPr>
        <p:txBody>
          <a:bodyPr wrap="square" lIns="0" tIns="0" rIns="0" bIns="0" rtlCol="0" anchor="ctr"/>
          <a:lstStyle/>
          <a:p>
            <a:pPr marL="127000" indent="-127000">
              <a:spcAft>
                <a:spcPts val="1000"/>
              </a:spcAft>
              <a:buSzPct val="100000"/>
              <a:buChar char="•"/>
            </a:pPr>
            <a:r>
              <a:rPr lang="en-US" sz="1300" dirty="0">
                <a:solidFill>
                  <a:srgbClr val="241C3B"/>
                </a:solidFill>
                <a:latin typeface="Calibri" pitchFamily="34" charset="0"/>
                <a:ea typeface="Calibri" pitchFamily="34" charset="-122"/>
                <a:cs typeface="Calibri" pitchFamily="34" charset="-120"/>
              </a:rPr>
              <a:t>MapGroup — спільний префікс, метадані, фільтри</a:t>
            </a:r>
            <a:endParaRPr lang="en-US" sz="1300" dirty="0"/>
          </a:p>
          <a:p>
            <a:pPr marL="127000" indent="-127000">
              <a:spcAft>
                <a:spcPts val="1000"/>
              </a:spcAft>
              <a:buSzPct val="100000"/>
              <a:buChar char="•"/>
            </a:pPr>
            <a:r>
              <a:rPr lang="en-US" sz="1300" dirty="0">
                <a:solidFill>
                  <a:srgbClr val="241C3B"/>
                </a:solidFill>
                <a:latin typeface="Calibri" pitchFamily="34" charset="0"/>
                <a:ea typeface="Calibri" pitchFamily="34" charset="-122"/>
                <a:cs typeface="Calibri" pitchFamily="34" charset="-120"/>
              </a:rPr>
              <a:t>Results.Ok / NotFound / Created / NoContent / BadRequest</a:t>
            </a:r>
            <a:endParaRPr lang="en-US" sz="1300" dirty="0"/>
          </a:p>
          <a:p>
            <a:pPr marL="127000" indent="-127000">
              <a:spcAft>
                <a:spcPts val="1000"/>
              </a:spcAft>
              <a:buSzPct val="100000"/>
              <a:buChar char="•"/>
            </a:pPr>
            <a:r>
              <a:rPr lang="en-US" sz="1300" dirty="0">
                <a:solidFill>
                  <a:srgbClr val="241C3B"/>
                </a:solidFill>
                <a:latin typeface="Calibri" pitchFamily="34" charset="0"/>
                <a:ea typeface="Calibri" pitchFamily="34" charset="-122"/>
                <a:cs typeface="Calibri" pitchFamily="34" charset="-120"/>
              </a:rPr>
              <a:t>Залежності — прямо в параметри хендлера</a:t>
            </a:r>
            <a:endParaRPr lang="en-US" sz="1300" dirty="0"/>
          </a:p>
          <a:p>
            <a:pPr marL="127000" indent="-127000">
              <a:spcAft>
                <a:spcPts val="1000"/>
              </a:spcAft>
              <a:buSzPct val="100000"/>
              <a:buChar char="•"/>
            </a:pPr>
            <a:r>
              <a:rPr lang="en-US" sz="1300" dirty="0">
                <a:solidFill>
                  <a:srgbClr val="241C3B"/>
                </a:solidFill>
                <a:latin typeface="Calibri" pitchFamily="34" charset="0"/>
                <a:ea typeface="Calibri" pitchFamily="34" charset="-122"/>
                <a:cs typeface="Calibri" pitchFamily="34" charset="-120"/>
              </a:rPr>
              <a:t>TypedResults + Results&lt;Ok&lt;T&gt;, NotFound&gt; — точні типи для OpenAPI</a:t>
            </a:r>
            <a:endParaRPr lang="en-US" sz="1300" dirty="0"/>
          </a:p>
        </p:txBody>
      </p:sp>
      <p:sp>
        <p:nvSpPr>
          <p:cNvPr id="9" name="Text 6"/>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44</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Прив'язка параметрів</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Прив'язка (model binding)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автоматичне заповнення параметрів хендлера значеннями із запиту. Фреймворк сам вирішує, звідки брати кожен параметр, за його типом та ім'ям.</a:t>
            </a:r>
            <a:endParaRPr lang="en-US" sz="1450" dirty="0"/>
          </a:p>
        </p:txBody>
      </p:sp>
      <p:pic>
        <p:nvPicPr>
          <p:cNvPr id="6" name="Image 0" descr="C:\Users\Yurii\AppData\Local\Temp\claude\C--Users-Yurii-source-repos---Examples-ASP-NET-AspNet-Basics\130b0e02-3c53-4be1-ac71-0d4d7a5d1c71\scratchpad\deck\assets\d09_binding.png">    </p:cNvPr>
          <p:cNvPicPr>
            <a:picLocks noChangeAspect="1"/>
          </p:cNvPicPr>
          <p:nvPr/>
        </p:nvPicPr>
        <p:blipFill>
          <a:blip r:embed="rId1"/>
          <a:stretch>
            <a:fillRect/>
          </a:stretch>
        </p:blipFill>
        <p:spPr>
          <a:xfrm>
            <a:off x="2215532" y="2276856"/>
            <a:ext cx="7760631" cy="3529584"/>
          </a:xfrm>
          <a:prstGeom prst="rect">
            <a:avLst/>
          </a:prstGeom>
        </p:spPr>
      </p:pic>
      <p:sp>
        <p:nvSpPr>
          <p:cNvPr id="7" name="Shape 3"/>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8" name="Text 4"/>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dirty="0">
                <a:solidFill>
                  <a:srgbClr val="241C3B"/>
                </a:solidFill>
                <a:latin typeface="Calibri" pitchFamily="34" charset="0"/>
                <a:ea typeface="Calibri" pitchFamily="34" charset="-122"/>
                <a:cs typeface="Calibri" pitchFamily="34" charset="-120"/>
              </a:rPr>
              <a:t>Тіло запиту можна прочитати лише ОДИН раз і лише для ОДНОГО параметра.</a:t>
            </a:r>
            <a:endParaRPr lang="en-US" sz="1200" dirty="0"/>
          </a:p>
        </p:txBody>
      </p:sp>
      <p:sp>
        <p:nvSpPr>
          <p:cNvPr id="9" name="Text 5"/>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45</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Джерела прив'язки</a:t>
            </a:r>
            <a:endParaRPr lang="en-US" sz="30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66928" y="1243584"/>
          <a:ext cx="11057839" cy="914400"/>
        </p:xfrm>
        <a:graphic>
          <a:graphicData uri="http://schemas.openxmlformats.org/drawingml/2006/table">
            <a:tbl>
              <a:tblPr/>
              <a:tblGrid>
                <a:gridCol w="2468880"/>
                <a:gridCol w="5486400"/>
                <a:gridCol w="3108960"/>
              </a:tblGrid>
              <a:tr h="651837">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Джерело</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Коли за замовчуванням</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Явний атрибут</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r>
              <a:tr h="651837">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Route values</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ім'я = сегмент {…} у шаблоні</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[FromRoute]</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1837">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Query string</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простий тип, не в маршруті</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[FromQuery]</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651837">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Тіло (JSON)</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складний тип</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[FromBody]</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1837">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Заголовок</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[FromHeader(Name=…)]</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651837">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DI-контейнер</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тип зареєстровано як сервіс</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[FromServices]</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1837">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Спеціальні</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HttpContext, ClaimsPrincipal, CancellationToken</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bl>
          </a:graphicData>
        </a:graphic>
      </p:graphicFrame>
      <p:sp>
        <p:nvSpPr>
          <p:cNvPr id="5" name="Shape 1"/>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6" name="Text 2"/>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i="1" dirty="0">
                <a:solidFill>
                  <a:srgbClr val="241C3B"/>
                </a:solidFill>
                <a:latin typeface="Calibri" pitchFamily="34" charset="0"/>
                <a:ea typeface="Calibri" pitchFamily="34" charset="-122"/>
                <a:cs typeface="Calibri" pitchFamily="34" charset="-120"/>
              </a:rPr>
              <a:t>[AsParameters] розкладає одну структуру на параметри з різних джерел. Власні типи: реалізуйте IParsable&lt;T&gt; (TryParse).</a:t>
            </a:r>
            <a:endParaRPr lang="en-US" sz="1200" dirty="0"/>
          </a:p>
        </p:txBody>
      </p:sp>
      <p:sp>
        <p:nvSpPr>
          <p:cNvPr id="7" name="Text 3"/>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46</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Валідація вводу</a:t>
            </a:r>
            <a:endParaRPr lang="en-US" sz="3000" dirty="0"/>
          </a:p>
        </p:txBody>
      </p:sp>
      <p:sp>
        <p:nvSpPr>
          <p:cNvPr id="4" name="Text 1"/>
          <p:cNvSpPr txBox="1"/>
          <p:nvPr/>
        </p:nvSpPr>
        <p:spPr>
          <a:xfrm>
            <a:off x="566928" y="1243584"/>
            <a:ext cx="11057839" cy="603504"/>
          </a:xfrm>
          <a:prstGeom prst="rect">
            <a:avLst/>
          </a:prstGeom>
          <a:noFill/>
          <a:ln/>
        </p:spPr>
        <p:txBody>
          <a:bodyPr wrap="square" lIns="0" tIns="0" rIns="0" bIns="0" rtlCol="0" anchor="t"/>
          <a:lstStyle/>
          <a:p>
            <a:pPr indent="0" marL="0">
              <a:lnSpc>
                <a:spcPct val="116000"/>
              </a:lnSpc>
              <a:buNone/>
            </a:pPr>
            <a:r>
              <a:rPr lang="en-US" sz="1300" dirty="0">
                <a:solidFill>
                  <a:srgbClr val="241C3B"/>
                </a:solidFill>
                <a:latin typeface="Calibri" pitchFamily="34" charset="0"/>
                <a:ea typeface="Calibri" pitchFamily="34" charset="-122"/>
                <a:cs typeface="Calibri" pitchFamily="34" charset="-120"/>
              </a:rPr>
              <a:t>Валідація — це перевірка, що зв'язані дані мають сенс (обов'язкові поля заповнені, число в діапазоні). Дві стратегії, які доповнюють одна одну:</a:t>
            </a:r>
            <a:endParaRPr lang="en-US" sz="1300" dirty="0"/>
          </a:p>
        </p:txBody>
      </p:sp>
      <p:sp>
        <p:nvSpPr>
          <p:cNvPr id="5" name="Shape 2"/>
          <p:cNvSpPr/>
          <p:nvPr/>
        </p:nvSpPr>
        <p:spPr>
          <a:xfrm>
            <a:off x="566928" y="1993392"/>
            <a:ext cx="11057839" cy="1005840"/>
          </a:xfrm>
          <a:prstGeom prst="roundRect">
            <a:avLst>
              <a:gd name="adj" fmla="val 4545"/>
            </a:avLst>
          </a:prstGeom>
          <a:solidFill>
            <a:srgbClr val="F3EFFD"/>
          </a:solidFill>
          <a:ln w="9525">
            <a:solidFill>
              <a:srgbClr val="D9CEF5"/>
            </a:solidFill>
            <a:prstDash val="solid"/>
          </a:ln>
        </p:spPr>
      </p:sp>
      <p:sp>
        <p:nvSpPr>
          <p:cNvPr id="6" name="Shape 3"/>
          <p:cNvSpPr/>
          <p:nvPr/>
        </p:nvSpPr>
        <p:spPr>
          <a:xfrm>
            <a:off x="768096" y="2322576"/>
            <a:ext cx="347472" cy="347472"/>
          </a:xfrm>
          <a:prstGeom prst="ellipse">
            <a:avLst/>
          </a:prstGeom>
          <a:solidFill>
            <a:srgbClr val="512BD4"/>
          </a:solidFill>
          <a:ln/>
        </p:spPr>
      </p:sp>
      <p:sp>
        <p:nvSpPr>
          <p:cNvPr id="7" name="Text 4"/>
          <p:cNvSpPr txBox="1"/>
          <p:nvPr/>
        </p:nvSpPr>
        <p:spPr>
          <a:xfrm>
            <a:off x="768096" y="23225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298448" y="1993392"/>
            <a:ext cx="10097719" cy="1005840"/>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Вбудована — AddValidation() (.NET 10)   </a:t>
            </a:r>
            <a:pPr indent="0" marL="0">
              <a:buNone/>
            </a:pPr>
            <a:r>
              <a:rPr lang="en-US" sz="1250" dirty="0">
                <a:solidFill>
                  <a:srgbClr val="6E6785"/>
                </a:solidFill>
                <a:latin typeface="Calibri" pitchFamily="34" charset="0"/>
                <a:ea typeface="Calibri" pitchFamily="34" charset="-122"/>
                <a:cs typeface="Calibri" pitchFamily="34" charset="-120"/>
              </a:rPr>
              <a:t>моделі з атрибутами DataAnnotations перевіряються ДО виклику хендлера; помилка → 400 application/problem+json з полем errors</a:t>
            </a:r>
            <a:endParaRPr lang="en-US" sz="1500" dirty="0"/>
          </a:p>
        </p:txBody>
      </p:sp>
      <p:sp>
        <p:nvSpPr>
          <p:cNvPr id="9" name="Shape 6"/>
          <p:cNvSpPr/>
          <p:nvPr/>
        </p:nvSpPr>
        <p:spPr>
          <a:xfrm>
            <a:off x="566928" y="3118104"/>
            <a:ext cx="11057839" cy="1005840"/>
          </a:xfrm>
          <a:prstGeom prst="roundRect">
            <a:avLst>
              <a:gd name="adj" fmla="val 4545"/>
            </a:avLst>
          </a:prstGeom>
          <a:solidFill>
            <a:srgbClr val="F3EFFD"/>
          </a:solidFill>
          <a:ln w="9525">
            <a:solidFill>
              <a:srgbClr val="D9CEF5"/>
            </a:solidFill>
            <a:prstDash val="solid"/>
          </a:ln>
        </p:spPr>
      </p:sp>
      <p:sp>
        <p:nvSpPr>
          <p:cNvPr id="10" name="Shape 7"/>
          <p:cNvSpPr/>
          <p:nvPr/>
        </p:nvSpPr>
        <p:spPr>
          <a:xfrm>
            <a:off x="768096" y="3447288"/>
            <a:ext cx="347472" cy="347472"/>
          </a:xfrm>
          <a:prstGeom prst="ellipse">
            <a:avLst/>
          </a:prstGeom>
          <a:solidFill>
            <a:srgbClr val="512BD4"/>
          </a:solidFill>
          <a:ln/>
        </p:spPr>
      </p:sp>
      <p:sp>
        <p:nvSpPr>
          <p:cNvPr id="11" name="Text 8"/>
          <p:cNvSpPr txBox="1"/>
          <p:nvPr/>
        </p:nvSpPr>
        <p:spPr>
          <a:xfrm>
            <a:off x="768096" y="344728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txBox="1"/>
          <p:nvPr/>
        </p:nvSpPr>
        <p:spPr>
          <a:xfrm>
            <a:off x="1298448" y="3118104"/>
            <a:ext cx="10097719" cy="1005840"/>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Endpoint filter   </a:t>
            </a:r>
            <a:pPr indent="0" marL="0">
              <a:buNone/>
            </a:pPr>
            <a:r>
              <a:rPr lang="en-US" sz="1250" dirty="0">
                <a:solidFill>
                  <a:srgbClr val="6E6785"/>
                </a:solidFill>
                <a:latin typeface="Calibri" pitchFamily="34" charset="0"/>
                <a:ea typeface="Calibri" pitchFamily="34" charset="-122"/>
                <a:cs typeface="Calibri" pitchFamily="34" charset="-120"/>
              </a:rPr>
              <a:t>AddEndpointFilter — «middleware рівня endpoint»: бачить уже зв'язані аргументи; для крос-польових правил і звірки з базою</a:t>
            </a:r>
            <a:endParaRPr lang="en-US" sz="1500" dirty="0"/>
          </a:p>
        </p:txBody>
      </p:sp>
      <p:sp>
        <p:nvSpPr>
          <p:cNvPr id="13" name="Shape 10"/>
          <p:cNvSpPr/>
          <p:nvPr/>
        </p:nvSpPr>
        <p:spPr>
          <a:xfrm>
            <a:off x="566928" y="4242816"/>
            <a:ext cx="11057839" cy="1005840"/>
          </a:xfrm>
          <a:prstGeom prst="roundRect">
            <a:avLst>
              <a:gd name="adj" fmla="val 4545"/>
            </a:avLst>
          </a:prstGeom>
          <a:solidFill>
            <a:srgbClr val="F3EFFD"/>
          </a:solidFill>
          <a:ln w="9525">
            <a:solidFill>
              <a:srgbClr val="D9CEF5"/>
            </a:solidFill>
            <a:prstDash val="solid"/>
          </a:ln>
        </p:spPr>
      </p:sp>
      <p:sp>
        <p:nvSpPr>
          <p:cNvPr id="14" name="Shape 11"/>
          <p:cNvSpPr/>
          <p:nvPr/>
        </p:nvSpPr>
        <p:spPr>
          <a:xfrm>
            <a:off x="768096" y="4572000"/>
            <a:ext cx="347472" cy="347472"/>
          </a:xfrm>
          <a:prstGeom prst="ellipse">
            <a:avLst/>
          </a:prstGeom>
          <a:solidFill>
            <a:srgbClr val="512BD4"/>
          </a:solidFill>
          <a:ln/>
        </p:spPr>
      </p:sp>
      <p:sp>
        <p:nvSpPr>
          <p:cNvPr id="15" name="Text 12"/>
          <p:cNvSpPr txBox="1"/>
          <p:nvPr/>
        </p:nvSpPr>
        <p:spPr>
          <a:xfrm>
            <a:off x="768096" y="45720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3"/>
          <p:cNvSpPr txBox="1"/>
          <p:nvPr/>
        </p:nvSpPr>
        <p:spPr>
          <a:xfrm>
            <a:off x="1298448" y="4242816"/>
            <a:ext cx="10097719" cy="1005840"/>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Прив'язка ≠ валідація   </a:t>
            </a:r>
            <a:pPr indent="0" marL="0">
              <a:buNone/>
            </a:pPr>
            <a:r>
              <a:rPr lang="en-US" sz="1250" dirty="0">
                <a:solidFill>
                  <a:srgbClr val="6E6785"/>
                </a:solidFill>
                <a:latin typeface="Calibri" pitchFamily="34" charset="0"/>
                <a:ea typeface="Calibri" pitchFamily="34" charset="-122"/>
                <a:cs typeface="Calibri" pitchFamily="34" charset="-120"/>
              </a:rPr>
              <a:t>якщо int узагалі не зв'язався (отримав "abc") — це помилка ПРИВ'ЯЗКИ, вона дає 400 ще раніше, з іншим тілом</a:t>
            </a:r>
            <a:endParaRPr lang="en-US" sz="1500" dirty="0"/>
          </a:p>
        </p:txBody>
      </p:sp>
      <p:sp>
        <p:nvSpPr>
          <p:cNvPr id="17" name="Shape 14"/>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18" name="Text 15"/>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i="1" dirty="0">
                <a:solidFill>
                  <a:srgbClr val="241C3B"/>
                </a:solidFill>
                <a:latin typeface="Calibri" pitchFamily="34" charset="0"/>
                <a:ea typeface="Calibri" pitchFamily="34" charset="-122"/>
                <a:cs typeface="Calibri" pitchFamily="34" charset="-120"/>
              </a:rPr>
              <a:t>Коди CRUD: список/читання 200 · створення 201 + Location · заміна 200/204 · видалення 204 · немає ресурсу 404.</a:t>
            </a:r>
            <a:endParaRPr lang="en-US" sz="1200" dirty="0"/>
          </a:p>
        </p:txBody>
      </p:sp>
      <p:sp>
        <p:nvSpPr>
          <p:cNvPr id="19" name="Text 16"/>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47</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3EFFD"/>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Модуль 5 — приклади</a:t>
            </a:r>
            <a:endParaRPr lang="en-US" sz="3000" dirty="0"/>
          </a:p>
        </p:txBody>
      </p:sp>
      <p:sp>
        <p:nvSpPr>
          <p:cNvPr id="4" name="Shape 1"/>
          <p:cNvSpPr/>
          <p:nvPr/>
        </p:nvSpPr>
        <p:spPr>
          <a:xfrm>
            <a:off x="566928" y="1833372"/>
            <a:ext cx="11057839" cy="1828800"/>
          </a:xfrm>
          <a:prstGeom prst="roundRect">
            <a:avLst>
              <a:gd name="adj" fmla="val 3500"/>
            </a:avLst>
          </a:prstGeom>
          <a:solidFill>
            <a:srgbClr val="FFFFFF"/>
          </a:solidFill>
          <a:ln w="12700">
            <a:solidFill>
              <a:srgbClr val="D9CEF5"/>
            </a:solidFill>
            <a:prstDash val="solid"/>
          </a:ln>
        </p:spPr>
      </p:sp>
      <p:sp>
        <p:nvSpPr>
          <p:cNvPr id="5" name="Shape 2"/>
          <p:cNvSpPr/>
          <p:nvPr/>
        </p:nvSpPr>
        <p:spPr>
          <a:xfrm>
            <a:off x="795528" y="2574036"/>
            <a:ext cx="2926080" cy="347472"/>
          </a:xfrm>
          <a:prstGeom prst="roundRect">
            <a:avLst>
              <a:gd name="adj" fmla="val 13158"/>
            </a:avLst>
          </a:prstGeom>
          <a:solidFill>
            <a:srgbClr val="E7DFFA"/>
          </a:solidFill>
          <a:ln/>
        </p:spPr>
      </p:sp>
      <p:sp>
        <p:nvSpPr>
          <p:cNvPr id="6" name="Text 3"/>
          <p:cNvSpPr txBox="1"/>
          <p:nvPr/>
        </p:nvSpPr>
        <p:spPr>
          <a:xfrm>
            <a:off x="795528" y="2574036"/>
            <a:ext cx="2926080" cy="347472"/>
          </a:xfrm>
          <a:prstGeom prst="rect">
            <a:avLst/>
          </a:prstGeom>
          <a:noFill/>
          <a:ln/>
        </p:spPr>
        <p:txBody>
          <a:bodyPr wrap="square" lIns="0" tIns="0" rIns="0" bIns="0" rtlCol="0" anchor="ctr"/>
          <a:lstStyle/>
          <a:p>
            <a:pPr algn="ctr" indent="0" marL="0">
              <a:buNone/>
            </a:pPr>
            <a:r>
              <a:rPr lang="en-US" sz="1100" b="1" dirty="0">
                <a:solidFill>
                  <a:srgbClr val="512BD4"/>
                </a:solidFill>
                <a:latin typeface="Courier New" pitchFamily="34" charset="0"/>
                <a:ea typeface="Courier New" pitchFamily="34" charset="-122"/>
                <a:cs typeface="Courier New" pitchFamily="34" charset="-120"/>
              </a:rPr>
              <a:t>10.MinimalApi.Crud</a:t>
            </a:r>
            <a:endParaRPr lang="en-US" sz="1100" dirty="0"/>
          </a:p>
        </p:txBody>
      </p:sp>
      <p:sp>
        <p:nvSpPr>
          <p:cNvPr id="7" name="Text 4"/>
          <p:cNvSpPr txBox="1"/>
          <p:nvPr/>
        </p:nvSpPr>
        <p:spPr>
          <a:xfrm>
            <a:off x="3995928" y="1833372"/>
            <a:ext cx="7400239" cy="1828800"/>
          </a:xfrm>
          <a:prstGeom prst="rect">
            <a:avLst/>
          </a:prstGeom>
          <a:noFill/>
          <a:ln/>
        </p:spPr>
        <p:txBody>
          <a:bodyPr wrap="square" lIns="0" tIns="0" rIns="0" bIns="0" rtlCol="0" anchor="ctr"/>
          <a:lstStyle/>
          <a:p>
            <a:pPr indent="0" marL="0">
              <a:buNone/>
            </a:pPr>
            <a:r>
              <a:rPr lang="en-US" sz="1250" b="1" dirty="0">
                <a:solidFill>
                  <a:srgbClr val="241C3B"/>
                </a:solidFill>
                <a:latin typeface="Calibri" pitchFamily="34" charset="0"/>
                <a:ea typeface="Calibri" pitchFamily="34" charset="-122"/>
                <a:cs typeface="Calibri" pitchFamily="34" charset="-120"/>
              </a:rPr>
              <a:t>Повний CRUD  —  </a:t>
            </a:r>
            <a:pPr indent="0" marL="0">
              <a:buNone/>
            </a:pPr>
            <a:r>
              <a:rPr lang="en-US" sz="1250" dirty="0">
                <a:solidFill>
                  <a:srgbClr val="6E6785"/>
                </a:solidFill>
                <a:latin typeface="Calibri" pitchFamily="34" charset="0"/>
                <a:ea typeface="Calibri" pitchFamily="34" charset="-122"/>
                <a:cs typeface="Calibri" pitchFamily="34" charset="-120"/>
              </a:rPr>
              <a:t>MapGroup, Results, коди відповідей, заголовок Location, ідемпотентність</a:t>
            </a:r>
            <a:endParaRPr lang="en-US" sz="1250" dirty="0"/>
          </a:p>
        </p:txBody>
      </p:sp>
      <p:sp>
        <p:nvSpPr>
          <p:cNvPr id="8" name="Shape 5"/>
          <p:cNvSpPr/>
          <p:nvPr/>
        </p:nvSpPr>
        <p:spPr>
          <a:xfrm>
            <a:off x="566928" y="3845052"/>
            <a:ext cx="11057839" cy="1828800"/>
          </a:xfrm>
          <a:prstGeom prst="roundRect">
            <a:avLst>
              <a:gd name="adj" fmla="val 3500"/>
            </a:avLst>
          </a:prstGeom>
          <a:solidFill>
            <a:srgbClr val="FFFFFF"/>
          </a:solidFill>
          <a:ln w="12700">
            <a:solidFill>
              <a:srgbClr val="D9CEF5"/>
            </a:solidFill>
            <a:prstDash val="solid"/>
          </a:ln>
        </p:spPr>
      </p:sp>
      <p:sp>
        <p:nvSpPr>
          <p:cNvPr id="9" name="Shape 6"/>
          <p:cNvSpPr/>
          <p:nvPr/>
        </p:nvSpPr>
        <p:spPr>
          <a:xfrm>
            <a:off x="795528" y="4585716"/>
            <a:ext cx="2926080" cy="347472"/>
          </a:xfrm>
          <a:prstGeom prst="roundRect">
            <a:avLst>
              <a:gd name="adj" fmla="val 13158"/>
            </a:avLst>
          </a:prstGeom>
          <a:solidFill>
            <a:srgbClr val="E7DFFA"/>
          </a:solidFill>
          <a:ln/>
        </p:spPr>
      </p:sp>
      <p:sp>
        <p:nvSpPr>
          <p:cNvPr id="10" name="Text 7"/>
          <p:cNvSpPr txBox="1"/>
          <p:nvPr/>
        </p:nvSpPr>
        <p:spPr>
          <a:xfrm>
            <a:off x="795528" y="4585716"/>
            <a:ext cx="2926080" cy="347472"/>
          </a:xfrm>
          <a:prstGeom prst="rect">
            <a:avLst/>
          </a:prstGeom>
          <a:noFill/>
          <a:ln/>
        </p:spPr>
        <p:txBody>
          <a:bodyPr wrap="square" lIns="0" tIns="0" rIns="0" bIns="0" rtlCol="0" anchor="ctr"/>
          <a:lstStyle/>
          <a:p>
            <a:pPr algn="ctr" indent="0" marL="0">
              <a:buNone/>
            </a:pPr>
            <a:r>
              <a:rPr lang="en-US" sz="1100" b="1" dirty="0">
                <a:solidFill>
                  <a:srgbClr val="512BD4"/>
                </a:solidFill>
                <a:latin typeface="Courier New" pitchFamily="34" charset="0"/>
                <a:ea typeface="Courier New" pitchFamily="34" charset="-122"/>
                <a:cs typeface="Courier New" pitchFamily="34" charset="-120"/>
              </a:rPr>
              <a:t>11.MinimalApi.Binding…</a:t>
            </a:r>
            <a:endParaRPr lang="en-US" sz="1100" dirty="0"/>
          </a:p>
        </p:txBody>
      </p:sp>
      <p:sp>
        <p:nvSpPr>
          <p:cNvPr id="11" name="Text 8"/>
          <p:cNvSpPr txBox="1"/>
          <p:nvPr/>
        </p:nvSpPr>
        <p:spPr>
          <a:xfrm>
            <a:off x="3995928" y="3845052"/>
            <a:ext cx="7400239" cy="1828800"/>
          </a:xfrm>
          <a:prstGeom prst="rect">
            <a:avLst/>
          </a:prstGeom>
          <a:noFill/>
          <a:ln/>
        </p:spPr>
        <p:txBody>
          <a:bodyPr wrap="square" lIns="0" tIns="0" rIns="0" bIns="0" rtlCol="0" anchor="ctr"/>
          <a:lstStyle/>
          <a:p>
            <a:pPr indent="0" marL="0">
              <a:buNone/>
            </a:pPr>
            <a:r>
              <a:rPr lang="en-US" sz="1250" b="1" dirty="0">
                <a:solidFill>
                  <a:srgbClr val="241C3B"/>
                </a:solidFill>
                <a:latin typeface="Calibri" pitchFamily="34" charset="0"/>
                <a:ea typeface="Calibri" pitchFamily="34" charset="-122"/>
                <a:cs typeface="Calibri" pitchFamily="34" charset="-120"/>
              </a:rPr>
              <a:t>Прив'язка та валідація  —  </a:t>
            </a:r>
            <a:pPr indent="0" marL="0">
              <a:buNone/>
            </a:pPr>
            <a:r>
              <a:rPr lang="en-US" sz="1250" dirty="0">
                <a:solidFill>
                  <a:srgbClr val="6E6785"/>
                </a:solidFill>
                <a:latin typeface="Calibri" pitchFamily="34" charset="0"/>
                <a:ea typeface="Calibri" pitchFamily="34" charset="-122"/>
                <a:cs typeface="Calibri" pitchFamily="34" charset="-120"/>
              </a:rPr>
              <a:t>джерела параметрів, [AsParameters], AddValidation, endpoint filter</a:t>
            </a:r>
            <a:endParaRPr lang="en-US" sz="1250" dirty="0"/>
          </a:p>
        </p:txBody>
      </p:sp>
      <p:sp>
        <p:nvSpPr>
          <p:cNvPr id="12" name="Text 9"/>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48</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A1333"/>
        </a:solidFill>
      </p:bgPr>
    </p:bg>
    <p:spTree>
      <p:nvGrpSpPr>
        <p:cNvPr id="1" name=""/>
        <p:cNvGrpSpPr/>
        <p:nvPr/>
      </p:nvGrpSpPr>
      <p:grpSpPr>
        <a:xfrm>
          <a:off x="0" y="0"/>
          <a:ext cx="0" cy="0"/>
          <a:chOff x="0" y="0"/>
          <a:chExt cx="0" cy="0"/>
        </a:xfrm>
      </p:grpSpPr>
      <p:sp>
        <p:nvSpPr>
          <p:cNvPr id="2" name="Text 0"/>
          <p:cNvSpPr txBox="1"/>
          <p:nvPr/>
        </p:nvSpPr>
        <p:spPr>
          <a:xfrm>
            <a:off x="7680960" y="182880"/>
            <a:ext cx="4572000" cy="6400800"/>
          </a:xfrm>
          <a:prstGeom prst="rect">
            <a:avLst/>
          </a:prstGeom>
          <a:noFill/>
          <a:ln/>
        </p:spPr>
        <p:txBody>
          <a:bodyPr wrap="square" lIns="0" tIns="0" rIns="0" bIns="0" rtlCol="0" anchor="ctr"/>
          <a:lstStyle/>
          <a:p>
            <a:pPr algn="r" indent="0" marL="0">
              <a:buNone/>
            </a:pPr>
            <a:r>
              <a:rPr lang="en-US" sz="32000" b="1" dirty="0">
                <a:solidFill>
                  <a:srgbClr val="2A1E52"/>
                </a:solidFill>
                <a:latin typeface="Cambria" pitchFamily="34" charset="0"/>
                <a:ea typeface="Cambria" pitchFamily="34" charset="-122"/>
                <a:cs typeface="Cambria" pitchFamily="34" charset="-120"/>
              </a:rPr>
              <a:t>6</a:t>
            </a:r>
            <a:endParaRPr lang="en-US" sz="32000" dirty="0"/>
          </a:p>
        </p:txBody>
      </p:sp>
      <p:sp>
        <p:nvSpPr>
          <p:cNvPr id="3" name="Text 1"/>
          <p:cNvSpPr txBox="1"/>
          <p:nvPr/>
        </p:nvSpPr>
        <p:spPr>
          <a:xfrm>
            <a:off x="914400" y="2286000"/>
            <a:ext cx="8229600" cy="365760"/>
          </a:xfrm>
          <a:prstGeom prst="rect">
            <a:avLst/>
          </a:prstGeom>
          <a:noFill/>
          <a:ln/>
        </p:spPr>
        <p:txBody>
          <a:bodyPr wrap="square" lIns="0" tIns="0" rIns="0" bIns="0" rtlCol="0" anchor="ctr"/>
          <a:lstStyle/>
          <a:p>
            <a:pPr indent="0" marL="0">
              <a:buNone/>
            </a:pPr>
            <a:r>
              <a:rPr lang="en-US" sz="1500" b="1" spc="300" kern="0" dirty="0">
                <a:solidFill>
                  <a:srgbClr val="0E9C8E"/>
                </a:solidFill>
                <a:latin typeface="Calibri" pitchFamily="34" charset="0"/>
                <a:ea typeface="Calibri" pitchFamily="34" charset="-122"/>
                <a:cs typeface="Calibri" pitchFamily="34" charset="-120"/>
              </a:rPr>
              <a:t>МОДУЛЬ 6</a:t>
            </a:r>
            <a:endParaRPr lang="en-US" sz="1500" dirty="0"/>
          </a:p>
        </p:txBody>
      </p:sp>
      <p:sp>
        <p:nvSpPr>
          <p:cNvPr id="4" name="Text 2"/>
          <p:cNvSpPr txBox="1"/>
          <p:nvPr/>
        </p:nvSpPr>
        <p:spPr>
          <a:xfrm>
            <a:off x="914400" y="2743200"/>
            <a:ext cx="7772400" cy="15544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Побудова API: MVC-контролери</a:t>
            </a:r>
            <a:endParaRPr lang="en-US" sz="4000" dirty="0"/>
          </a:p>
        </p:txBody>
      </p:sp>
      <p:sp>
        <p:nvSpPr>
          <p:cNvPr id="5" name="Text 3"/>
          <p:cNvSpPr txBox="1"/>
          <p:nvPr/>
        </p:nvSpPr>
        <p:spPr>
          <a:xfrm>
            <a:off x="960120" y="4389120"/>
            <a:ext cx="6949440" cy="1828800"/>
          </a:xfrm>
          <a:prstGeom prst="rect">
            <a:avLst/>
          </a:prstGeom>
          <a:noFill/>
          <a:ln/>
        </p:spPr>
        <p:txBody>
          <a:bodyPr wrap="square" lIns="0" tIns="0" rIns="0" bIns="0" rtlCol="0" anchor="ctr"/>
          <a:lstStyle/>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AddControllers / MapControllers</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[ApiController], ActionResult&lt;T&gt;, ModelState</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5 типів фільтрів і їхній порядок</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фільтр vs middleware</a:t>
            </a:r>
            <a:endParaRPr lang="en-US" sz="1400" dirty="0"/>
          </a:p>
        </p:txBody>
      </p:sp>
      <p:sp>
        <p:nvSpPr>
          <p:cNvPr id="6" name="Text 4"/>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9E93C4"/>
                </a:solidFill>
                <a:latin typeface="Calibri" pitchFamily="34" charset="0"/>
                <a:ea typeface="Calibri" pitchFamily="34" charset="-122"/>
                <a:cs typeface="Calibri" pitchFamily="34" charset="-120"/>
              </a:rPr>
              <a:t>49</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Контролери: коли й що</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Контролер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клас, що групує кілька споріднених endpoint-ів («дій») одного ресурсу. Той самий конвеєр і DI, що й у Minimal API — лише інша форма оголошення обробників.</a:t>
            </a:r>
            <a:endParaRPr lang="en-US" sz="1450" dirty="0"/>
          </a:p>
        </p:txBody>
      </p:sp>
      <p:sp>
        <p:nvSpPr>
          <p:cNvPr id="6" name="Shape 3"/>
          <p:cNvSpPr/>
          <p:nvPr/>
        </p:nvSpPr>
        <p:spPr>
          <a:xfrm>
            <a:off x="566928" y="2231136"/>
            <a:ext cx="11057839" cy="934974"/>
          </a:xfrm>
          <a:prstGeom prst="roundRect">
            <a:avLst>
              <a:gd name="adj" fmla="val 4890"/>
            </a:avLst>
          </a:prstGeom>
          <a:solidFill>
            <a:srgbClr val="F3EFFD"/>
          </a:solidFill>
          <a:ln w="9525">
            <a:solidFill>
              <a:srgbClr val="D9CEF5"/>
            </a:solidFill>
            <a:prstDash val="solid"/>
          </a:ln>
        </p:spPr>
      </p:sp>
      <p:sp>
        <p:nvSpPr>
          <p:cNvPr id="7" name="Shape 4"/>
          <p:cNvSpPr/>
          <p:nvPr/>
        </p:nvSpPr>
        <p:spPr>
          <a:xfrm>
            <a:off x="768096" y="2524887"/>
            <a:ext cx="347472" cy="347472"/>
          </a:xfrm>
          <a:prstGeom prst="ellipse">
            <a:avLst/>
          </a:prstGeom>
          <a:solidFill>
            <a:srgbClr val="512BD4"/>
          </a:solidFill>
          <a:ln/>
        </p:spPr>
      </p:sp>
      <p:sp>
        <p:nvSpPr>
          <p:cNvPr id="8" name="Text 5"/>
          <p:cNvSpPr txBox="1"/>
          <p:nvPr/>
        </p:nvSpPr>
        <p:spPr>
          <a:xfrm>
            <a:off x="768096" y="2524887"/>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1298448" y="2231136"/>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Коли доречно   </a:t>
            </a:r>
            <a:pPr indent="0" marL="0">
              <a:buNone/>
            </a:pPr>
            <a:r>
              <a:rPr lang="en-US" sz="1250" dirty="0">
                <a:solidFill>
                  <a:srgbClr val="6E6785"/>
                </a:solidFill>
                <a:latin typeface="Calibri" pitchFamily="34" charset="0"/>
                <a:ea typeface="Calibri" pitchFamily="34" charset="-122"/>
                <a:cs typeface="Calibri" pitchFamily="34" charset="-120"/>
              </a:rPr>
              <a:t>багато споріднених endpoint-ів зі спільною поведінкою, потрібні фільтри й конвенції, успадкування, великі команди</a:t>
            </a:r>
            <a:endParaRPr lang="en-US" sz="1500" dirty="0"/>
          </a:p>
        </p:txBody>
      </p:sp>
      <p:sp>
        <p:nvSpPr>
          <p:cNvPr id="10" name="Shape 7"/>
          <p:cNvSpPr/>
          <p:nvPr/>
        </p:nvSpPr>
        <p:spPr>
          <a:xfrm>
            <a:off x="566928" y="3284982"/>
            <a:ext cx="11057839" cy="934974"/>
          </a:xfrm>
          <a:prstGeom prst="roundRect">
            <a:avLst>
              <a:gd name="adj" fmla="val 4890"/>
            </a:avLst>
          </a:prstGeom>
          <a:solidFill>
            <a:srgbClr val="F3EFFD"/>
          </a:solidFill>
          <a:ln w="9525">
            <a:solidFill>
              <a:srgbClr val="D9CEF5"/>
            </a:solidFill>
            <a:prstDash val="solid"/>
          </a:ln>
        </p:spPr>
      </p:sp>
      <p:sp>
        <p:nvSpPr>
          <p:cNvPr id="11" name="Shape 8"/>
          <p:cNvSpPr/>
          <p:nvPr/>
        </p:nvSpPr>
        <p:spPr>
          <a:xfrm>
            <a:off x="768096" y="3578733"/>
            <a:ext cx="347472" cy="347472"/>
          </a:xfrm>
          <a:prstGeom prst="ellipse">
            <a:avLst/>
          </a:prstGeom>
          <a:solidFill>
            <a:srgbClr val="512BD4"/>
          </a:solidFill>
          <a:ln/>
        </p:spPr>
      </p:sp>
      <p:sp>
        <p:nvSpPr>
          <p:cNvPr id="12" name="Text 9"/>
          <p:cNvSpPr txBox="1"/>
          <p:nvPr/>
        </p:nvSpPr>
        <p:spPr>
          <a:xfrm>
            <a:off x="768096" y="3578733"/>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298448" y="3284982"/>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AddControllers()   </a:t>
            </a:r>
            <a:pPr indent="0" marL="0">
              <a:buNone/>
            </a:pPr>
            <a:r>
              <a:rPr lang="en-US" sz="1250" dirty="0">
                <a:solidFill>
                  <a:srgbClr val="6E6785"/>
                </a:solidFill>
                <a:latin typeface="Calibri" pitchFamily="34" charset="0"/>
                <a:ea typeface="Calibri" pitchFamily="34" charset="-122"/>
                <a:cs typeface="Calibri" pitchFamily="34" charset="-120"/>
              </a:rPr>
              <a:t>реєструє інфраструктуру MVC: активацію контролерів, model binding, форматери, ApiExplorer</a:t>
            </a:r>
            <a:endParaRPr lang="en-US" sz="1500" dirty="0"/>
          </a:p>
        </p:txBody>
      </p:sp>
      <p:sp>
        <p:nvSpPr>
          <p:cNvPr id="14" name="Shape 11"/>
          <p:cNvSpPr/>
          <p:nvPr/>
        </p:nvSpPr>
        <p:spPr>
          <a:xfrm>
            <a:off x="566928" y="4338828"/>
            <a:ext cx="11057839" cy="934974"/>
          </a:xfrm>
          <a:prstGeom prst="roundRect">
            <a:avLst>
              <a:gd name="adj" fmla="val 4890"/>
            </a:avLst>
          </a:prstGeom>
          <a:solidFill>
            <a:srgbClr val="F3EFFD"/>
          </a:solidFill>
          <a:ln w="9525">
            <a:solidFill>
              <a:srgbClr val="D9CEF5"/>
            </a:solidFill>
            <a:prstDash val="solid"/>
          </a:ln>
        </p:spPr>
      </p:sp>
      <p:sp>
        <p:nvSpPr>
          <p:cNvPr id="15" name="Shape 12"/>
          <p:cNvSpPr/>
          <p:nvPr/>
        </p:nvSpPr>
        <p:spPr>
          <a:xfrm>
            <a:off x="768096" y="4632579"/>
            <a:ext cx="347472" cy="347472"/>
          </a:xfrm>
          <a:prstGeom prst="ellipse">
            <a:avLst/>
          </a:prstGeom>
          <a:solidFill>
            <a:srgbClr val="512BD4"/>
          </a:solidFill>
          <a:ln/>
        </p:spPr>
      </p:sp>
      <p:sp>
        <p:nvSpPr>
          <p:cNvPr id="16" name="Text 13"/>
          <p:cNvSpPr txBox="1"/>
          <p:nvPr/>
        </p:nvSpPr>
        <p:spPr>
          <a:xfrm>
            <a:off x="768096" y="4632579"/>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txBox="1"/>
          <p:nvPr/>
        </p:nvSpPr>
        <p:spPr>
          <a:xfrm>
            <a:off x="1298448" y="4338828"/>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MapControllers()   </a:t>
            </a:r>
            <a:pPr indent="0" marL="0">
              <a:buNone/>
            </a:pPr>
            <a:r>
              <a:rPr lang="en-US" sz="1250" dirty="0">
                <a:solidFill>
                  <a:srgbClr val="6E6785"/>
                </a:solidFill>
                <a:latin typeface="Calibri" pitchFamily="34" charset="0"/>
                <a:ea typeface="Calibri" pitchFamily="34" charset="-122"/>
                <a:cs typeface="Calibri" pitchFamily="34" charset="-120"/>
              </a:rPr>
              <a:t>додає всі знайдені дії контролерів до таблиці маршрутів</a:t>
            </a:r>
            <a:endParaRPr lang="en-US" sz="1500" dirty="0"/>
          </a:p>
        </p:txBody>
      </p:sp>
      <p:sp>
        <p:nvSpPr>
          <p:cNvPr id="18" name="Shape 15"/>
          <p:cNvSpPr/>
          <p:nvPr/>
        </p:nvSpPr>
        <p:spPr>
          <a:xfrm>
            <a:off x="566928" y="5392674"/>
            <a:ext cx="11057839" cy="934974"/>
          </a:xfrm>
          <a:prstGeom prst="roundRect">
            <a:avLst>
              <a:gd name="adj" fmla="val 4890"/>
            </a:avLst>
          </a:prstGeom>
          <a:solidFill>
            <a:srgbClr val="F3EFFD"/>
          </a:solidFill>
          <a:ln w="9525">
            <a:solidFill>
              <a:srgbClr val="D9CEF5"/>
            </a:solidFill>
            <a:prstDash val="solid"/>
          </a:ln>
        </p:spPr>
      </p:sp>
      <p:sp>
        <p:nvSpPr>
          <p:cNvPr id="19" name="Shape 16"/>
          <p:cNvSpPr/>
          <p:nvPr/>
        </p:nvSpPr>
        <p:spPr>
          <a:xfrm>
            <a:off x="768096" y="5686425"/>
            <a:ext cx="347472" cy="347472"/>
          </a:xfrm>
          <a:prstGeom prst="ellipse">
            <a:avLst/>
          </a:prstGeom>
          <a:solidFill>
            <a:srgbClr val="512BD4"/>
          </a:solidFill>
          <a:ln/>
        </p:spPr>
      </p:sp>
      <p:sp>
        <p:nvSpPr>
          <p:cNvPr id="20" name="Text 17"/>
          <p:cNvSpPr txBox="1"/>
          <p:nvPr/>
        </p:nvSpPr>
        <p:spPr>
          <a:xfrm>
            <a:off x="768096" y="5686425"/>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txBox="1"/>
          <p:nvPr/>
        </p:nvSpPr>
        <p:spPr>
          <a:xfrm>
            <a:off x="1298448" y="5392674"/>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ControllerBase   </a:t>
            </a:r>
            <a:pPr indent="0" marL="0">
              <a:buNone/>
            </a:pPr>
            <a:r>
              <a:rPr lang="en-US" sz="1250" dirty="0">
                <a:solidFill>
                  <a:srgbClr val="6E6785"/>
                </a:solidFill>
                <a:latin typeface="Calibri" pitchFamily="34" charset="0"/>
                <a:ea typeface="Calibri" pitchFamily="34" charset="-122"/>
                <a:cs typeface="Calibri" pitchFamily="34" charset="-120"/>
              </a:rPr>
              <a:t>для API (без підтримки Razor View); повний Controller — лише коли рендеряться HTML-уявлення</a:t>
            </a:r>
            <a:endParaRPr lang="en-US" sz="1500" dirty="0"/>
          </a:p>
        </p:txBody>
      </p:sp>
      <p:sp>
        <p:nvSpPr>
          <p:cNvPr id="22" name="Text 19"/>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50</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[ApiController] та ActionResult&lt;T&gt;</a:t>
            </a:r>
            <a:endParaRPr lang="en-US" sz="3000" dirty="0"/>
          </a:p>
        </p:txBody>
      </p:sp>
      <p:sp>
        <p:nvSpPr>
          <p:cNvPr id="4" name="Shape 1"/>
          <p:cNvSpPr/>
          <p:nvPr/>
        </p:nvSpPr>
        <p:spPr>
          <a:xfrm>
            <a:off x="566928" y="1243584"/>
            <a:ext cx="5323180" cy="5065776"/>
          </a:xfrm>
          <a:prstGeom prst="roundRect">
            <a:avLst>
              <a:gd name="adj" fmla="val 1083"/>
            </a:avLst>
          </a:prstGeom>
          <a:solidFill>
            <a:srgbClr val="F3EFFD"/>
          </a:solidFill>
          <a:ln w="12700">
            <a:solidFill>
              <a:srgbClr val="512BD4"/>
            </a:solidFill>
            <a:prstDash val="solid"/>
          </a:ln>
        </p:spPr>
      </p:sp>
      <p:sp>
        <p:nvSpPr>
          <p:cNvPr id="5" name="Shape 2"/>
          <p:cNvSpPr/>
          <p:nvPr/>
        </p:nvSpPr>
        <p:spPr>
          <a:xfrm>
            <a:off x="566928" y="1243584"/>
            <a:ext cx="5323180" cy="658368"/>
          </a:xfrm>
          <a:prstGeom prst="roundRect">
            <a:avLst>
              <a:gd name="adj" fmla="val 8333"/>
            </a:avLst>
          </a:prstGeom>
          <a:solidFill>
            <a:srgbClr val="512BD4"/>
          </a:solidFill>
          <a:ln/>
        </p:spPr>
      </p:sp>
      <p:sp>
        <p:nvSpPr>
          <p:cNvPr id="6" name="Text 3"/>
          <p:cNvSpPr txBox="1"/>
          <p:nvPr/>
        </p:nvSpPr>
        <p:spPr>
          <a:xfrm>
            <a:off x="841248" y="1243584"/>
            <a:ext cx="4774540" cy="65836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[ApiController] вмикає</a:t>
            </a:r>
            <a:endParaRPr lang="en-US" sz="1800" dirty="0"/>
          </a:p>
        </p:txBody>
      </p:sp>
      <p:sp>
        <p:nvSpPr>
          <p:cNvPr id="7" name="Text 4"/>
          <p:cNvSpPr txBox="1"/>
          <p:nvPr/>
        </p:nvSpPr>
        <p:spPr>
          <a:xfrm>
            <a:off x="859536" y="2112264"/>
            <a:ext cx="4756252" cy="4014216"/>
          </a:xfrm>
          <a:prstGeom prst="rect">
            <a:avLst/>
          </a:prstGeom>
          <a:noFill/>
          <a:ln/>
        </p:spPr>
        <p:txBody>
          <a:bodyPr wrap="square" lIns="0" tIns="0" rIns="0" bIns="0" rtlCol="0" anchor="t"/>
          <a:lstStyle/>
          <a:p>
            <a:pPr marL="127000" indent="-127000">
              <a:spcAft>
                <a:spcPts val="1100"/>
              </a:spcAft>
              <a:buSzPct val="100000"/>
              <a:buChar char="•"/>
            </a:pPr>
            <a:r>
              <a:rPr lang="en-US" sz="1350" dirty="0">
                <a:solidFill>
                  <a:srgbClr val="241C3B"/>
                </a:solidFill>
                <a:latin typeface="Calibri" pitchFamily="34" charset="0"/>
                <a:ea typeface="Calibri" pitchFamily="34" charset="-122"/>
                <a:cs typeface="Calibri" pitchFamily="34" charset="-120"/>
              </a:rPr>
              <a:t>авто-400 з ValidationProblemDetails при невалідній ModelState (до входу в метод)</a:t>
            </a:r>
            <a:endParaRPr lang="en-US" sz="1350" dirty="0"/>
          </a:p>
          <a:p>
            <a:pPr marL="127000" indent="-127000">
              <a:spcAft>
                <a:spcPts val="1100"/>
              </a:spcAft>
              <a:buSzPct val="100000"/>
              <a:buChar char="•"/>
            </a:pPr>
            <a:r>
              <a:rPr lang="en-US" sz="1350" dirty="0">
                <a:solidFill>
                  <a:srgbClr val="241C3B"/>
                </a:solidFill>
                <a:latin typeface="Calibri" pitchFamily="34" charset="0"/>
                <a:ea typeface="Calibri" pitchFamily="34" charset="-122"/>
                <a:cs typeface="Calibri" pitchFamily="34" charset="-120"/>
              </a:rPr>
              <a:t>інференс джерела прив'язки (складний тип → тіло)</a:t>
            </a:r>
            <a:endParaRPr lang="en-US" sz="1350" dirty="0"/>
          </a:p>
          <a:p>
            <a:pPr marL="127000" indent="-127000">
              <a:spcAft>
                <a:spcPts val="1100"/>
              </a:spcAft>
              <a:buSzPct val="100000"/>
              <a:buChar char="•"/>
            </a:pPr>
            <a:r>
              <a:rPr lang="en-US" sz="1350" dirty="0">
                <a:solidFill>
                  <a:srgbClr val="241C3B"/>
                </a:solidFill>
                <a:latin typeface="Calibri" pitchFamily="34" charset="0"/>
                <a:ea typeface="Calibri" pitchFamily="34" charset="-122"/>
                <a:cs typeface="Calibri" pitchFamily="34" charset="-120"/>
              </a:rPr>
              <a:t>ProblemDetails для проблемних статус-кодів</a:t>
            </a:r>
            <a:endParaRPr lang="en-US" sz="1350" dirty="0"/>
          </a:p>
          <a:p>
            <a:pPr marL="127000" indent="-127000">
              <a:spcAft>
                <a:spcPts val="1100"/>
              </a:spcAft>
              <a:buSzPct val="100000"/>
              <a:buChar char="•"/>
            </a:pPr>
            <a:r>
              <a:rPr lang="en-US" sz="1350" dirty="0">
                <a:solidFill>
                  <a:srgbClr val="241C3B"/>
                </a:solidFill>
                <a:latin typeface="Calibri" pitchFamily="34" charset="0"/>
                <a:ea typeface="Calibri" pitchFamily="34" charset="-122"/>
                <a:cs typeface="Calibri" pitchFamily="34" charset="-120"/>
              </a:rPr>
              <a:t>обов'язкову атрибутну маршрутизацію</a:t>
            </a:r>
            <a:endParaRPr lang="en-US" sz="1350" dirty="0"/>
          </a:p>
        </p:txBody>
      </p:sp>
      <p:sp>
        <p:nvSpPr>
          <p:cNvPr id="8" name="Shape 5"/>
          <p:cNvSpPr/>
          <p:nvPr/>
        </p:nvSpPr>
        <p:spPr>
          <a:xfrm>
            <a:off x="6301588" y="1243584"/>
            <a:ext cx="5323180" cy="5065776"/>
          </a:xfrm>
          <a:prstGeom prst="roundRect">
            <a:avLst>
              <a:gd name="adj" fmla="val 1083"/>
            </a:avLst>
          </a:prstGeom>
          <a:solidFill>
            <a:srgbClr val="E1F4F1"/>
          </a:solidFill>
          <a:ln w="12700">
            <a:solidFill>
              <a:srgbClr val="0E9C8E"/>
            </a:solidFill>
            <a:prstDash val="solid"/>
          </a:ln>
        </p:spPr>
      </p:sp>
      <p:sp>
        <p:nvSpPr>
          <p:cNvPr id="9" name="Shape 6"/>
          <p:cNvSpPr/>
          <p:nvPr/>
        </p:nvSpPr>
        <p:spPr>
          <a:xfrm>
            <a:off x="6301588" y="1243584"/>
            <a:ext cx="5323180" cy="658368"/>
          </a:xfrm>
          <a:prstGeom prst="roundRect">
            <a:avLst>
              <a:gd name="adj" fmla="val 8333"/>
            </a:avLst>
          </a:prstGeom>
          <a:solidFill>
            <a:srgbClr val="0E9C8E"/>
          </a:solidFill>
          <a:ln/>
        </p:spPr>
      </p:sp>
      <p:sp>
        <p:nvSpPr>
          <p:cNvPr id="10" name="Text 7"/>
          <p:cNvSpPr txBox="1"/>
          <p:nvPr/>
        </p:nvSpPr>
        <p:spPr>
          <a:xfrm>
            <a:off x="6575908" y="1243584"/>
            <a:ext cx="4774540" cy="65836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Типи повернення</a:t>
            </a:r>
            <a:endParaRPr lang="en-US" sz="1800" dirty="0"/>
          </a:p>
        </p:txBody>
      </p:sp>
      <p:sp>
        <p:nvSpPr>
          <p:cNvPr id="11" name="Text 8"/>
          <p:cNvSpPr txBox="1"/>
          <p:nvPr/>
        </p:nvSpPr>
        <p:spPr>
          <a:xfrm>
            <a:off x="6594196" y="2112264"/>
            <a:ext cx="4756252" cy="4014216"/>
          </a:xfrm>
          <a:prstGeom prst="rect">
            <a:avLst/>
          </a:prstGeom>
          <a:noFill/>
          <a:ln/>
        </p:spPr>
        <p:txBody>
          <a:bodyPr wrap="square" lIns="0" tIns="0" rIns="0" bIns="0" rtlCol="0" anchor="t"/>
          <a:lstStyle/>
          <a:p>
            <a:pPr marL="127000" indent="-127000">
              <a:spcAft>
                <a:spcPts val="1100"/>
              </a:spcAft>
              <a:buSzPct val="100000"/>
              <a:buChar char="•"/>
            </a:pPr>
            <a:r>
              <a:rPr lang="en-US" sz="1350" dirty="0">
                <a:solidFill>
                  <a:srgbClr val="241C3B"/>
                </a:solidFill>
                <a:latin typeface="Calibri" pitchFamily="34" charset="0"/>
                <a:ea typeface="Calibri" pitchFamily="34" charset="-122"/>
                <a:cs typeface="Calibri" pitchFamily="34" charset="-120"/>
              </a:rPr>
              <a:t>ActionResult&lt;T&gt; — 200 з T АБО інший результат (NotFound(), BadRequest())</a:t>
            </a:r>
            <a:endParaRPr lang="en-US" sz="1350" dirty="0"/>
          </a:p>
          <a:p>
            <a:pPr marL="127000" indent="-127000">
              <a:spcAft>
                <a:spcPts val="1100"/>
              </a:spcAft>
              <a:buSzPct val="100000"/>
              <a:buChar char="•"/>
            </a:pPr>
            <a:r>
              <a:rPr lang="en-US" sz="1350" dirty="0">
                <a:solidFill>
                  <a:srgbClr val="241C3B"/>
                </a:solidFill>
                <a:latin typeface="Calibri" pitchFamily="34" charset="0"/>
                <a:ea typeface="Calibri" pitchFamily="34" charset="-122"/>
                <a:cs typeface="Calibri" pitchFamily="34" charset="-120"/>
              </a:rPr>
              <a:t>IActionResult — лише результати, без «типу успіху» для OpenAPI</a:t>
            </a:r>
            <a:endParaRPr lang="en-US" sz="1350" dirty="0"/>
          </a:p>
          <a:p>
            <a:pPr marL="127000" indent="-127000">
              <a:spcAft>
                <a:spcPts val="1100"/>
              </a:spcAft>
              <a:buSzPct val="100000"/>
              <a:buChar char="•"/>
            </a:pPr>
            <a:r>
              <a:rPr lang="en-US" sz="1350" dirty="0">
                <a:solidFill>
                  <a:srgbClr val="241C3B"/>
                </a:solidFill>
                <a:latin typeface="Calibri" pitchFamily="34" charset="0"/>
                <a:ea typeface="Calibri" pitchFamily="34" charset="-122"/>
                <a:cs typeface="Calibri" pitchFamily="34" charset="-120"/>
              </a:rPr>
              <a:t>T — завжди 200; помилки лише через винятки/фільтри</a:t>
            </a:r>
            <a:endParaRPr lang="en-US" sz="1350" dirty="0"/>
          </a:p>
          <a:p>
            <a:pPr marL="127000" indent="-127000">
              <a:spcAft>
                <a:spcPts val="1100"/>
              </a:spcAft>
              <a:buSzPct val="100000"/>
              <a:buChar char="•"/>
            </a:pPr>
            <a:r>
              <a:rPr lang="en-US" sz="1350" dirty="0">
                <a:solidFill>
                  <a:srgbClr val="241C3B"/>
                </a:solidFill>
                <a:latin typeface="Calibri" pitchFamily="34" charset="0"/>
                <a:ea typeface="Calibri" pitchFamily="34" charset="-122"/>
                <a:cs typeface="Calibri" pitchFamily="34" charset="-120"/>
              </a:rPr>
              <a:t>CreatedAtAction(...) — 201 + Location за іменем дії</a:t>
            </a:r>
            <a:endParaRPr lang="en-US" sz="1350" dirty="0"/>
          </a:p>
        </p:txBody>
      </p:sp>
      <p:sp>
        <p:nvSpPr>
          <p:cNvPr id="12" name="Text 9"/>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51</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Фільтри MVC: конвеєр усередині конвеєра</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Фільтр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спеціалізований middleware для MVC, який виконується навколо дії контролера. На відміну від звичайного middleware, він знає про обрану дію, її аргументи та результат.</a:t>
            </a:r>
            <a:endParaRPr lang="en-US" sz="1450" dirty="0"/>
          </a:p>
        </p:txBody>
      </p:sp>
      <p:pic>
        <p:nvPicPr>
          <p:cNvPr id="6" name="Image 0" descr="C:\Users\Yurii\AppData\Local\Temp\claude\C--Users-Yurii-source-repos---Examples-ASP-NET-AspNet-Basics\130b0e02-3c53-4be1-ac71-0d4d7a5d1c71\scratchpad\deck\assets\d13_filters.png">    </p:cNvPr>
          <p:cNvPicPr>
            <a:picLocks noChangeAspect="1"/>
          </p:cNvPicPr>
          <p:nvPr/>
        </p:nvPicPr>
        <p:blipFill>
          <a:blip r:embed="rId1"/>
          <a:stretch>
            <a:fillRect/>
          </a:stretch>
        </p:blipFill>
        <p:spPr>
          <a:xfrm>
            <a:off x="566928" y="2576523"/>
            <a:ext cx="11057839" cy="2930250"/>
          </a:xfrm>
          <a:prstGeom prst="rect">
            <a:avLst/>
          </a:prstGeom>
        </p:spPr>
      </p:pic>
      <p:sp>
        <p:nvSpPr>
          <p:cNvPr id="7" name="Shape 3"/>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8" name="Text 4"/>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dirty="0">
                <a:solidFill>
                  <a:srgbClr val="241C3B"/>
                </a:solidFill>
                <a:latin typeface="Calibri" pitchFamily="34" charset="0"/>
                <a:ea typeface="Calibri" pitchFamily="34" charset="-122"/>
                <a:cs typeface="Calibri" pitchFamily="34" charset="-120"/>
              </a:rPr>
              <a:t>П'ять типів у порядку: Authorization → Resource → [binding] → Action → [ДІЯ] → Result; Exception огортає Action та дію.</a:t>
            </a:r>
            <a:endParaRPr lang="en-US" sz="1200" dirty="0"/>
          </a:p>
        </p:txBody>
      </p:sp>
      <p:sp>
        <p:nvSpPr>
          <p:cNvPr id="9" name="Text 5"/>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52</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Фільтр vs middleware</a:t>
            </a:r>
            <a:endParaRPr lang="en-US" sz="30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66928" y="1879092"/>
          <a:ext cx="11057839" cy="914400"/>
        </p:xfrm>
        <a:graphic>
          <a:graphicData uri="http://schemas.openxmlformats.org/drawingml/2006/table">
            <a:tbl>
              <a:tblPr/>
              <a:tblGrid>
                <a:gridCol w="2743200"/>
                <a:gridCol w="4114800"/>
                <a:gridCol w="4206240"/>
              </a:tblGrid>
              <a:tr h="658368">
                <a:tc>
                  <a:txBody>
                    <a:bodyPr/>
                    <a:lstStyle/>
                    <a:p>
                      <a:pPr indent="0" marL="0">
                        <a:buNone/>
                      </a:pP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Middleware</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Фільтр</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Область</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увесь конвеєр</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лише MVC-запити</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Знає про дію/модель</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ні</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так (ActionDescriptor, ActionArguments, Result)</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Порядок</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порядок реєстрації</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тип + Order + scope (global/controller/action)</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Типи</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один</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Authorization / Resource / Action / Exception / Result</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bl>
          </a:graphicData>
        </a:graphic>
      </p:graphicFrame>
      <p:sp>
        <p:nvSpPr>
          <p:cNvPr id="5" name="Shape 1"/>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6" name="Text 2"/>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i="1" dirty="0">
                <a:solidFill>
                  <a:srgbClr val="241C3B"/>
                </a:solidFill>
                <a:latin typeface="Calibri" pitchFamily="34" charset="0"/>
                <a:ea typeface="Calibri" pitchFamily="34" charset="-122"/>
                <a:cs typeface="Calibri" pitchFamily="34" charset="-120"/>
              </a:rPr>
              <a:t>Наскрізне й не-MVC (логування всіх запитів, стиснення) → middleware. Специфічне для дій (конверт відповіді, валідація аргументів) → фільтр.</a:t>
            </a:r>
            <a:endParaRPr lang="en-US" sz="1200" dirty="0"/>
          </a:p>
        </p:txBody>
      </p:sp>
      <p:sp>
        <p:nvSpPr>
          <p:cNvPr id="7" name="Text 3"/>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53</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Minimal API vs MVC</a:t>
            </a:r>
            <a:endParaRPr lang="en-US" sz="3000" dirty="0"/>
          </a:p>
        </p:txBody>
      </p:sp>
      <p:sp>
        <p:nvSpPr>
          <p:cNvPr id="4" name="Text 1"/>
          <p:cNvSpPr txBox="1"/>
          <p:nvPr/>
        </p:nvSpPr>
        <p:spPr>
          <a:xfrm>
            <a:off x="566928" y="1060704"/>
            <a:ext cx="11057839" cy="365760"/>
          </a:xfrm>
          <a:prstGeom prst="rect">
            <a:avLst/>
          </a:prstGeom>
          <a:noFill/>
          <a:ln/>
        </p:spPr>
        <p:txBody>
          <a:bodyPr wrap="square" lIns="0" tIns="0" rIns="0" bIns="0" rtlCol="0" anchor="ctr"/>
          <a:lstStyle/>
          <a:p>
            <a:pPr indent="0" marL="0">
              <a:buNone/>
            </a:pPr>
            <a:r>
              <a:rPr lang="en-US" sz="1400" dirty="0">
                <a:solidFill>
                  <a:srgbClr val="6E6785"/>
                </a:solidFill>
                <a:latin typeface="Calibri" pitchFamily="34" charset="0"/>
                <a:ea typeface="Calibri" pitchFamily="34" charset="-122"/>
                <a:cs typeface="Calibri" pitchFamily="34" charset="-120"/>
              </a:rPr>
              <a:t>Обидва — поверх того самого конвеєра; можна поєднувати в одному застосунку</a:t>
            </a:r>
            <a:endParaRPr lang="en-US" sz="1400" dirty="0"/>
          </a:p>
        </p:txBody>
      </p:sp>
      <p:sp>
        <p:nvSpPr>
          <p:cNvPr id="5" name="Shape 2"/>
          <p:cNvSpPr/>
          <p:nvPr/>
        </p:nvSpPr>
        <p:spPr>
          <a:xfrm>
            <a:off x="566928" y="1554480"/>
            <a:ext cx="5323180" cy="4754880"/>
          </a:xfrm>
          <a:prstGeom prst="roundRect">
            <a:avLst>
              <a:gd name="adj" fmla="val 1154"/>
            </a:avLst>
          </a:prstGeom>
          <a:solidFill>
            <a:srgbClr val="F3EFFD"/>
          </a:solidFill>
          <a:ln w="12700">
            <a:solidFill>
              <a:srgbClr val="512BD4"/>
            </a:solidFill>
            <a:prstDash val="solid"/>
          </a:ln>
        </p:spPr>
      </p:sp>
      <p:sp>
        <p:nvSpPr>
          <p:cNvPr id="6" name="Shape 3"/>
          <p:cNvSpPr/>
          <p:nvPr/>
        </p:nvSpPr>
        <p:spPr>
          <a:xfrm>
            <a:off x="566928" y="1554480"/>
            <a:ext cx="5323180" cy="658368"/>
          </a:xfrm>
          <a:prstGeom prst="roundRect">
            <a:avLst>
              <a:gd name="adj" fmla="val 8333"/>
            </a:avLst>
          </a:prstGeom>
          <a:solidFill>
            <a:srgbClr val="512BD4"/>
          </a:solidFill>
          <a:ln/>
        </p:spPr>
      </p:sp>
      <p:sp>
        <p:nvSpPr>
          <p:cNvPr id="7" name="Text 4"/>
          <p:cNvSpPr txBox="1"/>
          <p:nvPr/>
        </p:nvSpPr>
        <p:spPr>
          <a:xfrm>
            <a:off x="841248" y="1554480"/>
            <a:ext cx="4774540" cy="65836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Minimal API</a:t>
            </a:r>
            <a:endParaRPr lang="en-US" sz="1800" dirty="0"/>
          </a:p>
        </p:txBody>
      </p:sp>
      <p:sp>
        <p:nvSpPr>
          <p:cNvPr id="8" name="Text 5"/>
          <p:cNvSpPr txBox="1"/>
          <p:nvPr/>
        </p:nvSpPr>
        <p:spPr>
          <a:xfrm>
            <a:off x="859536" y="2423160"/>
            <a:ext cx="4756252" cy="3703320"/>
          </a:xfrm>
          <a:prstGeom prst="rect">
            <a:avLst/>
          </a:prstGeom>
          <a:noFill/>
          <a:ln/>
        </p:spPr>
        <p:txBody>
          <a:bodyPr wrap="square" lIns="0" tIns="0" rIns="0" bIns="0" rtlCol="0" anchor="t"/>
          <a:lstStyle/>
          <a:p>
            <a:pPr marL="127000" indent="-127000">
              <a:spcAft>
                <a:spcPts val="1100"/>
              </a:spcAft>
              <a:buSzPct val="100000"/>
              <a:buChar char="•"/>
            </a:pPr>
            <a:r>
              <a:rPr lang="en-US" sz="1350" dirty="0">
                <a:solidFill>
                  <a:srgbClr val="241C3B"/>
                </a:solidFill>
                <a:latin typeface="Calibri" pitchFamily="34" charset="0"/>
                <a:ea typeface="Calibri" pitchFamily="34" charset="-122"/>
                <a:cs typeface="Calibri" pitchFamily="34" charset="-120"/>
              </a:rPr>
              <a:t>менше церемоній, швидкий старт</a:t>
            </a:r>
            <a:endParaRPr lang="en-US" sz="1350" dirty="0"/>
          </a:p>
          <a:p>
            <a:pPr marL="127000" indent="-127000">
              <a:spcAft>
                <a:spcPts val="1100"/>
              </a:spcAft>
              <a:buSzPct val="100000"/>
              <a:buChar char="•"/>
            </a:pPr>
            <a:r>
              <a:rPr lang="en-US" sz="1350" dirty="0">
                <a:solidFill>
                  <a:srgbClr val="241C3B"/>
                </a:solidFill>
                <a:latin typeface="Calibri" pitchFamily="34" charset="0"/>
                <a:ea typeface="Calibri" pitchFamily="34" charset="-122"/>
                <a:cs typeface="Calibri" pitchFamily="34" charset="-120"/>
              </a:rPr>
              <a:t>endpoint = лямбда/метод + MapGroup</a:t>
            </a:r>
            <a:endParaRPr lang="en-US" sz="1350" dirty="0"/>
          </a:p>
          <a:p>
            <a:pPr marL="127000" indent="-127000">
              <a:spcAft>
                <a:spcPts val="1100"/>
              </a:spcAft>
              <a:buSzPct val="100000"/>
              <a:buChar char="•"/>
            </a:pPr>
            <a:r>
              <a:rPr lang="en-US" sz="1350" dirty="0">
                <a:solidFill>
                  <a:srgbClr val="241C3B"/>
                </a:solidFill>
                <a:latin typeface="Calibri" pitchFamily="34" charset="0"/>
                <a:ea typeface="Calibri" pitchFamily="34" charset="-122"/>
                <a:cs typeface="Calibri" pitchFamily="34" charset="-120"/>
              </a:rPr>
              <a:t>endpoint filters</a:t>
            </a:r>
            <a:endParaRPr lang="en-US" sz="1350" dirty="0"/>
          </a:p>
          <a:p>
            <a:pPr marL="127000" indent="-127000">
              <a:spcAft>
                <a:spcPts val="1100"/>
              </a:spcAft>
              <a:buSzPct val="100000"/>
              <a:buChar char="•"/>
            </a:pPr>
            <a:r>
              <a:rPr lang="en-US" sz="1350" dirty="0">
                <a:solidFill>
                  <a:srgbClr val="241C3B"/>
                </a:solidFill>
                <a:latin typeface="Calibri" pitchFamily="34" charset="0"/>
                <a:ea typeface="Calibri" pitchFamily="34" charset="-122"/>
                <a:cs typeface="Calibri" pitchFamily="34" charset="-120"/>
              </a:rPr>
              <a:t>ідеально для малих і середніх API, мікросервісів</a:t>
            </a:r>
            <a:endParaRPr lang="en-US" sz="1350" dirty="0"/>
          </a:p>
        </p:txBody>
      </p:sp>
      <p:sp>
        <p:nvSpPr>
          <p:cNvPr id="9" name="Shape 6"/>
          <p:cNvSpPr/>
          <p:nvPr/>
        </p:nvSpPr>
        <p:spPr>
          <a:xfrm>
            <a:off x="6301588" y="1554480"/>
            <a:ext cx="5323180" cy="4754880"/>
          </a:xfrm>
          <a:prstGeom prst="roundRect">
            <a:avLst>
              <a:gd name="adj" fmla="val 1154"/>
            </a:avLst>
          </a:prstGeom>
          <a:solidFill>
            <a:srgbClr val="E1F4F1"/>
          </a:solidFill>
          <a:ln w="12700">
            <a:solidFill>
              <a:srgbClr val="0E9C8E"/>
            </a:solidFill>
            <a:prstDash val="solid"/>
          </a:ln>
        </p:spPr>
      </p:sp>
      <p:sp>
        <p:nvSpPr>
          <p:cNvPr id="10" name="Shape 7"/>
          <p:cNvSpPr/>
          <p:nvPr/>
        </p:nvSpPr>
        <p:spPr>
          <a:xfrm>
            <a:off x="6301588" y="1554480"/>
            <a:ext cx="5323180" cy="658368"/>
          </a:xfrm>
          <a:prstGeom prst="roundRect">
            <a:avLst>
              <a:gd name="adj" fmla="val 8333"/>
            </a:avLst>
          </a:prstGeom>
          <a:solidFill>
            <a:srgbClr val="0E9C8E"/>
          </a:solidFill>
          <a:ln/>
        </p:spPr>
      </p:sp>
      <p:sp>
        <p:nvSpPr>
          <p:cNvPr id="11" name="Text 8"/>
          <p:cNvSpPr txBox="1"/>
          <p:nvPr/>
        </p:nvSpPr>
        <p:spPr>
          <a:xfrm>
            <a:off x="6575908" y="1554480"/>
            <a:ext cx="4774540" cy="65836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MVC-контролери</a:t>
            </a:r>
            <a:endParaRPr lang="en-US" sz="1800" dirty="0"/>
          </a:p>
        </p:txBody>
      </p:sp>
      <p:sp>
        <p:nvSpPr>
          <p:cNvPr id="12" name="Text 9"/>
          <p:cNvSpPr txBox="1"/>
          <p:nvPr/>
        </p:nvSpPr>
        <p:spPr>
          <a:xfrm>
            <a:off x="6594196" y="2423160"/>
            <a:ext cx="4756252" cy="3703320"/>
          </a:xfrm>
          <a:prstGeom prst="rect">
            <a:avLst/>
          </a:prstGeom>
          <a:noFill/>
          <a:ln/>
        </p:spPr>
        <p:txBody>
          <a:bodyPr wrap="square" lIns="0" tIns="0" rIns="0" bIns="0" rtlCol="0" anchor="t"/>
          <a:lstStyle/>
          <a:p>
            <a:pPr marL="127000" indent="-127000">
              <a:spcAft>
                <a:spcPts val="1100"/>
              </a:spcAft>
              <a:buSzPct val="100000"/>
              <a:buChar char="•"/>
            </a:pPr>
            <a:r>
              <a:rPr lang="en-US" sz="1350" dirty="0">
                <a:solidFill>
                  <a:srgbClr val="241C3B"/>
                </a:solidFill>
                <a:latin typeface="Calibri" pitchFamily="34" charset="0"/>
                <a:ea typeface="Calibri" pitchFamily="34" charset="-122"/>
                <a:cs typeface="Calibri" pitchFamily="34" charset="-120"/>
              </a:rPr>
              <a:t>клас = ресурс; успадкування, конвенції, area-и</a:t>
            </a:r>
            <a:endParaRPr lang="en-US" sz="1350" dirty="0"/>
          </a:p>
          <a:p>
            <a:pPr marL="127000" indent="-127000">
              <a:spcAft>
                <a:spcPts val="1100"/>
              </a:spcAft>
              <a:buSzPct val="100000"/>
              <a:buChar char="•"/>
            </a:pPr>
            <a:r>
              <a:rPr lang="en-US" sz="1350" dirty="0">
                <a:solidFill>
                  <a:srgbClr val="241C3B"/>
                </a:solidFill>
                <a:latin typeface="Calibri" pitchFamily="34" charset="0"/>
                <a:ea typeface="Calibri" pitchFamily="34" charset="-122"/>
                <a:cs typeface="Calibri" pitchFamily="34" charset="-120"/>
              </a:rPr>
              <a:t>5 типів фільтрів, model binding providers</a:t>
            </a:r>
            <a:endParaRPr lang="en-US" sz="1350" dirty="0"/>
          </a:p>
          <a:p>
            <a:pPr marL="127000" indent="-127000">
              <a:spcAft>
                <a:spcPts val="1100"/>
              </a:spcAft>
              <a:buSzPct val="100000"/>
              <a:buChar char="•"/>
            </a:pPr>
            <a:r>
              <a:rPr lang="en-US" sz="1350" dirty="0">
                <a:solidFill>
                  <a:srgbClr val="241C3B"/>
                </a:solidFill>
                <a:latin typeface="Calibri" pitchFamily="34" charset="0"/>
                <a:ea typeface="Calibri" pitchFamily="34" charset="-122"/>
                <a:cs typeface="Calibri" pitchFamily="34" charset="-120"/>
              </a:rPr>
              <a:t>звичніше великим командам і легасі</a:t>
            </a:r>
            <a:endParaRPr lang="en-US" sz="1350" dirty="0"/>
          </a:p>
          <a:p>
            <a:pPr marL="127000" indent="-127000">
              <a:spcAft>
                <a:spcPts val="1100"/>
              </a:spcAft>
              <a:buSzPct val="100000"/>
              <a:buChar char="•"/>
            </a:pPr>
            <a:r>
              <a:rPr lang="en-US" sz="1350" dirty="0">
                <a:solidFill>
                  <a:srgbClr val="241C3B"/>
                </a:solidFill>
                <a:latin typeface="Calibri" pitchFamily="34" charset="0"/>
                <a:ea typeface="Calibri" pitchFamily="34" charset="-122"/>
                <a:cs typeface="Calibri" pitchFamily="34" charset="-120"/>
              </a:rPr>
              <a:t>content negotiation, formatters «з коробки»</a:t>
            </a:r>
            <a:endParaRPr lang="en-US" sz="1350" dirty="0"/>
          </a:p>
        </p:txBody>
      </p:sp>
      <p:sp>
        <p:nvSpPr>
          <p:cNvPr id="13" name="Text 10"/>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54</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3EFFD"/>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Модуль 6 — приклади</a:t>
            </a:r>
            <a:endParaRPr lang="en-US" sz="3000" dirty="0"/>
          </a:p>
        </p:txBody>
      </p:sp>
      <p:sp>
        <p:nvSpPr>
          <p:cNvPr id="4" name="Shape 1"/>
          <p:cNvSpPr/>
          <p:nvPr/>
        </p:nvSpPr>
        <p:spPr>
          <a:xfrm>
            <a:off x="566928" y="1833372"/>
            <a:ext cx="11057839" cy="1828800"/>
          </a:xfrm>
          <a:prstGeom prst="roundRect">
            <a:avLst>
              <a:gd name="adj" fmla="val 3500"/>
            </a:avLst>
          </a:prstGeom>
          <a:solidFill>
            <a:srgbClr val="FFFFFF"/>
          </a:solidFill>
          <a:ln w="12700">
            <a:solidFill>
              <a:srgbClr val="D9CEF5"/>
            </a:solidFill>
            <a:prstDash val="solid"/>
          </a:ln>
        </p:spPr>
      </p:sp>
      <p:sp>
        <p:nvSpPr>
          <p:cNvPr id="5" name="Shape 2"/>
          <p:cNvSpPr/>
          <p:nvPr/>
        </p:nvSpPr>
        <p:spPr>
          <a:xfrm>
            <a:off x="795528" y="2574036"/>
            <a:ext cx="2926080" cy="347472"/>
          </a:xfrm>
          <a:prstGeom prst="roundRect">
            <a:avLst>
              <a:gd name="adj" fmla="val 13158"/>
            </a:avLst>
          </a:prstGeom>
          <a:solidFill>
            <a:srgbClr val="E7DFFA"/>
          </a:solidFill>
          <a:ln/>
        </p:spPr>
      </p:sp>
      <p:sp>
        <p:nvSpPr>
          <p:cNvPr id="6" name="Text 3"/>
          <p:cNvSpPr txBox="1"/>
          <p:nvPr/>
        </p:nvSpPr>
        <p:spPr>
          <a:xfrm>
            <a:off x="795528" y="2574036"/>
            <a:ext cx="2926080" cy="347472"/>
          </a:xfrm>
          <a:prstGeom prst="rect">
            <a:avLst/>
          </a:prstGeom>
          <a:noFill/>
          <a:ln/>
        </p:spPr>
        <p:txBody>
          <a:bodyPr wrap="square" lIns="0" tIns="0" rIns="0" bIns="0" rtlCol="0" anchor="ctr"/>
          <a:lstStyle/>
          <a:p>
            <a:pPr algn="ctr" indent="0" marL="0">
              <a:buNone/>
            </a:pPr>
            <a:r>
              <a:rPr lang="en-US" sz="1100" b="1" dirty="0">
                <a:solidFill>
                  <a:srgbClr val="512BD4"/>
                </a:solidFill>
                <a:latin typeface="Courier New" pitchFamily="34" charset="0"/>
                <a:ea typeface="Courier New" pitchFamily="34" charset="-122"/>
                <a:cs typeface="Courier New" pitchFamily="34" charset="-120"/>
              </a:rPr>
              <a:t>12.Mvc.Controllers</a:t>
            </a:r>
            <a:endParaRPr lang="en-US" sz="1100" dirty="0"/>
          </a:p>
        </p:txBody>
      </p:sp>
      <p:sp>
        <p:nvSpPr>
          <p:cNvPr id="7" name="Text 4"/>
          <p:cNvSpPr txBox="1"/>
          <p:nvPr/>
        </p:nvSpPr>
        <p:spPr>
          <a:xfrm>
            <a:off x="3995928" y="1833372"/>
            <a:ext cx="7400239" cy="1828800"/>
          </a:xfrm>
          <a:prstGeom prst="rect">
            <a:avLst/>
          </a:prstGeom>
          <a:noFill/>
          <a:ln/>
        </p:spPr>
        <p:txBody>
          <a:bodyPr wrap="square" lIns="0" tIns="0" rIns="0" bIns="0" rtlCol="0" anchor="ctr"/>
          <a:lstStyle/>
          <a:p>
            <a:pPr indent="0" marL="0">
              <a:buNone/>
            </a:pPr>
            <a:r>
              <a:rPr lang="en-US" sz="1250" b="1" dirty="0">
                <a:solidFill>
                  <a:srgbClr val="241C3B"/>
                </a:solidFill>
                <a:latin typeface="Calibri" pitchFamily="34" charset="0"/>
                <a:ea typeface="Calibri" pitchFamily="34" charset="-122"/>
                <a:cs typeface="Calibri" pitchFamily="34" charset="-120"/>
              </a:rPr>
              <a:t>Контролери для Web API  —  </a:t>
            </a:r>
            <a:pPr indent="0" marL="0">
              <a:buNone/>
            </a:pPr>
            <a:r>
              <a:rPr lang="en-US" sz="1250" dirty="0">
                <a:solidFill>
                  <a:srgbClr val="6E6785"/>
                </a:solidFill>
                <a:latin typeface="Calibri" pitchFamily="34" charset="0"/>
                <a:ea typeface="Calibri" pitchFamily="34" charset="-122"/>
                <a:cs typeface="Calibri" pitchFamily="34" charset="-120"/>
              </a:rPr>
              <a:t>[ApiController], атрибутна маршрутизація, ActionResult&lt;T&gt;, ModelState, CreatedAtAction</a:t>
            </a:r>
            <a:endParaRPr lang="en-US" sz="1250" dirty="0"/>
          </a:p>
        </p:txBody>
      </p:sp>
      <p:sp>
        <p:nvSpPr>
          <p:cNvPr id="8" name="Shape 5"/>
          <p:cNvSpPr/>
          <p:nvPr/>
        </p:nvSpPr>
        <p:spPr>
          <a:xfrm>
            <a:off x="566928" y="3845052"/>
            <a:ext cx="11057839" cy="1828800"/>
          </a:xfrm>
          <a:prstGeom prst="roundRect">
            <a:avLst>
              <a:gd name="adj" fmla="val 3500"/>
            </a:avLst>
          </a:prstGeom>
          <a:solidFill>
            <a:srgbClr val="FFFFFF"/>
          </a:solidFill>
          <a:ln w="12700">
            <a:solidFill>
              <a:srgbClr val="D9CEF5"/>
            </a:solidFill>
            <a:prstDash val="solid"/>
          </a:ln>
        </p:spPr>
      </p:sp>
      <p:sp>
        <p:nvSpPr>
          <p:cNvPr id="9" name="Shape 6"/>
          <p:cNvSpPr/>
          <p:nvPr/>
        </p:nvSpPr>
        <p:spPr>
          <a:xfrm>
            <a:off x="795528" y="4585716"/>
            <a:ext cx="2926080" cy="347472"/>
          </a:xfrm>
          <a:prstGeom prst="roundRect">
            <a:avLst>
              <a:gd name="adj" fmla="val 13158"/>
            </a:avLst>
          </a:prstGeom>
          <a:solidFill>
            <a:srgbClr val="E7DFFA"/>
          </a:solidFill>
          <a:ln/>
        </p:spPr>
      </p:sp>
      <p:sp>
        <p:nvSpPr>
          <p:cNvPr id="10" name="Text 7"/>
          <p:cNvSpPr txBox="1"/>
          <p:nvPr/>
        </p:nvSpPr>
        <p:spPr>
          <a:xfrm>
            <a:off x="795528" y="4585716"/>
            <a:ext cx="2926080" cy="347472"/>
          </a:xfrm>
          <a:prstGeom prst="rect">
            <a:avLst/>
          </a:prstGeom>
          <a:noFill/>
          <a:ln/>
        </p:spPr>
        <p:txBody>
          <a:bodyPr wrap="square" lIns="0" tIns="0" rIns="0" bIns="0" rtlCol="0" anchor="ctr"/>
          <a:lstStyle/>
          <a:p>
            <a:pPr algn="ctr" indent="0" marL="0">
              <a:buNone/>
            </a:pPr>
            <a:r>
              <a:rPr lang="en-US" sz="1100" b="1" dirty="0">
                <a:solidFill>
                  <a:srgbClr val="512BD4"/>
                </a:solidFill>
                <a:latin typeface="Courier New" pitchFamily="34" charset="0"/>
                <a:ea typeface="Courier New" pitchFamily="34" charset="-122"/>
                <a:cs typeface="Courier New" pitchFamily="34" charset="-120"/>
              </a:rPr>
              <a:t>13.Mvc.Filters</a:t>
            </a:r>
            <a:endParaRPr lang="en-US" sz="1100" dirty="0"/>
          </a:p>
        </p:txBody>
      </p:sp>
      <p:sp>
        <p:nvSpPr>
          <p:cNvPr id="11" name="Text 8"/>
          <p:cNvSpPr txBox="1"/>
          <p:nvPr/>
        </p:nvSpPr>
        <p:spPr>
          <a:xfrm>
            <a:off x="3995928" y="3845052"/>
            <a:ext cx="7400239" cy="1828800"/>
          </a:xfrm>
          <a:prstGeom prst="rect">
            <a:avLst/>
          </a:prstGeom>
          <a:noFill/>
          <a:ln/>
        </p:spPr>
        <p:txBody>
          <a:bodyPr wrap="square" lIns="0" tIns="0" rIns="0" bIns="0" rtlCol="0" anchor="ctr"/>
          <a:lstStyle/>
          <a:p>
            <a:pPr indent="0" marL="0">
              <a:buNone/>
            </a:pPr>
            <a:r>
              <a:rPr lang="en-US" sz="1250" b="1" dirty="0">
                <a:solidFill>
                  <a:srgbClr val="241C3B"/>
                </a:solidFill>
                <a:latin typeface="Calibri" pitchFamily="34" charset="0"/>
                <a:ea typeface="Calibri" pitchFamily="34" charset="-122"/>
                <a:cs typeface="Calibri" pitchFamily="34" charset="-120"/>
              </a:rPr>
              <a:t>Фільтри MVC  —  </a:t>
            </a:r>
            <a:pPr indent="0" marL="0">
              <a:buNone/>
            </a:pPr>
            <a:r>
              <a:rPr lang="en-US" sz="1250" dirty="0">
                <a:solidFill>
                  <a:srgbClr val="6E6785"/>
                </a:solidFill>
                <a:latin typeface="Calibri" pitchFamily="34" charset="0"/>
                <a:ea typeface="Calibri" pitchFamily="34" charset="-122"/>
                <a:cs typeface="Calibri" pitchFamily="34" charset="-120"/>
              </a:rPr>
              <a:t>Resource/Action/Result/Exception, порядок виконання, відмінність від middleware</a:t>
            </a:r>
            <a:endParaRPr lang="en-US" sz="1250" dirty="0"/>
          </a:p>
        </p:txBody>
      </p:sp>
      <p:sp>
        <p:nvSpPr>
          <p:cNvPr id="12" name="Text 9"/>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55</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A1333"/>
        </a:solidFill>
      </p:bgPr>
    </p:bg>
    <p:spTree>
      <p:nvGrpSpPr>
        <p:cNvPr id="1" name=""/>
        <p:cNvGrpSpPr/>
        <p:nvPr/>
      </p:nvGrpSpPr>
      <p:grpSpPr>
        <a:xfrm>
          <a:off x="0" y="0"/>
          <a:ext cx="0" cy="0"/>
          <a:chOff x="0" y="0"/>
          <a:chExt cx="0" cy="0"/>
        </a:xfrm>
      </p:grpSpPr>
      <p:sp>
        <p:nvSpPr>
          <p:cNvPr id="2" name="Text 0"/>
          <p:cNvSpPr txBox="1"/>
          <p:nvPr/>
        </p:nvSpPr>
        <p:spPr>
          <a:xfrm>
            <a:off x="7680960" y="182880"/>
            <a:ext cx="4572000" cy="6400800"/>
          </a:xfrm>
          <a:prstGeom prst="rect">
            <a:avLst/>
          </a:prstGeom>
          <a:noFill/>
          <a:ln/>
        </p:spPr>
        <p:txBody>
          <a:bodyPr wrap="square" lIns="0" tIns="0" rIns="0" bIns="0" rtlCol="0" anchor="ctr"/>
          <a:lstStyle/>
          <a:p>
            <a:pPr algn="r" indent="0" marL="0">
              <a:buNone/>
            </a:pPr>
            <a:r>
              <a:rPr lang="en-US" sz="32000" b="1" dirty="0">
                <a:solidFill>
                  <a:srgbClr val="2A1E52"/>
                </a:solidFill>
                <a:latin typeface="Cambria" pitchFamily="34" charset="0"/>
                <a:ea typeface="Cambria" pitchFamily="34" charset="-122"/>
                <a:cs typeface="Cambria" pitchFamily="34" charset="-120"/>
              </a:rPr>
              <a:t>7</a:t>
            </a:r>
            <a:endParaRPr lang="en-US" sz="32000" dirty="0"/>
          </a:p>
        </p:txBody>
      </p:sp>
      <p:sp>
        <p:nvSpPr>
          <p:cNvPr id="3" name="Text 1"/>
          <p:cNvSpPr txBox="1"/>
          <p:nvPr/>
        </p:nvSpPr>
        <p:spPr>
          <a:xfrm>
            <a:off x="914400" y="2286000"/>
            <a:ext cx="8229600" cy="365760"/>
          </a:xfrm>
          <a:prstGeom prst="rect">
            <a:avLst/>
          </a:prstGeom>
          <a:noFill/>
          <a:ln/>
        </p:spPr>
        <p:txBody>
          <a:bodyPr wrap="square" lIns="0" tIns="0" rIns="0" bIns="0" rtlCol="0" anchor="ctr"/>
          <a:lstStyle/>
          <a:p>
            <a:pPr indent="0" marL="0">
              <a:buNone/>
            </a:pPr>
            <a:r>
              <a:rPr lang="en-US" sz="1500" b="1" spc="300" kern="0" dirty="0">
                <a:solidFill>
                  <a:srgbClr val="0E9C8E"/>
                </a:solidFill>
                <a:latin typeface="Calibri" pitchFamily="34" charset="0"/>
                <a:ea typeface="Calibri" pitchFamily="34" charset="-122"/>
                <a:cs typeface="Calibri" pitchFamily="34" charset="-120"/>
              </a:rPr>
              <a:t>МОДУЛЬ 7</a:t>
            </a:r>
            <a:endParaRPr lang="en-US" sz="1500" dirty="0"/>
          </a:p>
        </p:txBody>
      </p:sp>
      <p:sp>
        <p:nvSpPr>
          <p:cNvPr id="4" name="Text 2"/>
          <p:cNvSpPr txBox="1"/>
          <p:nvPr/>
        </p:nvSpPr>
        <p:spPr>
          <a:xfrm>
            <a:off x="914400" y="2743200"/>
            <a:ext cx="7772400" cy="15544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REST-архітектура</a:t>
            </a:r>
            <a:endParaRPr lang="en-US" sz="4000" dirty="0"/>
          </a:p>
        </p:txBody>
      </p:sp>
      <p:sp>
        <p:nvSpPr>
          <p:cNvPr id="5" name="Text 3"/>
          <p:cNvSpPr txBox="1"/>
          <p:nvPr/>
        </p:nvSpPr>
        <p:spPr>
          <a:xfrm>
            <a:off x="960120" y="4389120"/>
            <a:ext cx="6949440" cy="1828800"/>
          </a:xfrm>
          <a:prstGeom prst="rect">
            <a:avLst/>
          </a:prstGeom>
          <a:noFill/>
          <a:ln/>
        </p:spPr>
        <p:txBody>
          <a:bodyPr wrap="square" lIns="0" tIns="0" rIns="0" bIns="0" rtlCol="0" anchor="ctr"/>
          <a:lstStyle/>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Roy Fielding — стиль, а не протокол</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6 обмежень; ресурс / представлення</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дієслова, коди, ідемпотентність</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модель зрілості Річардсона</a:t>
            </a:r>
            <a:endParaRPr lang="en-US" sz="1400" dirty="0"/>
          </a:p>
        </p:txBody>
      </p:sp>
      <p:sp>
        <p:nvSpPr>
          <p:cNvPr id="6" name="Text 4"/>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9E93C4"/>
                </a:solidFill>
                <a:latin typeface="Calibri" pitchFamily="34" charset="0"/>
                <a:ea typeface="Calibri" pitchFamily="34" charset="-122"/>
                <a:cs typeface="Calibri" pitchFamily="34" charset="-120"/>
              </a:rPr>
              <a:t>56</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Що таке REST</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REST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REpresentational State Transfer — архітектурний СТИЛЬ (Рой Філдінг, дисертація 2000, розділ 5): набір обмежень на архітектуру розподіленої системи. HTTP — найпоширеніше, але не єдине його втілення.</a:t>
            </a:r>
            <a:endParaRPr lang="en-US" sz="1450" dirty="0"/>
          </a:p>
        </p:txBody>
      </p:sp>
      <p:sp>
        <p:nvSpPr>
          <p:cNvPr id="6" name="Shape 3"/>
          <p:cNvSpPr/>
          <p:nvPr/>
        </p:nvSpPr>
        <p:spPr>
          <a:xfrm>
            <a:off x="566928" y="2231136"/>
            <a:ext cx="11057839" cy="934974"/>
          </a:xfrm>
          <a:prstGeom prst="roundRect">
            <a:avLst>
              <a:gd name="adj" fmla="val 4890"/>
            </a:avLst>
          </a:prstGeom>
          <a:solidFill>
            <a:srgbClr val="F3EFFD"/>
          </a:solidFill>
          <a:ln w="9525">
            <a:solidFill>
              <a:srgbClr val="D9CEF5"/>
            </a:solidFill>
            <a:prstDash val="solid"/>
          </a:ln>
        </p:spPr>
      </p:sp>
      <p:sp>
        <p:nvSpPr>
          <p:cNvPr id="7" name="Shape 4"/>
          <p:cNvSpPr/>
          <p:nvPr/>
        </p:nvSpPr>
        <p:spPr>
          <a:xfrm>
            <a:off x="768096" y="2524887"/>
            <a:ext cx="347472" cy="347472"/>
          </a:xfrm>
          <a:prstGeom prst="ellipse">
            <a:avLst/>
          </a:prstGeom>
          <a:solidFill>
            <a:srgbClr val="512BD4"/>
          </a:solidFill>
          <a:ln/>
        </p:spPr>
      </p:sp>
      <p:sp>
        <p:nvSpPr>
          <p:cNvPr id="8" name="Text 5"/>
          <p:cNvSpPr txBox="1"/>
          <p:nvPr/>
        </p:nvSpPr>
        <p:spPr>
          <a:xfrm>
            <a:off x="768096" y="2524887"/>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1298448" y="2231136"/>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Це стиль, а не протокол   </a:t>
            </a:r>
            <a:pPr indent="0" marL="0">
              <a:buNone/>
            </a:pPr>
            <a:r>
              <a:rPr lang="en-US" sz="1250" dirty="0">
                <a:solidFill>
                  <a:srgbClr val="6E6785"/>
                </a:solidFill>
                <a:latin typeface="Calibri" pitchFamily="34" charset="0"/>
                <a:ea typeface="Calibri" pitchFamily="34" charset="-122"/>
                <a:cs typeface="Calibri" pitchFamily="34" charset="-120"/>
              </a:rPr>
              <a:t>REST не диктує формат повідомлень — він задає принципи: ресурси, єдиний інтерфейс, відсутність стану</a:t>
            </a:r>
            <a:endParaRPr lang="en-US" sz="1500" dirty="0"/>
          </a:p>
        </p:txBody>
      </p:sp>
      <p:sp>
        <p:nvSpPr>
          <p:cNvPr id="10" name="Shape 7"/>
          <p:cNvSpPr/>
          <p:nvPr/>
        </p:nvSpPr>
        <p:spPr>
          <a:xfrm>
            <a:off x="566928" y="3284982"/>
            <a:ext cx="11057839" cy="934974"/>
          </a:xfrm>
          <a:prstGeom prst="roundRect">
            <a:avLst>
              <a:gd name="adj" fmla="val 4890"/>
            </a:avLst>
          </a:prstGeom>
          <a:solidFill>
            <a:srgbClr val="F3EFFD"/>
          </a:solidFill>
          <a:ln w="9525">
            <a:solidFill>
              <a:srgbClr val="D9CEF5"/>
            </a:solidFill>
            <a:prstDash val="solid"/>
          </a:ln>
        </p:spPr>
      </p:sp>
      <p:sp>
        <p:nvSpPr>
          <p:cNvPr id="11" name="Shape 8"/>
          <p:cNvSpPr/>
          <p:nvPr/>
        </p:nvSpPr>
        <p:spPr>
          <a:xfrm>
            <a:off x="768096" y="3578733"/>
            <a:ext cx="347472" cy="347472"/>
          </a:xfrm>
          <a:prstGeom prst="ellipse">
            <a:avLst/>
          </a:prstGeom>
          <a:solidFill>
            <a:srgbClr val="512BD4"/>
          </a:solidFill>
          <a:ln/>
        </p:spPr>
      </p:sp>
      <p:sp>
        <p:nvSpPr>
          <p:cNvPr id="12" name="Text 9"/>
          <p:cNvSpPr txBox="1"/>
          <p:nvPr/>
        </p:nvSpPr>
        <p:spPr>
          <a:xfrm>
            <a:off x="768096" y="3578733"/>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298448" y="3284982"/>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Ресурс   </a:t>
            </a:r>
            <a:pPr indent="0" marL="0">
              <a:buNone/>
            </a:pPr>
            <a:r>
              <a:rPr lang="en-US" sz="1250" dirty="0">
                <a:solidFill>
                  <a:srgbClr val="6E6785"/>
                </a:solidFill>
                <a:latin typeface="Calibri" pitchFamily="34" charset="0"/>
                <a:ea typeface="Calibri" pitchFamily="34" charset="-122"/>
                <a:cs typeface="Calibri" pitchFamily="34" charset="-120"/>
              </a:rPr>
              <a:t>будь-що, що можна назвати — товар, замовлення, звіт; має стабільний URI-ідентифікатор</a:t>
            </a:r>
            <a:endParaRPr lang="en-US" sz="1500" dirty="0"/>
          </a:p>
        </p:txBody>
      </p:sp>
      <p:sp>
        <p:nvSpPr>
          <p:cNvPr id="14" name="Shape 11"/>
          <p:cNvSpPr/>
          <p:nvPr/>
        </p:nvSpPr>
        <p:spPr>
          <a:xfrm>
            <a:off x="566928" y="4338828"/>
            <a:ext cx="11057839" cy="934974"/>
          </a:xfrm>
          <a:prstGeom prst="roundRect">
            <a:avLst>
              <a:gd name="adj" fmla="val 4890"/>
            </a:avLst>
          </a:prstGeom>
          <a:solidFill>
            <a:srgbClr val="F3EFFD"/>
          </a:solidFill>
          <a:ln w="9525">
            <a:solidFill>
              <a:srgbClr val="D9CEF5"/>
            </a:solidFill>
            <a:prstDash val="solid"/>
          </a:ln>
        </p:spPr>
      </p:sp>
      <p:sp>
        <p:nvSpPr>
          <p:cNvPr id="15" name="Shape 12"/>
          <p:cNvSpPr/>
          <p:nvPr/>
        </p:nvSpPr>
        <p:spPr>
          <a:xfrm>
            <a:off x="768096" y="4632579"/>
            <a:ext cx="347472" cy="347472"/>
          </a:xfrm>
          <a:prstGeom prst="ellipse">
            <a:avLst/>
          </a:prstGeom>
          <a:solidFill>
            <a:srgbClr val="512BD4"/>
          </a:solidFill>
          <a:ln/>
        </p:spPr>
      </p:sp>
      <p:sp>
        <p:nvSpPr>
          <p:cNvPr id="16" name="Text 13"/>
          <p:cNvSpPr txBox="1"/>
          <p:nvPr/>
        </p:nvSpPr>
        <p:spPr>
          <a:xfrm>
            <a:off x="768096" y="4632579"/>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txBox="1"/>
          <p:nvPr/>
        </p:nvSpPr>
        <p:spPr>
          <a:xfrm>
            <a:off x="1298448" y="4338828"/>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Представлення   </a:t>
            </a:r>
            <a:pPr indent="0" marL="0">
              <a:buNone/>
            </a:pPr>
            <a:r>
              <a:rPr lang="en-US" sz="1250" dirty="0">
                <a:solidFill>
                  <a:srgbClr val="6E6785"/>
                </a:solidFill>
                <a:latin typeface="Calibri" pitchFamily="34" charset="0"/>
                <a:ea typeface="Calibri" pitchFamily="34" charset="-122"/>
                <a:cs typeface="Calibri" pitchFamily="34" charset="-120"/>
              </a:rPr>
              <a:t>клієнт і сервер обмінюються знімками стану ресурсу у форматі JSON чи XML, а не самими внутрішніми об'єктами</a:t>
            </a:r>
            <a:endParaRPr lang="en-US" sz="1500" dirty="0"/>
          </a:p>
        </p:txBody>
      </p:sp>
      <p:sp>
        <p:nvSpPr>
          <p:cNvPr id="18" name="Shape 15"/>
          <p:cNvSpPr/>
          <p:nvPr/>
        </p:nvSpPr>
        <p:spPr>
          <a:xfrm>
            <a:off x="566928" y="5392674"/>
            <a:ext cx="11057839" cy="934974"/>
          </a:xfrm>
          <a:prstGeom prst="roundRect">
            <a:avLst>
              <a:gd name="adj" fmla="val 4890"/>
            </a:avLst>
          </a:prstGeom>
          <a:solidFill>
            <a:srgbClr val="F3EFFD"/>
          </a:solidFill>
          <a:ln w="9525">
            <a:solidFill>
              <a:srgbClr val="D9CEF5"/>
            </a:solidFill>
            <a:prstDash val="solid"/>
          </a:ln>
        </p:spPr>
      </p:sp>
      <p:sp>
        <p:nvSpPr>
          <p:cNvPr id="19" name="Shape 16"/>
          <p:cNvSpPr/>
          <p:nvPr/>
        </p:nvSpPr>
        <p:spPr>
          <a:xfrm>
            <a:off x="768096" y="5686425"/>
            <a:ext cx="347472" cy="347472"/>
          </a:xfrm>
          <a:prstGeom prst="ellipse">
            <a:avLst/>
          </a:prstGeom>
          <a:solidFill>
            <a:srgbClr val="512BD4"/>
          </a:solidFill>
          <a:ln/>
        </p:spPr>
      </p:sp>
      <p:sp>
        <p:nvSpPr>
          <p:cNvPr id="20" name="Text 17"/>
          <p:cNvSpPr txBox="1"/>
          <p:nvPr/>
        </p:nvSpPr>
        <p:spPr>
          <a:xfrm>
            <a:off x="768096" y="5686425"/>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txBox="1"/>
          <p:nvPr/>
        </p:nvSpPr>
        <p:spPr>
          <a:xfrm>
            <a:off x="1298448" y="5392674"/>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Стан застосунку   </a:t>
            </a:r>
            <a:pPr indent="0" marL="0">
              <a:buNone/>
            </a:pPr>
            <a:r>
              <a:rPr lang="en-US" sz="1250" dirty="0">
                <a:solidFill>
                  <a:srgbClr val="6E6785"/>
                </a:solidFill>
                <a:latin typeface="Calibri" pitchFamily="34" charset="0"/>
                <a:ea typeface="Calibri" pitchFamily="34" charset="-122"/>
                <a:cs typeface="Calibri" pitchFamily="34" charset="-120"/>
              </a:rPr>
              <a:t>рухається між клієнтом і сервером через ці представлення та посилання в них</a:t>
            </a:r>
            <a:endParaRPr lang="en-US" sz="1500" dirty="0"/>
          </a:p>
        </p:txBody>
      </p:sp>
      <p:sp>
        <p:nvSpPr>
          <p:cNvPr id="22" name="Text 19"/>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57</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6 обмежень REST</a:t>
            </a:r>
            <a:endParaRPr lang="en-US" sz="3000" dirty="0"/>
          </a:p>
        </p:txBody>
      </p:sp>
      <p:sp>
        <p:nvSpPr>
          <p:cNvPr id="4" name="Text 1"/>
          <p:cNvSpPr txBox="1"/>
          <p:nvPr/>
        </p:nvSpPr>
        <p:spPr>
          <a:xfrm>
            <a:off x="566928" y="1243584"/>
            <a:ext cx="11057839" cy="603504"/>
          </a:xfrm>
          <a:prstGeom prst="rect">
            <a:avLst/>
          </a:prstGeom>
          <a:noFill/>
          <a:ln/>
        </p:spPr>
        <p:txBody>
          <a:bodyPr wrap="square" lIns="0" tIns="0" rIns="0" bIns="0" rtlCol="0" anchor="t"/>
          <a:lstStyle/>
          <a:p>
            <a:pPr indent="0" marL="0">
              <a:lnSpc>
                <a:spcPct val="116000"/>
              </a:lnSpc>
              <a:buNone/>
            </a:pPr>
            <a:r>
              <a:rPr lang="en-US" sz="1300" dirty="0">
                <a:solidFill>
                  <a:srgbClr val="241C3B"/>
                </a:solidFill>
                <a:latin typeface="Calibri" pitchFamily="34" charset="0"/>
                <a:ea typeface="Calibri" pitchFamily="34" charset="-122"/>
                <a:cs typeface="Calibri" pitchFamily="34" charset="-120"/>
              </a:rPr>
              <a:t>Архітектуру називають RESTful, коли вона задовольняє ці обмеження. Найважливіші для практики — «без стану» та «єдиний інтерфейс».</a:t>
            </a:r>
            <a:endParaRPr lang="en-US" sz="13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66928" y="1993392"/>
          <a:ext cx="11057839" cy="914400"/>
        </p:xfrm>
        <a:graphic>
          <a:graphicData uri="http://schemas.openxmlformats.org/drawingml/2006/table">
            <a:tbl>
              <a:tblPr/>
              <a:tblGrid>
                <a:gridCol w="2560320"/>
                <a:gridCol w="5394960"/>
                <a:gridCol w="3108960"/>
              </a:tblGrid>
              <a:tr h="616567">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Обмеження</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Що означає</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Вигода</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r>
              <a:tr h="616567">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Клієнт–сервер</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розділення відповідальності (UI ↔ дані)</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незалежна еволюція</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16567">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Без стану (stateless)</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кожен запит містить усе потрібне; сервер не тримає сесію</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масштабованість, надійність</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616567">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Кешованість</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відповідь позначає, чи можна її кешувати</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продуктивність, менше навантаження</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16567">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Єдиний інтерфейс</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ресурси + стандартні дієслова + представлення (+ HATEOAS)</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простота, слабка зв'язність</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616567">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Багатошаровість</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проксі, шлюзи, балансувальники прозорі для клієнта</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гнучкість інфраструктури</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16567">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Code-on-demand</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сервер може віддати виконуваний код (необов'язково)</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розширюваність клієнта</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bl>
          </a:graphicData>
        </a:graphic>
      </p:graphicFrame>
      <p:sp>
        <p:nvSpPr>
          <p:cNvPr id="6" name="Text 2"/>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58</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Ресурс ≠ представлення ≠ формат</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Представлення (representation)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конкретний знімок стану ресурсу в певний момент. Ресурс — абстракція за URI; представлення — його поточний вміст; формат (JSON, XML) — лише кодування цього представлення.</a:t>
            </a:r>
            <a:endParaRPr lang="en-US" sz="1450" dirty="0"/>
          </a:p>
        </p:txBody>
      </p:sp>
      <p:pic>
        <p:nvPicPr>
          <p:cNvPr id="6" name="Image 0" descr="C:\Users\Yurii\AppData\Local\Temp\claude\C--Users-Yurii-source-repos---Examples-ASP-NET-AspNet-Basics\130b0e02-3c53-4be1-ac71-0d4d7a5d1c71\scratchpad\deck\assets\d11_repr.png">    </p:cNvPr>
          <p:cNvPicPr>
            <a:picLocks noChangeAspect="1"/>
          </p:cNvPicPr>
          <p:nvPr/>
        </p:nvPicPr>
        <p:blipFill>
          <a:blip r:embed="rId1"/>
          <a:stretch>
            <a:fillRect/>
          </a:stretch>
        </p:blipFill>
        <p:spPr>
          <a:xfrm>
            <a:off x="566928" y="2670841"/>
            <a:ext cx="11057839" cy="2741613"/>
          </a:xfrm>
          <a:prstGeom prst="rect">
            <a:avLst/>
          </a:prstGeom>
        </p:spPr>
      </p:pic>
      <p:sp>
        <p:nvSpPr>
          <p:cNvPr id="7" name="Shape 3"/>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8" name="Text 4"/>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dirty="0">
                <a:solidFill>
                  <a:srgbClr val="241C3B"/>
                </a:solidFill>
                <a:latin typeface="Calibri" pitchFamily="34" charset="0"/>
                <a:ea typeface="Calibri" pitchFamily="34" charset="-122"/>
                <a:cs typeface="Calibri" pitchFamily="34" charset="-120"/>
              </a:rPr>
              <a:t>Один ресурс може мати кілька представлень і кілька форматів; клієнт обирає бажаний формат заголовком Accept.</a:t>
            </a:r>
            <a:endParaRPr lang="en-US" sz="1200" dirty="0"/>
          </a:p>
        </p:txBody>
      </p:sp>
      <p:sp>
        <p:nvSpPr>
          <p:cNvPr id="9" name="Text 5"/>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59</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Ідемпотентність — детально</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Ідемпотентність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властивість методу: повторний однаковий запит не змінює стан системи ДОДАТКОВО. Практична цінність — ідемпотентні запити можна безпечно повторювати при обриві мережі.</a:t>
            </a:r>
            <a:endParaRPr lang="en-US" sz="1450" dirty="0"/>
          </a:p>
        </p:txBody>
      </p:sp>
      <p:sp>
        <p:nvSpPr>
          <p:cNvPr id="6" name="Shape 3"/>
          <p:cNvSpPr/>
          <p:nvPr/>
        </p:nvSpPr>
        <p:spPr>
          <a:xfrm>
            <a:off x="566928" y="2231136"/>
            <a:ext cx="11057839" cy="934974"/>
          </a:xfrm>
          <a:prstGeom prst="roundRect">
            <a:avLst>
              <a:gd name="adj" fmla="val 4890"/>
            </a:avLst>
          </a:prstGeom>
          <a:solidFill>
            <a:srgbClr val="F3EFFD"/>
          </a:solidFill>
          <a:ln w="9525">
            <a:solidFill>
              <a:srgbClr val="D9CEF5"/>
            </a:solidFill>
            <a:prstDash val="solid"/>
          </a:ln>
        </p:spPr>
      </p:sp>
      <p:sp>
        <p:nvSpPr>
          <p:cNvPr id="7" name="Shape 4"/>
          <p:cNvSpPr/>
          <p:nvPr/>
        </p:nvSpPr>
        <p:spPr>
          <a:xfrm>
            <a:off x="768096" y="2524887"/>
            <a:ext cx="347472" cy="347472"/>
          </a:xfrm>
          <a:prstGeom prst="ellipse">
            <a:avLst/>
          </a:prstGeom>
          <a:solidFill>
            <a:srgbClr val="512BD4"/>
          </a:solidFill>
          <a:ln/>
        </p:spPr>
      </p:sp>
      <p:sp>
        <p:nvSpPr>
          <p:cNvPr id="8" name="Text 5"/>
          <p:cNvSpPr txBox="1"/>
          <p:nvPr/>
        </p:nvSpPr>
        <p:spPr>
          <a:xfrm>
            <a:off x="768096" y="2524887"/>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1298448" y="2231136"/>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GET / HEAD / OPTIONS   </a:t>
            </a:r>
            <a:pPr indent="0" marL="0">
              <a:buNone/>
            </a:pPr>
            <a:r>
              <a:rPr lang="en-US" sz="1250" dirty="0">
                <a:solidFill>
                  <a:srgbClr val="6E6785"/>
                </a:solidFill>
                <a:latin typeface="Calibri" pitchFamily="34" charset="0"/>
                <a:ea typeface="Calibri" pitchFamily="34" charset="-122"/>
                <a:cs typeface="Calibri" pitchFamily="34" charset="-120"/>
              </a:rPr>
              <a:t>і safe, і idempotent — читання взагалі нічого не змінює</a:t>
            </a:r>
            <a:endParaRPr lang="en-US" sz="1500" dirty="0"/>
          </a:p>
        </p:txBody>
      </p:sp>
      <p:sp>
        <p:nvSpPr>
          <p:cNvPr id="10" name="Shape 7"/>
          <p:cNvSpPr/>
          <p:nvPr/>
        </p:nvSpPr>
        <p:spPr>
          <a:xfrm>
            <a:off x="566928" y="3284982"/>
            <a:ext cx="11057839" cy="934974"/>
          </a:xfrm>
          <a:prstGeom prst="roundRect">
            <a:avLst>
              <a:gd name="adj" fmla="val 4890"/>
            </a:avLst>
          </a:prstGeom>
          <a:solidFill>
            <a:srgbClr val="F3EFFD"/>
          </a:solidFill>
          <a:ln w="9525">
            <a:solidFill>
              <a:srgbClr val="D9CEF5"/>
            </a:solidFill>
            <a:prstDash val="solid"/>
          </a:ln>
        </p:spPr>
      </p:sp>
      <p:sp>
        <p:nvSpPr>
          <p:cNvPr id="11" name="Shape 8"/>
          <p:cNvSpPr/>
          <p:nvPr/>
        </p:nvSpPr>
        <p:spPr>
          <a:xfrm>
            <a:off x="768096" y="3578733"/>
            <a:ext cx="347472" cy="347472"/>
          </a:xfrm>
          <a:prstGeom prst="ellipse">
            <a:avLst/>
          </a:prstGeom>
          <a:solidFill>
            <a:srgbClr val="512BD4"/>
          </a:solidFill>
          <a:ln/>
        </p:spPr>
      </p:sp>
      <p:sp>
        <p:nvSpPr>
          <p:cNvPr id="12" name="Text 9"/>
          <p:cNvSpPr txBox="1"/>
          <p:nvPr/>
        </p:nvSpPr>
        <p:spPr>
          <a:xfrm>
            <a:off x="768096" y="3578733"/>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298448" y="3284982"/>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PUT   </a:t>
            </a:r>
            <a:pPr indent="0" marL="0">
              <a:buNone/>
            </a:pPr>
            <a:r>
              <a:rPr lang="en-US" sz="1250" dirty="0">
                <a:solidFill>
                  <a:srgbClr val="6E6785"/>
                </a:solidFill>
                <a:latin typeface="Calibri" pitchFamily="34" charset="0"/>
                <a:ea typeface="Calibri" pitchFamily="34" charset="-122"/>
                <a:cs typeface="Calibri" pitchFamily="34" charset="-120"/>
              </a:rPr>
              <a:t>idempotent — надіслати те саме повне представлення двічі = двічі привести ресурс до того самого стану</a:t>
            </a:r>
            <a:endParaRPr lang="en-US" sz="1500" dirty="0"/>
          </a:p>
        </p:txBody>
      </p:sp>
      <p:sp>
        <p:nvSpPr>
          <p:cNvPr id="14" name="Shape 11"/>
          <p:cNvSpPr/>
          <p:nvPr/>
        </p:nvSpPr>
        <p:spPr>
          <a:xfrm>
            <a:off x="566928" y="4338828"/>
            <a:ext cx="11057839" cy="934974"/>
          </a:xfrm>
          <a:prstGeom prst="roundRect">
            <a:avLst>
              <a:gd name="adj" fmla="val 4890"/>
            </a:avLst>
          </a:prstGeom>
          <a:solidFill>
            <a:srgbClr val="F3EFFD"/>
          </a:solidFill>
          <a:ln w="9525">
            <a:solidFill>
              <a:srgbClr val="D9CEF5"/>
            </a:solidFill>
            <a:prstDash val="solid"/>
          </a:ln>
        </p:spPr>
      </p:sp>
      <p:sp>
        <p:nvSpPr>
          <p:cNvPr id="15" name="Shape 12"/>
          <p:cNvSpPr/>
          <p:nvPr/>
        </p:nvSpPr>
        <p:spPr>
          <a:xfrm>
            <a:off x="768096" y="4632579"/>
            <a:ext cx="347472" cy="347472"/>
          </a:xfrm>
          <a:prstGeom prst="ellipse">
            <a:avLst/>
          </a:prstGeom>
          <a:solidFill>
            <a:srgbClr val="512BD4"/>
          </a:solidFill>
          <a:ln/>
        </p:spPr>
      </p:sp>
      <p:sp>
        <p:nvSpPr>
          <p:cNvPr id="16" name="Text 13"/>
          <p:cNvSpPr txBox="1"/>
          <p:nvPr/>
        </p:nvSpPr>
        <p:spPr>
          <a:xfrm>
            <a:off x="768096" y="4632579"/>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txBox="1"/>
          <p:nvPr/>
        </p:nvSpPr>
        <p:spPr>
          <a:xfrm>
            <a:off x="1298448" y="4338828"/>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DELETE   </a:t>
            </a:r>
            <a:pPr indent="0" marL="0">
              <a:buNone/>
            </a:pPr>
            <a:r>
              <a:rPr lang="en-US" sz="1250" dirty="0">
                <a:solidFill>
                  <a:srgbClr val="6E6785"/>
                </a:solidFill>
                <a:latin typeface="Calibri" pitchFamily="34" charset="0"/>
                <a:ea typeface="Calibri" pitchFamily="34" charset="-122"/>
                <a:cs typeface="Calibri" pitchFamily="34" charset="-120"/>
              </a:rPr>
              <a:t>idempotent — видалення вже видаленого повертає 204 або 404, бо клієнт хотів «щоб ресурсу не було»</a:t>
            </a:r>
            <a:endParaRPr lang="en-US" sz="1500" dirty="0"/>
          </a:p>
        </p:txBody>
      </p:sp>
      <p:sp>
        <p:nvSpPr>
          <p:cNvPr id="18" name="Shape 15"/>
          <p:cNvSpPr/>
          <p:nvPr/>
        </p:nvSpPr>
        <p:spPr>
          <a:xfrm>
            <a:off x="566928" y="5392674"/>
            <a:ext cx="11057839" cy="934974"/>
          </a:xfrm>
          <a:prstGeom prst="roundRect">
            <a:avLst>
              <a:gd name="adj" fmla="val 4890"/>
            </a:avLst>
          </a:prstGeom>
          <a:solidFill>
            <a:srgbClr val="F3EFFD"/>
          </a:solidFill>
          <a:ln w="9525">
            <a:solidFill>
              <a:srgbClr val="D9CEF5"/>
            </a:solidFill>
            <a:prstDash val="solid"/>
          </a:ln>
        </p:spPr>
      </p:sp>
      <p:sp>
        <p:nvSpPr>
          <p:cNvPr id="19" name="Shape 16"/>
          <p:cNvSpPr/>
          <p:nvPr/>
        </p:nvSpPr>
        <p:spPr>
          <a:xfrm>
            <a:off x="768096" y="5686425"/>
            <a:ext cx="347472" cy="347472"/>
          </a:xfrm>
          <a:prstGeom prst="ellipse">
            <a:avLst/>
          </a:prstGeom>
          <a:solidFill>
            <a:srgbClr val="512BD4"/>
          </a:solidFill>
          <a:ln/>
        </p:spPr>
      </p:sp>
      <p:sp>
        <p:nvSpPr>
          <p:cNvPr id="20" name="Text 17"/>
          <p:cNvSpPr txBox="1"/>
          <p:nvPr/>
        </p:nvSpPr>
        <p:spPr>
          <a:xfrm>
            <a:off x="768096" y="5686425"/>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txBox="1"/>
          <p:nvPr/>
        </p:nvSpPr>
        <p:spPr>
          <a:xfrm>
            <a:off x="1298448" y="5392674"/>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POST   </a:t>
            </a:r>
            <a:pPr indent="0" marL="0">
              <a:buNone/>
            </a:pPr>
            <a:r>
              <a:rPr lang="en-US" sz="1250" dirty="0">
                <a:solidFill>
                  <a:srgbClr val="6E6785"/>
                </a:solidFill>
                <a:latin typeface="Calibri" pitchFamily="34" charset="0"/>
                <a:ea typeface="Calibri" pitchFamily="34" charset="-122"/>
                <a:cs typeface="Calibri" pitchFamily="34" charset="-120"/>
              </a:rPr>
              <a:t>НЕ idempotent — кожен виклик створює новий ресурс; для захисту від дублів — заголовок Idempotency-Key</a:t>
            </a:r>
            <a:endParaRPr lang="en-US" sz="1500" dirty="0"/>
          </a:p>
        </p:txBody>
      </p:sp>
      <p:sp>
        <p:nvSpPr>
          <p:cNvPr id="22" name="Text 19"/>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60</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Коди відповідей для CRUD API</a:t>
            </a:r>
            <a:endParaRPr lang="en-US" sz="30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66928" y="1243584"/>
          <a:ext cx="11057839" cy="914400"/>
        </p:xfrm>
        <a:graphic>
          <a:graphicData uri="http://schemas.openxmlformats.org/drawingml/2006/table">
            <a:tbl>
              <a:tblPr/>
              <a:tblGrid>
                <a:gridCol w="2743200"/>
                <a:gridCol w="8321040"/>
              </a:tblGrid>
              <a:tr h="56286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Код</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Коли</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r>
              <a:tr h="562864">
                <a:tc>
                  <a:txBody>
                    <a:bodyPr/>
                    <a:lstStyle/>
                    <a:p>
                      <a:pPr indent="0" marL="0">
                        <a:buNone/>
                      </a:pPr>
                      <a:r>
                        <a:rPr lang="en-US" sz="1100" dirty="0">
                          <a:solidFill>
                            <a:srgbClr val="241C3B"/>
                          </a:solidFill>
                          <a:latin typeface="Calibri" pitchFamily="34" charset="0"/>
                          <a:ea typeface="Calibri" pitchFamily="34" charset="-122"/>
                          <a:cs typeface="Calibri" pitchFamily="34" charset="-120"/>
                        </a:rPr>
                        <a:t>200 / 201 / 204</a:t>
                      </a:r>
                      <a:endParaRPr lang="en-US" sz="11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100" dirty="0">
                          <a:solidFill>
                            <a:srgbClr val="241C3B"/>
                          </a:solidFill>
                          <a:latin typeface="Calibri" pitchFamily="34" charset="0"/>
                          <a:ea typeface="Calibri" pitchFamily="34" charset="-122"/>
                          <a:cs typeface="Calibri" pitchFamily="34" charset="-120"/>
                        </a:rPr>
                        <a:t>успіх з тілом / створено (+Location) / успіх без тіла</a:t>
                      </a:r>
                      <a:endParaRPr lang="en-US" sz="11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562864">
                <a:tc>
                  <a:txBody>
                    <a:bodyPr/>
                    <a:lstStyle/>
                    <a:p>
                      <a:pPr indent="0" marL="0">
                        <a:buNone/>
                      </a:pPr>
                      <a:r>
                        <a:rPr lang="en-US" sz="1100" dirty="0">
                          <a:solidFill>
                            <a:srgbClr val="241C3B"/>
                          </a:solidFill>
                          <a:latin typeface="Calibri" pitchFamily="34" charset="0"/>
                          <a:ea typeface="Calibri" pitchFamily="34" charset="-122"/>
                          <a:cs typeface="Calibri" pitchFamily="34" charset="-120"/>
                        </a:rPr>
                        <a:t>400 Bad Request</a:t>
                      </a:r>
                      <a:endParaRPr lang="en-US" sz="11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100" dirty="0">
                          <a:solidFill>
                            <a:srgbClr val="241C3B"/>
                          </a:solidFill>
                          <a:latin typeface="Calibri" pitchFamily="34" charset="0"/>
                          <a:ea typeface="Calibri" pitchFamily="34" charset="-122"/>
                          <a:cs typeface="Calibri" pitchFamily="34" charset="-120"/>
                        </a:rPr>
                        <a:t>синтаксично невірний запит або помилка прив'язки</a:t>
                      </a:r>
                      <a:endParaRPr lang="en-US" sz="11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562864">
                <a:tc>
                  <a:txBody>
                    <a:bodyPr/>
                    <a:lstStyle/>
                    <a:p>
                      <a:pPr indent="0" marL="0">
                        <a:buNone/>
                      </a:pPr>
                      <a:r>
                        <a:rPr lang="en-US" sz="1100" dirty="0">
                          <a:solidFill>
                            <a:srgbClr val="241C3B"/>
                          </a:solidFill>
                          <a:latin typeface="Calibri" pitchFamily="34" charset="0"/>
                          <a:ea typeface="Calibri" pitchFamily="34" charset="-122"/>
                          <a:cs typeface="Calibri" pitchFamily="34" charset="-120"/>
                        </a:rPr>
                        <a:t>401 / 403</a:t>
                      </a:r>
                      <a:endParaRPr lang="en-US" sz="11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100" dirty="0">
                          <a:solidFill>
                            <a:srgbClr val="241C3B"/>
                          </a:solidFill>
                          <a:latin typeface="Calibri" pitchFamily="34" charset="0"/>
                          <a:ea typeface="Calibri" pitchFamily="34" charset="-122"/>
                          <a:cs typeface="Calibri" pitchFamily="34" charset="-120"/>
                        </a:rPr>
                        <a:t>не автентифікований / немає прав</a:t>
                      </a:r>
                      <a:endParaRPr lang="en-US" sz="11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562864">
                <a:tc>
                  <a:txBody>
                    <a:bodyPr/>
                    <a:lstStyle/>
                    <a:p>
                      <a:pPr indent="0" marL="0">
                        <a:buNone/>
                      </a:pPr>
                      <a:r>
                        <a:rPr lang="en-US" sz="1100" dirty="0">
                          <a:solidFill>
                            <a:srgbClr val="241C3B"/>
                          </a:solidFill>
                          <a:latin typeface="Calibri" pitchFamily="34" charset="0"/>
                          <a:ea typeface="Calibri" pitchFamily="34" charset="-122"/>
                          <a:cs typeface="Calibri" pitchFamily="34" charset="-120"/>
                        </a:rPr>
                        <a:t>404 / 405</a:t>
                      </a:r>
                      <a:endParaRPr lang="en-US" sz="11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100" dirty="0">
                          <a:solidFill>
                            <a:srgbClr val="241C3B"/>
                          </a:solidFill>
                          <a:latin typeface="Calibri" pitchFamily="34" charset="0"/>
                          <a:ea typeface="Calibri" pitchFamily="34" charset="-122"/>
                          <a:cs typeface="Calibri" pitchFamily="34" charset="-120"/>
                        </a:rPr>
                        <a:t>ресурсу немає / метод не підтримується для URI (є заголовок Allow)</a:t>
                      </a:r>
                      <a:endParaRPr lang="en-US" sz="11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562864">
                <a:tc>
                  <a:txBody>
                    <a:bodyPr/>
                    <a:lstStyle/>
                    <a:p>
                      <a:pPr indent="0" marL="0">
                        <a:buNone/>
                      </a:pPr>
                      <a:r>
                        <a:rPr lang="en-US" sz="1100" dirty="0">
                          <a:solidFill>
                            <a:srgbClr val="241C3B"/>
                          </a:solidFill>
                          <a:latin typeface="Calibri" pitchFamily="34" charset="0"/>
                          <a:ea typeface="Calibri" pitchFamily="34" charset="-122"/>
                          <a:cs typeface="Calibri" pitchFamily="34" charset="-120"/>
                        </a:rPr>
                        <a:t>409 Conflict</a:t>
                      </a:r>
                      <a:endParaRPr lang="en-US" sz="11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100" dirty="0">
                          <a:solidFill>
                            <a:srgbClr val="241C3B"/>
                          </a:solidFill>
                          <a:latin typeface="Calibri" pitchFamily="34" charset="0"/>
                          <a:ea typeface="Calibri" pitchFamily="34" charset="-122"/>
                          <a:cs typeface="Calibri" pitchFamily="34" charset="-120"/>
                        </a:rPr>
                        <a:t>конфлікт стану (дубль ключа, застаріла версія)</a:t>
                      </a:r>
                      <a:endParaRPr lang="en-US" sz="11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562864">
                <a:tc>
                  <a:txBody>
                    <a:bodyPr/>
                    <a:lstStyle/>
                    <a:p>
                      <a:pPr indent="0" marL="0">
                        <a:buNone/>
                      </a:pPr>
                      <a:r>
                        <a:rPr lang="en-US" sz="1100" dirty="0">
                          <a:solidFill>
                            <a:srgbClr val="241C3B"/>
                          </a:solidFill>
                          <a:latin typeface="Calibri" pitchFamily="34" charset="0"/>
                          <a:ea typeface="Calibri" pitchFamily="34" charset="-122"/>
                          <a:cs typeface="Calibri" pitchFamily="34" charset="-120"/>
                        </a:rPr>
                        <a:t>412 / 428</a:t>
                      </a:r>
                      <a:endParaRPr lang="en-US" sz="11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100" dirty="0">
                          <a:solidFill>
                            <a:srgbClr val="241C3B"/>
                          </a:solidFill>
                          <a:latin typeface="Calibri" pitchFamily="34" charset="0"/>
                          <a:ea typeface="Calibri" pitchFamily="34" charset="-122"/>
                          <a:cs typeface="Calibri" pitchFamily="34" charset="-120"/>
                        </a:rPr>
                        <a:t>передумова не виконана / передумова обов'язкова (ETag)</a:t>
                      </a:r>
                      <a:endParaRPr lang="en-US" sz="11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562864">
                <a:tc>
                  <a:txBody>
                    <a:bodyPr/>
                    <a:lstStyle/>
                    <a:p>
                      <a:pPr indent="0" marL="0">
                        <a:buNone/>
                      </a:pPr>
                      <a:r>
                        <a:rPr lang="en-US" sz="1100" dirty="0">
                          <a:solidFill>
                            <a:srgbClr val="241C3B"/>
                          </a:solidFill>
                          <a:latin typeface="Calibri" pitchFamily="34" charset="0"/>
                          <a:ea typeface="Calibri" pitchFamily="34" charset="-122"/>
                          <a:cs typeface="Calibri" pitchFamily="34" charset="-120"/>
                        </a:rPr>
                        <a:t>415 / 422</a:t>
                      </a:r>
                      <a:endParaRPr lang="en-US" sz="11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100" dirty="0">
                          <a:solidFill>
                            <a:srgbClr val="241C3B"/>
                          </a:solidFill>
                          <a:latin typeface="Calibri" pitchFamily="34" charset="0"/>
                          <a:ea typeface="Calibri" pitchFamily="34" charset="-122"/>
                          <a:cs typeface="Calibri" pitchFamily="34" charset="-120"/>
                        </a:rPr>
                        <a:t>непідтримуваний Content-Type / семантично невірні дані</a:t>
                      </a:r>
                      <a:endParaRPr lang="en-US" sz="11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562864">
                <a:tc>
                  <a:txBody>
                    <a:bodyPr/>
                    <a:lstStyle/>
                    <a:p>
                      <a:pPr indent="0" marL="0">
                        <a:buNone/>
                      </a:pPr>
                      <a:r>
                        <a:rPr lang="en-US" sz="1100" dirty="0">
                          <a:solidFill>
                            <a:srgbClr val="241C3B"/>
                          </a:solidFill>
                          <a:latin typeface="Calibri" pitchFamily="34" charset="0"/>
                          <a:ea typeface="Calibri" pitchFamily="34" charset="-122"/>
                          <a:cs typeface="Calibri" pitchFamily="34" charset="-120"/>
                        </a:rPr>
                        <a:t>429 / 500 / 503</a:t>
                      </a:r>
                      <a:endParaRPr lang="en-US" sz="11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100" dirty="0">
                          <a:solidFill>
                            <a:srgbClr val="241C3B"/>
                          </a:solidFill>
                          <a:latin typeface="Calibri" pitchFamily="34" charset="0"/>
                          <a:ea typeface="Calibri" pitchFamily="34" charset="-122"/>
                          <a:cs typeface="Calibri" pitchFamily="34" charset="-120"/>
                        </a:rPr>
                        <a:t>забагато запитів / помилка сервера / сервіс недоступний</a:t>
                      </a:r>
                      <a:endParaRPr lang="en-US" sz="11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bl>
          </a:graphicData>
        </a:graphic>
      </p:graphicFrame>
      <p:sp>
        <p:nvSpPr>
          <p:cNvPr id="5" name="Text 1"/>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61</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Модель зрілості Річардсона</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Модель Річардсона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шкала з чотирьох рівнів, що показує, наскільки API використовує можливості HTTP — від RPC поверх одного URL до повноцінного гіпермедіа.</a:t>
            </a:r>
            <a:endParaRPr lang="en-US" sz="1450" dirty="0"/>
          </a:p>
        </p:txBody>
      </p:sp>
      <p:pic>
        <p:nvPicPr>
          <p:cNvPr id="6" name="Image 0" descr="C:\Users\Yurii\AppData\Local\Temp\claude\C--Users-Yurii-source-repos---Examples-ASP-NET-AspNet-Basics\130b0e02-3c53-4be1-ac71-0d4d7a5d1c71\scratchpad\deck\assets\d10_richardson.png">    </p:cNvPr>
          <p:cNvPicPr>
            <a:picLocks noChangeAspect="1"/>
          </p:cNvPicPr>
          <p:nvPr/>
        </p:nvPicPr>
        <p:blipFill>
          <a:blip r:embed="rId1"/>
          <a:stretch>
            <a:fillRect/>
          </a:stretch>
        </p:blipFill>
        <p:spPr>
          <a:xfrm>
            <a:off x="2997229" y="2276856"/>
            <a:ext cx="6197237" cy="3529584"/>
          </a:xfrm>
          <a:prstGeom prst="rect">
            <a:avLst/>
          </a:prstGeom>
        </p:spPr>
      </p:pic>
      <p:sp>
        <p:nvSpPr>
          <p:cNvPr id="7" name="Shape 3"/>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8" name="Text 4"/>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dirty="0">
                <a:solidFill>
                  <a:srgbClr val="241C3B"/>
                </a:solidFill>
                <a:latin typeface="Calibri" pitchFamily="34" charset="0"/>
                <a:ea typeface="Calibri" pitchFamily="34" charset="-122"/>
                <a:cs typeface="Calibri" pitchFamily="34" charset="-120"/>
              </a:rPr>
              <a:t>Більшість промислових API живуть на рівні 2 — і це нормально. Рівень 3 корисний для складних робочих процесів.</a:t>
            </a:r>
            <a:endParaRPr lang="en-US" sz="1200" dirty="0"/>
          </a:p>
        </p:txBody>
      </p:sp>
      <p:sp>
        <p:nvSpPr>
          <p:cNvPr id="9" name="Text 5"/>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62</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Дизайн URI</a:t>
            </a:r>
            <a:endParaRPr lang="en-US" sz="3000" dirty="0"/>
          </a:p>
        </p:txBody>
      </p:sp>
      <p:sp>
        <p:nvSpPr>
          <p:cNvPr id="4" name="Text 1"/>
          <p:cNvSpPr txBox="1"/>
          <p:nvPr/>
        </p:nvSpPr>
        <p:spPr>
          <a:xfrm>
            <a:off x="566928" y="1243584"/>
            <a:ext cx="11057839" cy="457200"/>
          </a:xfrm>
          <a:prstGeom prst="rect">
            <a:avLst/>
          </a:prstGeom>
          <a:noFill/>
          <a:ln/>
        </p:spPr>
        <p:txBody>
          <a:bodyPr wrap="square" lIns="0" tIns="0" rIns="0" bIns="0" rtlCol="0" anchor="t"/>
          <a:lstStyle/>
          <a:p>
            <a:pPr indent="0" marL="0">
              <a:lnSpc>
                <a:spcPct val="116000"/>
              </a:lnSpc>
              <a:buNone/>
            </a:pPr>
            <a:r>
              <a:rPr lang="en-US" sz="1300" dirty="0">
                <a:solidFill>
                  <a:srgbClr val="241C3B"/>
                </a:solidFill>
                <a:latin typeface="Calibri" pitchFamily="34" charset="0"/>
                <a:ea typeface="Calibri" pitchFamily="34" charset="-122"/>
                <a:cs typeface="Calibri" pitchFamily="34" charset="-120"/>
              </a:rPr>
              <a:t>URI — це ім'я ресурсу, і його форма має бути передбачуваною. Кілька практичних правил:</a:t>
            </a:r>
            <a:endParaRPr lang="en-US" sz="1300" dirty="0"/>
          </a:p>
        </p:txBody>
      </p:sp>
      <p:sp>
        <p:nvSpPr>
          <p:cNvPr id="5" name="Shape 2"/>
          <p:cNvSpPr/>
          <p:nvPr/>
        </p:nvSpPr>
        <p:spPr>
          <a:xfrm>
            <a:off x="566928" y="1847088"/>
            <a:ext cx="11057839" cy="801014"/>
          </a:xfrm>
          <a:prstGeom prst="roundRect">
            <a:avLst>
              <a:gd name="adj" fmla="val 5708"/>
            </a:avLst>
          </a:prstGeom>
          <a:solidFill>
            <a:srgbClr val="F3EFFD"/>
          </a:solidFill>
          <a:ln w="9525">
            <a:solidFill>
              <a:srgbClr val="D9CEF5"/>
            </a:solidFill>
            <a:prstDash val="solid"/>
          </a:ln>
        </p:spPr>
      </p:sp>
      <p:sp>
        <p:nvSpPr>
          <p:cNvPr id="6" name="Shape 3"/>
          <p:cNvSpPr/>
          <p:nvPr/>
        </p:nvSpPr>
        <p:spPr>
          <a:xfrm>
            <a:off x="768096" y="2073859"/>
            <a:ext cx="347472" cy="347472"/>
          </a:xfrm>
          <a:prstGeom prst="ellipse">
            <a:avLst/>
          </a:prstGeom>
          <a:solidFill>
            <a:srgbClr val="512BD4"/>
          </a:solidFill>
          <a:ln/>
        </p:spPr>
      </p:sp>
      <p:sp>
        <p:nvSpPr>
          <p:cNvPr id="7" name="Text 4"/>
          <p:cNvSpPr txBox="1"/>
          <p:nvPr/>
        </p:nvSpPr>
        <p:spPr>
          <a:xfrm>
            <a:off x="768096" y="2073859"/>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298448" y="1847088"/>
            <a:ext cx="10097719" cy="80101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Іменник, а не дієслово   </a:t>
            </a:r>
            <a:pPr indent="0" marL="0">
              <a:buNone/>
            </a:pPr>
            <a:r>
              <a:rPr lang="en-US" sz="1250" dirty="0">
                <a:solidFill>
                  <a:srgbClr val="6E6785"/>
                </a:solidFill>
                <a:latin typeface="Calibri" pitchFamily="34" charset="0"/>
                <a:ea typeface="Calibri" pitchFamily="34" charset="-122"/>
                <a:cs typeface="Calibri" pitchFamily="34" charset="-120"/>
              </a:rPr>
              <a:t>/products/42 — правильно; /getProduct?id=42 — ні (дія закодована в методі HTTP)</a:t>
            </a:r>
            <a:endParaRPr lang="en-US" sz="1500" dirty="0"/>
          </a:p>
        </p:txBody>
      </p:sp>
      <p:sp>
        <p:nvSpPr>
          <p:cNvPr id="9" name="Shape 6"/>
          <p:cNvSpPr/>
          <p:nvPr/>
        </p:nvSpPr>
        <p:spPr>
          <a:xfrm>
            <a:off x="566928" y="2766974"/>
            <a:ext cx="11057839" cy="801014"/>
          </a:xfrm>
          <a:prstGeom prst="roundRect">
            <a:avLst>
              <a:gd name="adj" fmla="val 5708"/>
            </a:avLst>
          </a:prstGeom>
          <a:solidFill>
            <a:srgbClr val="F3EFFD"/>
          </a:solidFill>
          <a:ln w="9525">
            <a:solidFill>
              <a:srgbClr val="D9CEF5"/>
            </a:solidFill>
            <a:prstDash val="solid"/>
          </a:ln>
        </p:spPr>
      </p:sp>
      <p:sp>
        <p:nvSpPr>
          <p:cNvPr id="10" name="Shape 7"/>
          <p:cNvSpPr/>
          <p:nvPr/>
        </p:nvSpPr>
        <p:spPr>
          <a:xfrm>
            <a:off x="768096" y="2993746"/>
            <a:ext cx="347472" cy="347472"/>
          </a:xfrm>
          <a:prstGeom prst="ellipse">
            <a:avLst/>
          </a:prstGeom>
          <a:solidFill>
            <a:srgbClr val="512BD4"/>
          </a:solidFill>
          <a:ln/>
        </p:spPr>
      </p:sp>
      <p:sp>
        <p:nvSpPr>
          <p:cNvPr id="11" name="Text 8"/>
          <p:cNvSpPr txBox="1"/>
          <p:nvPr/>
        </p:nvSpPr>
        <p:spPr>
          <a:xfrm>
            <a:off x="768096" y="299374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txBox="1"/>
          <p:nvPr/>
        </p:nvSpPr>
        <p:spPr>
          <a:xfrm>
            <a:off x="1298448" y="2766974"/>
            <a:ext cx="10097719" cy="80101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Колекція — у множині   </a:t>
            </a:r>
            <a:pPr indent="0" marL="0">
              <a:buNone/>
            </a:pPr>
            <a:r>
              <a:rPr lang="en-US" sz="1250" dirty="0">
                <a:solidFill>
                  <a:srgbClr val="6E6785"/>
                </a:solidFill>
                <a:latin typeface="Calibri" pitchFamily="34" charset="0"/>
                <a:ea typeface="Calibri" pitchFamily="34" charset="-122"/>
                <a:cs typeface="Calibri" pitchFamily="34" charset="-120"/>
              </a:rPr>
              <a:t>/products — колекція; /products/42 — елемент; /products/42/reviews — відношення через вкладеність</a:t>
            </a:r>
            <a:endParaRPr lang="en-US" sz="1500" dirty="0"/>
          </a:p>
        </p:txBody>
      </p:sp>
      <p:sp>
        <p:nvSpPr>
          <p:cNvPr id="13" name="Shape 10"/>
          <p:cNvSpPr/>
          <p:nvPr/>
        </p:nvSpPr>
        <p:spPr>
          <a:xfrm>
            <a:off x="566928" y="3686861"/>
            <a:ext cx="11057839" cy="801014"/>
          </a:xfrm>
          <a:prstGeom prst="roundRect">
            <a:avLst>
              <a:gd name="adj" fmla="val 5708"/>
            </a:avLst>
          </a:prstGeom>
          <a:solidFill>
            <a:srgbClr val="F3EFFD"/>
          </a:solidFill>
          <a:ln w="9525">
            <a:solidFill>
              <a:srgbClr val="D9CEF5"/>
            </a:solidFill>
            <a:prstDash val="solid"/>
          </a:ln>
        </p:spPr>
      </p:sp>
      <p:sp>
        <p:nvSpPr>
          <p:cNvPr id="14" name="Shape 11"/>
          <p:cNvSpPr/>
          <p:nvPr/>
        </p:nvSpPr>
        <p:spPr>
          <a:xfrm>
            <a:off x="768096" y="3913632"/>
            <a:ext cx="347472" cy="347472"/>
          </a:xfrm>
          <a:prstGeom prst="ellipse">
            <a:avLst/>
          </a:prstGeom>
          <a:solidFill>
            <a:srgbClr val="512BD4"/>
          </a:solidFill>
          <a:ln/>
        </p:spPr>
      </p:sp>
      <p:sp>
        <p:nvSpPr>
          <p:cNvPr id="15" name="Text 12"/>
          <p:cNvSpPr txBox="1"/>
          <p:nvPr/>
        </p:nvSpPr>
        <p:spPr>
          <a:xfrm>
            <a:off x="768096" y="391363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3"/>
          <p:cNvSpPr txBox="1"/>
          <p:nvPr/>
        </p:nvSpPr>
        <p:spPr>
          <a:xfrm>
            <a:off x="1298448" y="3686861"/>
            <a:ext cx="10097719" cy="80101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Дії поза CRUD — під-ресурс стану   </a:t>
            </a:r>
            <a:pPr indent="0" marL="0">
              <a:buNone/>
            </a:pPr>
            <a:r>
              <a:rPr lang="en-US" sz="1250" dirty="0">
                <a:solidFill>
                  <a:srgbClr val="6E6785"/>
                </a:solidFill>
                <a:latin typeface="Calibri" pitchFamily="34" charset="0"/>
                <a:ea typeface="Calibri" pitchFamily="34" charset="-122"/>
                <a:cs typeface="Calibri" pitchFamily="34" charset="-120"/>
              </a:rPr>
              <a:t>POST /orders/42/cancellation читабельніше й «ресурсніше», ніж POST /orders/42/cancel</a:t>
            </a:r>
            <a:endParaRPr lang="en-US" sz="1500" dirty="0"/>
          </a:p>
        </p:txBody>
      </p:sp>
      <p:sp>
        <p:nvSpPr>
          <p:cNvPr id="17" name="Shape 14"/>
          <p:cNvSpPr/>
          <p:nvPr/>
        </p:nvSpPr>
        <p:spPr>
          <a:xfrm>
            <a:off x="566928" y="4606747"/>
            <a:ext cx="11057839" cy="801014"/>
          </a:xfrm>
          <a:prstGeom prst="roundRect">
            <a:avLst>
              <a:gd name="adj" fmla="val 5708"/>
            </a:avLst>
          </a:prstGeom>
          <a:solidFill>
            <a:srgbClr val="F3EFFD"/>
          </a:solidFill>
          <a:ln w="9525">
            <a:solidFill>
              <a:srgbClr val="D9CEF5"/>
            </a:solidFill>
            <a:prstDash val="solid"/>
          </a:ln>
        </p:spPr>
      </p:sp>
      <p:sp>
        <p:nvSpPr>
          <p:cNvPr id="18" name="Shape 15"/>
          <p:cNvSpPr/>
          <p:nvPr/>
        </p:nvSpPr>
        <p:spPr>
          <a:xfrm>
            <a:off x="768096" y="4833518"/>
            <a:ext cx="347472" cy="347472"/>
          </a:xfrm>
          <a:prstGeom prst="ellipse">
            <a:avLst/>
          </a:prstGeom>
          <a:solidFill>
            <a:srgbClr val="512BD4"/>
          </a:solidFill>
          <a:ln/>
        </p:spPr>
      </p:sp>
      <p:sp>
        <p:nvSpPr>
          <p:cNvPr id="19" name="Text 16"/>
          <p:cNvSpPr txBox="1"/>
          <p:nvPr/>
        </p:nvSpPr>
        <p:spPr>
          <a:xfrm>
            <a:off x="768096" y="483351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7"/>
          <p:cNvSpPr txBox="1"/>
          <p:nvPr/>
        </p:nvSpPr>
        <p:spPr>
          <a:xfrm>
            <a:off x="1298448" y="4606747"/>
            <a:ext cx="10097719" cy="80101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Фільтри й пагінація — у query   </a:t>
            </a:r>
            <a:pPr indent="0" marL="0">
              <a:buNone/>
            </a:pPr>
            <a:r>
              <a:rPr lang="en-US" sz="1250" dirty="0">
                <a:solidFill>
                  <a:srgbClr val="6E6785"/>
                </a:solidFill>
                <a:latin typeface="Calibri" pitchFamily="34" charset="0"/>
                <a:ea typeface="Calibri" pitchFamily="34" charset="-122"/>
                <a:cs typeface="Calibri" pitchFamily="34" charset="-120"/>
              </a:rPr>
              <a:t>?category=laptops&amp;minPrice=100&amp;sort=-price&amp;page=2 — не в шляху</a:t>
            </a:r>
            <a:endParaRPr lang="en-US" sz="1500" dirty="0"/>
          </a:p>
        </p:txBody>
      </p:sp>
      <p:sp>
        <p:nvSpPr>
          <p:cNvPr id="21" name="Shape 18"/>
          <p:cNvSpPr/>
          <p:nvPr/>
        </p:nvSpPr>
        <p:spPr>
          <a:xfrm>
            <a:off x="566928" y="5526634"/>
            <a:ext cx="11057839" cy="801014"/>
          </a:xfrm>
          <a:prstGeom prst="roundRect">
            <a:avLst>
              <a:gd name="adj" fmla="val 5708"/>
            </a:avLst>
          </a:prstGeom>
          <a:solidFill>
            <a:srgbClr val="F3EFFD"/>
          </a:solidFill>
          <a:ln w="9525">
            <a:solidFill>
              <a:srgbClr val="D9CEF5"/>
            </a:solidFill>
            <a:prstDash val="solid"/>
          </a:ln>
        </p:spPr>
      </p:sp>
      <p:sp>
        <p:nvSpPr>
          <p:cNvPr id="22" name="Shape 19"/>
          <p:cNvSpPr/>
          <p:nvPr/>
        </p:nvSpPr>
        <p:spPr>
          <a:xfrm>
            <a:off x="768096" y="5753405"/>
            <a:ext cx="347472" cy="347472"/>
          </a:xfrm>
          <a:prstGeom prst="ellipse">
            <a:avLst/>
          </a:prstGeom>
          <a:solidFill>
            <a:srgbClr val="512BD4"/>
          </a:solidFill>
          <a:ln/>
        </p:spPr>
      </p:sp>
      <p:sp>
        <p:nvSpPr>
          <p:cNvPr id="23" name="Text 20"/>
          <p:cNvSpPr txBox="1"/>
          <p:nvPr/>
        </p:nvSpPr>
        <p:spPr>
          <a:xfrm>
            <a:off x="768096" y="5753405"/>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1"/>
          <p:cNvSpPr txBox="1"/>
          <p:nvPr/>
        </p:nvSpPr>
        <p:spPr>
          <a:xfrm>
            <a:off x="1298448" y="5526634"/>
            <a:ext cx="10097719" cy="80101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Стабільність   </a:t>
            </a:r>
            <a:pPr indent="0" marL="0">
              <a:buNone/>
            </a:pPr>
            <a:r>
              <a:rPr lang="en-US" sz="1250" dirty="0">
                <a:solidFill>
                  <a:srgbClr val="6E6785"/>
                </a:solidFill>
                <a:latin typeface="Calibri" pitchFamily="34" charset="0"/>
                <a:ea typeface="Calibri" pitchFamily="34" charset="-122"/>
                <a:cs typeface="Calibri" pitchFamily="34" charset="-120"/>
              </a:rPr>
              <a:t>URI ресурсу не повинен «стрибати» між версіями — версіонуйте контракт відповіді, а не ідентичність</a:t>
            </a:r>
            <a:endParaRPr lang="en-US" sz="1500" dirty="0"/>
          </a:p>
        </p:txBody>
      </p:sp>
      <p:sp>
        <p:nvSpPr>
          <p:cNvPr id="25" name="Text 22"/>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63</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3EFFD"/>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Модуль 7 — приклад</a:t>
            </a:r>
            <a:endParaRPr lang="en-US" sz="3000" dirty="0"/>
          </a:p>
        </p:txBody>
      </p:sp>
      <p:sp>
        <p:nvSpPr>
          <p:cNvPr id="4" name="Shape 1"/>
          <p:cNvSpPr/>
          <p:nvPr/>
        </p:nvSpPr>
        <p:spPr>
          <a:xfrm>
            <a:off x="1847088" y="2519172"/>
            <a:ext cx="3566160" cy="502920"/>
          </a:xfrm>
          <a:prstGeom prst="roundRect">
            <a:avLst>
              <a:gd name="adj" fmla="val 12727"/>
            </a:avLst>
          </a:prstGeom>
          <a:solidFill>
            <a:srgbClr val="512BD4"/>
          </a:solidFill>
          <a:ln/>
        </p:spPr>
      </p:sp>
      <p:sp>
        <p:nvSpPr>
          <p:cNvPr id="5" name="Text 2"/>
          <p:cNvSpPr txBox="1"/>
          <p:nvPr/>
        </p:nvSpPr>
        <p:spPr>
          <a:xfrm>
            <a:off x="1847088" y="2519172"/>
            <a:ext cx="356616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14.Rest.ResourcesAndVerbs</a:t>
            </a:r>
            <a:endParaRPr lang="en-US" sz="1400" dirty="0"/>
          </a:p>
        </p:txBody>
      </p:sp>
      <p:sp>
        <p:nvSpPr>
          <p:cNvPr id="6" name="Text 3"/>
          <p:cNvSpPr txBox="1"/>
          <p:nvPr/>
        </p:nvSpPr>
        <p:spPr>
          <a:xfrm>
            <a:off x="1847088" y="3204972"/>
            <a:ext cx="8497519" cy="640080"/>
          </a:xfrm>
          <a:prstGeom prst="rect">
            <a:avLst/>
          </a:prstGeom>
          <a:noFill/>
          <a:ln/>
        </p:spPr>
        <p:txBody>
          <a:bodyPr wrap="square" lIns="0" tIns="0" rIns="0" bIns="0" rtlCol="0" anchor="ctr"/>
          <a:lstStyle/>
          <a:p>
            <a:pPr indent="0" marL="0">
              <a:buNone/>
            </a:pPr>
            <a:r>
              <a:rPr lang="en-US" sz="2800" b="1" dirty="0">
                <a:solidFill>
                  <a:srgbClr val="241C3B"/>
                </a:solidFill>
                <a:latin typeface="Cambria" pitchFamily="34" charset="0"/>
                <a:ea typeface="Cambria" pitchFamily="34" charset="-122"/>
                <a:cs typeface="Cambria" pitchFamily="34" charset="-120"/>
              </a:rPr>
              <a:t>Ресурси та дієслова</a:t>
            </a:r>
            <a:endParaRPr lang="en-US" sz="2800" dirty="0"/>
          </a:p>
        </p:txBody>
      </p:sp>
      <p:sp>
        <p:nvSpPr>
          <p:cNvPr id="7" name="Text 4"/>
          <p:cNvSpPr txBox="1"/>
          <p:nvPr/>
        </p:nvSpPr>
        <p:spPr>
          <a:xfrm>
            <a:off x="1847088" y="3890772"/>
            <a:ext cx="8497519" cy="914400"/>
          </a:xfrm>
          <a:prstGeom prst="rect">
            <a:avLst/>
          </a:prstGeom>
          <a:noFill/>
          <a:ln/>
        </p:spPr>
        <p:txBody>
          <a:bodyPr wrap="square" lIns="0" tIns="0" rIns="0" bIns="0" rtlCol="0" anchor="ctr"/>
          <a:lstStyle/>
          <a:p>
            <a:pPr indent="0" marL="0">
              <a:buNone/>
            </a:pPr>
            <a:r>
              <a:rPr lang="en-US" sz="1500" dirty="0">
                <a:solidFill>
                  <a:srgbClr val="6E6785"/>
                </a:solidFill>
                <a:latin typeface="Calibri" pitchFamily="34" charset="0"/>
                <a:ea typeface="Calibri" pitchFamily="34" charset="-122"/>
                <a:cs typeface="Calibri" pitchFamily="34" charset="-120"/>
              </a:rPr>
              <a:t>семантика GET/POST/PUT/PATCH/DELETE, ідемпотентність, коди відповідей, Location, 405/415</a:t>
            </a:r>
            <a:endParaRPr lang="en-US" sz="1500" dirty="0"/>
          </a:p>
        </p:txBody>
      </p:sp>
      <p:sp>
        <p:nvSpPr>
          <p:cNvPr id="8" name="Text 5"/>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64</a:t>
            </a:r>
            <a:endParaRPr lang="en-US"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A1333"/>
        </a:solidFill>
      </p:bgPr>
    </p:bg>
    <p:spTree>
      <p:nvGrpSpPr>
        <p:cNvPr id="1" name=""/>
        <p:cNvGrpSpPr/>
        <p:nvPr/>
      </p:nvGrpSpPr>
      <p:grpSpPr>
        <a:xfrm>
          <a:off x="0" y="0"/>
          <a:ext cx="0" cy="0"/>
          <a:chOff x="0" y="0"/>
          <a:chExt cx="0" cy="0"/>
        </a:xfrm>
      </p:grpSpPr>
      <p:sp>
        <p:nvSpPr>
          <p:cNvPr id="3" name="Text 0"/>
          <p:cNvSpPr txBox="1"/>
          <p:nvPr/>
        </p:nvSpPr>
        <p:spPr>
          <a:xfrm>
            <a:off x="7680960" y="182880"/>
            <a:ext cx="4572000" cy="6400800"/>
          </a:xfrm>
          <a:prstGeom prst="rect">
            <a:avLst/>
          </a:prstGeom>
          <a:noFill/>
          <a:ln/>
        </p:spPr>
        <p:txBody>
          <a:bodyPr wrap="square" lIns="0" tIns="0" rIns="0" bIns="0" rtlCol="0" anchor="ctr"/>
          <a:lstStyle/>
          <a:p>
            <a:pPr algn="r" indent="0" marL="0">
              <a:buNone/>
            </a:pPr>
            <a:r>
              <a:rPr lang="en-US" sz="32000" b="1" dirty="0">
                <a:solidFill>
                  <a:srgbClr val="2A1E52"/>
                </a:solidFill>
                <a:latin typeface="Cambria" pitchFamily="34" charset="0"/>
                <a:ea typeface="Cambria" pitchFamily="34" charset="-122"/>
                <a:cs typeface="Cambria" pitchFamily="34" charset="-120"/>
              </a:rPr>
              <a:t>7</a:t>
            </a:r>
            <a:endParaRPr lang="en-US" sz="32000" dirty="0"/>
          </a:p>
        </p:txBody>
      </p:sp>
      <p:sp>
        <p:nvSpPr>
          <p:cNvPr id="4" name="Text 1"/>
          <p:cNvSpPr txBox="1"/>
          <p:nvPr/>
        </p:nvSpPr>
        <p:spPr>
          <a:xfrm>
            <a:off x="914400" y="2286000"/>
            <a:ext cx="8229600" cy="365760"/>
          </a:xfrm>
          <a:prstGeom prst="rect">
            <a:avLst/>
          </a:prstGeom>
          <a:noFill/>
          <a:ln/>
        </p:spPr>
        <p:txBody>
          <a:bodyPr wrap="square" lIns="0" tIns="0" rIns="0" bIns="0" rtlCol="0" anchor="ctr"/>
          <a:lstStyle/>
          <a:p>
            <a:pPr indent="0" marL="0">
              <a:buNone/>
            </a:pPr>
            <a:r>
              <a:rPr lang="en-US" sz="1500" b="1" spc="300" kern="0" dirty="0">
                <a:solidFill>
                  <a:srgbClr val="0E9C8E"/>
                </a:solidFill>
                <a:latin typeface="Calibri" pitchFamily="34" charset="0"/>
                <a:ea typeface="Calibri" pitchFamily="34" charset="-122"/>
                <a:cs typeface="Calibri" pitchFamily="34" charset="-120"/>
              </a:rPr>
              <a:t>МОДУЛЬ 7 · далі</a:t>
            </a:r>
            <a:endParaRPr lang="en-US" sz="1500" dirty="0"/>
          </a:p>
        </p:txBody>
      </p:sp>
      <p:sp>
        <p:nvSpPr>
          <p:cNvPr id="5" name="Text 2"/>
          <p:cNvSpPr txBox="1"/>
          <p:nvPr/>
        </p:nvSpPr>
        <p:spPr>
          <a:xfrm>
            <a:off x="914400" y="2743200"/>
            <a:ext cx="7772400" cy="15544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REST: представлення, колекції, версії</a:t>
            </a:r>
            <a:endParaRPr lang="en-US" sz="4000" dirty="0"/>
          </a:p>
        </p:txBody>
      </p:sp>
      <p:sp>
        <p:nvSpPr>
          <p:cNvPr id="6" name="Text 3"/>
          <p:cNvSpPr txBox="1"/>
          <p:nvPr/>
        </p:nvSpPr>
        <p:spPr>
          <a:xfrm>
            <a:off x="960120" y="4389120"/>
            <a:ext cx="6949440" cy="1828800"/>
          </a:xfrm>
          <a:prstGeom prst="rect">
            <a:avLst/>
          </a:prstGeom>
          <a:noFill/>
          <a:ln/>
        </p:spPr>
        <p:txBody>
          <a:bodyPr wrap="square" lIns="0" tIns="0" rIns="0" bIns="0" rtlCol="0" anchor="ctr"/>
          <a:lstStyle/>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content negotiation, ETag, умовні запити</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PATCH: JSON Patch vs Merge Patch</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пагінація, Problem Details</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версіонування, гіпермедіа</a:t>
            </a:r>
            <a:endParaRPr lang="en-US" sz="1400" dirty="0"/>
          </a:p>
        </p:txBody>
      </p:sp>
      <p:sp>
        <p:nvSpPr>
          <p:cNvPr id="7" name="Text 4"/>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9E93C4"/>
                </a:solidFill>
                <a:latin typeface="Calibri" pitchFamily="34" charset="0"/>
                <a:ea typeface="Calibri" pitchFamily="34" charset="-122"/>
                <a:cs typeface="Calibri" pitchFamily="34" charset="-120"/>
              </a:rPr>
              <a:t>65</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Content negotiation</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Content negotiation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узгодження формату: клієнт заголовком Accept каже, у якому вигляді хоче відповідь, а сервер обирає відповідний форматер (formatter) і повертає той самий ресурс у потрібному кодуванні.</a:t>
            </a:r>
            <a:endParaRPr lang="en-US" sz="1450" dirty="0"/>
          </a:p>
        </p:txBody>
      </p:sp>
      <p:sp>
        <p:nvSpPr>
          <p:cNvPr id="6" name="Shape 3"/>
          <p:cNvSpPr/>
          <p:nvPr/>
        </p:nvSpPr>
        <p:spPr>
          <a:xfrm>
            <a:off x="566928" y="2231136"/>
            <a:ext cx="11057839" cy="934974"/>
          </a:xfrm>
          <a:prstGeom prst="roundRect">
            <a:avLst>
              <a:gd name="adj" fmla="val 4890"/>
            </a:avLst>
          </a:prstGeom>
          <a:solidFill>
            <a:srgbClr val="F3EFFD"/>
          </a:solidFill>
          <a:ln w="9525">
            <a:solidFill>
              <a:srgbClr val="D9CEF5"/>
            </a:solidFill>
            <a:prstDash val="solid"/>
          </a:ln>
        </p:spPr>
      </p:sp>
      <p:sp>
        <p:nvSpPr>
          <p:cNvPr id="7" name="Shape 4"/>
          <p:cNvSpPr/>
          <p:nvPr/>
        </p:nvSpPr>
        <p:spPr>
          <a:xfrm>
            <a:off x="768096" y="2524887"/>
            <a:ext cx="347472" cy="347472"/>
          </a:xfrm>
          <a:prstGeom prst="ellipse">
            <a:avLst/>
          </a:prstGeom>
          <a:solidFill>
            <a:srgbClr val="512BD4"/>
          </a:solidFill>
          <a:ln/>
        </p:spPr>
      </p:sp>
      <p:sp>
        <p:nvSpPr>
          <p:cNvPr id="8" name="Text 5"/>
          <p:cNvSpPr txBox="1"/>
          <p:nvPr/>
        </p:nvSpPr>
        <p:spPr>
          <a:xfrm>
            <a:off x="768096" y="2524887"/>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1298448" y="2231136"/>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Accept: application/xml   </a:t>
            </a:r>
            <a:pPr indent="0" marL="0">
              <a:buNone/>
            </a:pPr>
            <a:r>
              <a:rPr lang="en-US" sz="1250" dirty="0">
                <a:solidFill>
                  <a:srgbClr val="6E6785"/>
                </a:solidFill>
                <a:latin typeface="Calibri" pitchFamily="34" charset="0"/>
                <a:ea typeface="Calibri" pitchFamily="34" charset="-122"/>
                <a:cs typeface="Calibri" pitchFamily="34" charset="-120"/>
              </a:rPr>
              <a:t>сервер обирає output formatter; MVC із коробки вміє JSON, XML підключається окремо</a:t>
            </a:r>
            <a:endParaRPr lang="en-US" sz="1500" dirty="0"/>
          </a:p>
        </p:txBody>
      </p:sp>
      <p:sp>
        <p:nvSpPr>
          <p:cNvPr id="10" name="Shape 7"/>
          <p:cNvSpPr/>
          <p:nvPr/>
        </p:nvSpPr>
        <p:spPr>
          <a:xfrm>
            <a:off x="566928" y="3284982"/>
            <a:ext cx="11057839" cy="934974"/>
          </a:xfrm>
          <a:prstGeom prst="roundRect">
            <a:avLst>
              <a:gd name="adj" fmla="val 4890"/>
            </a:avLst>
          </a:prstGeom>
          <a:solidFill>
            <a:srgbClr val="F3EFFD"/>
          </a:solidFill>
          <a:ln w="9525">
            <a:solidFill>
              <a:srgbClr val="D9CEF5"/>
            </a:solidFill>
            <a:prstDash val="solid"/>
          </a:ln>
        </p:spPr>
      </p:sp>
      <p:sp>
        <p:nvSpPr>
          <p:cNvPr id="11" name="Shape 8"/>
          <p:cNvSpPr/>
          <p:nvPr/>
        </p:nvSpPr>
        <p:spPr>
          <a:xfrm>
            <a:off x="768096" y="3578733"/>
            <a:ext cx="347472" cy="347472"/>
          </a:xfrm>
          <a:prstGeom prst="ellipse">
            <a:avLst/>
          </a:prstGeom>
          <a:solidFill>
            <a:srgbClr val="512BD4"/>
          </a:solidFill>
          <a:ln/>
        </p:spPr>
      </p:sp>
      <p:sp>
        <p:nvSpPr>
          <p:cNvPr id="12" name="Text 9"/>
          <p:cNvSpPr txBox="1"/>
          <p:nvPr/>
        </p:nvSpPr>
        <p:spPr>
          <a:xfrm>
            <a:off x="768096" y="3578733"/>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298448" y="3284982"/>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406 Not Acceptable   </a:t>
            </a:r>
            <a:pPr indent="0" marL="0">
              <a:buNone/>
            </a:pPr>
            <a:r>
              <a:rPr lang="en-US" sz="1250" dirty="0">
                <a:solidFill>
                  <a:srgbClr val="6E6785"/>
                </a:solidFill>
                <a:latin typeface="Calibri" pitchFamily="34" charset="0"/>
                <a:ea typeface="Calibri" pitchFamily="34" charset="-122"/>
                <a:cs typeface="Calibri" pitchFamily="34" charset="-120"/>
              </a:rPr>
              <a:t>якщо жоден форматер не підходить і ввімкнено ReturnHttpNotAcceptable — замість «мовчки JSON»</a:t>
            </a:r>
            <a:endParaRPr lang="en-US" sz="1500" dirty="0"/>
          </a:p>
        </p:txBody>
      </p:sp>
      <p:sp>
        <p:nvSpPr>
          <p:cNvPr id="14" name="Shape 11"/>
          <p:cNvSpPr/>
          <p:nvPr/>
        </p:nvSpPr>
        <p:spPr>
          <a:xfrm>
            <a:off x="566928" y="4338828"/>
            <a:ext cx="11057839" cy="934974"/>
          </a:xfrm>
          <a:prstGeom prst="roundRect">
            <a:avLst>
              <a:gd name="adj" fmla="val 4890"/>
            </a:avLst>
          </a:prstGeom>
          <a:solidFill>
            <a:srgbClr val="F3EFFD"/>
          </a:solidFill>
          <a:ln w="9525">
            <a:solidFill>
              <a:srgbClr val="D9CEF5"/>
            </a:solidFill>
            <a:prstDash val="solid"/>
          </a:ln>
        </p:spPr>
      </p:sp>
      <p:sp>
        <p:nvSpPr>
          <p:cNvPr id="15" name="Shape 12"/>
          <p:cNvSpPr/>
          <p:nvPr/>
        </p:nvSpPr>
        <p:spPr>
          <a:xfrm>
            <a:off x="768096" y="4632579"/>
            <a:ext cx="347472" cy="347472"/>
          </a:xfrm>
          <a:prstGeom prst="ellipse">
            <a:avLst/>
          </a:prstGeom>
          <a:solidFill>
            <a:srgbClr val="512BD4"/>
          </a:solidFill>
          <a:ln/>
        </p:spPr>
      </p:sp>
      <p:sp>
        <p:nvSpPr>
          <p:cNvPr id="16" name="Text 13"/>
          <p:cNvSpPr txBox="1"/>
          <p:nvPr/>
        </p:nvSpPr>
        <p:spPr>
          <a:xfrm>
            <a:off x="768096" y="4632579"/>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txBox="1"/>
          <p:nvPr/>
        </p:nvSpPr>
        <p:spPr>
          <a:xfrm>
            <a:off x="1298448" y="4338828"/>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Content-Type + [Consumes]   </a:t>
            </a:r>
            <a:pPr indent="0" marL="0">
              <a:buNone/>
            </a:pPr>
            <a:r>
              <a:rPr lang="en-US" sz="1250" dirty="0">
                <a:solidFill>
                  <a:srgbClr val="6E6785"/>
                </a:solidFill>
                <a:latin typeface="Calibri" pitchFamily="34" charset="0"/>
                <a:ea typeface="Calibri" pitchFamily="34" charset="-122"/>
                <a:cs typeface="Calibri" pitchFamily="34" charset="-120"/>
              </a:rPr>
              <a:t>аналогічно для тіла запиту працює input formatter</a:t>
            </a:r>
            <a:endParaRPr lang="en-US" sz="1500" dirty="0"/>
          </a:p>
        </p:txBody>
      </p:sp>
      <p:sp>
        <p:nvSpPr>
          <p:cNvPr id="18" name="Shape 15"/>
          <p:cNvSpPr/>
          <p:nvPr/>
        </p:nvSpPr>
        <p:spPr>
          <a:xfrm>
            <a:off x="566928" y="5392674"/>
            <a:ext cx="11057839" cy="934974"/>
          </a:xfrm>
          <a:prstGeom prst="roundRect">
            <a:avLst>
              <a:gd name="adj" fmla="val 4890"/>
            </a:avLst>
          </a:prstGeom>
          <a:solidFill>
            <a:srgbClr val="F3EFFD"/>
          </a:solidFill>
          <a:ln w="9525">
            <a:solidFill>
              <a:srgbClr val="D9CEF5"/>
            </a:solidFill>
            <a:prstDash val="solid"/>
          </a:ln>
        </p:spPr>
      </p:sp>
      <p:sp>
        <p:nvSpPr>
          <p:cNvPr id="19" name="Shape 16"/>
          <p:cNvSpPr/>
          <p:nvPr/>
        </p:nvSpPr>
        <p:spPr>
          <a:xfrm>
            <a:off x="768096" y="5686425"/>
            <a:ext cx="347472" cy="347472"/>
          </a:xfrm>
          <a:prstGeom prst="ellipse">
            <a:avLst/>
          </a:prstGeom>
          <a:solidFill>
            <a:srgbClr val="512BD4"/>
          </a:solidFill>
          <a:ln/>
        </p:spPr>
      </p:sp>
      <p:sp>
        <p:nvSpPr>
          <p:cNvPr id="20" name="Text 17"/>
          <p:cNvSpPr txBox="1"/>
          <p:nvPr/>
        </p:nvSpPr>
        <p:spPr>
          <a:xfrm>
            <a:off x="768096" y="5686425"/>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txBox="1"/>
          <p:nvPr/>
        </p:nvSpPr>
        <p:spPr>
          <a:xfrm>
            <a:off x="1298448" y="5392674"/>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System.Text.Json   </a:t>
            </a:r>
            <a:pPr indent="0" marL="0">
              <a:buNone/>
            </a:pPr>
            <a:r>
              <a:rPr lang="en-US" sz="1250" dirty="0">
                <a:solidFill>
                  <a:srgbClr val="6E6785"/>
                </a:solidFill>
                <a:latin typeface="Calibri" pitchFamily="34" charset="0"/>
                <a:ea typeface="Calibri" pitchFamily="34" charset="-122"/>
                <a:cs typeface="Calibri" pitchFamily="34" charset="-120"/>
              </a:rPr>
              <a:t>AddJsonOptions — іменування властивостей, ігнорування null, формат дат</a:t>
            </a:r>
            <a:endParaRPr lang="en-US" sz="1500" dirty="0"/>
          </a:p>
        </p:txBody>
      </p:sp>
      <p:sp>
        <p:nvSpPr>
          <p:cNvPr id="22" name="Text 19"/>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66</a:t>
            </a:r>
            <a:endParaRPr lang="en-US" sz="1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Умовні запити: ETag</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ETag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«версійний штамп» представлення, який сервер повертає в заголовку. Клієнт потім використовує його: If-None-Match — для кешу (304), If-Match — щоб не затерти чужі зміни (412).</a:t>
            </a:r>
            <a:endParaRPr lang="en-US" sz="1450" dirty="0"/>
          </a:p>
        </p:txBody>
      </p:sp>
      <p:pic>
        <p:nvPicPr>
          <p:cNvPr id="6" name="Image 0" descr="C:\Users\Yurii\AppData\Local\Temp\claude\C--Users-Yurii-source-repos---Examples-ASP-NET-AspNet-Basics\130b0e02-3c53-4be1-ac71-0d4d7a5d1c71\scratchpad\deck\assets\d12_etag.png">    </p:cNvPr>
          <p:cNvPicPr>
            <a:picLocks noChangeAspect="1"/>
          </p:cNvPicPr>
          <p:nvPr/>
        </p:nvPicPr>
        <p:blipFill>
          <a:blip r:embed="rId1"/>
          <a:stretch>
            <a:fillRect/>
          </a:stretch>
        </p:blipFill>
        <p:spPr>
          <a:xfrm>
            <a:off x="3424347" y="2276856"/>
            <a:ext cx="5343001" cy="3529584"/>
          </a:xfrm>
          <a:prstGeom prst="rect">
            <a:avLst/>
          </a:prstGeom>
        </p:spPr>
      </p:pic>
      <p:sp>
        <p:nvSpPr>
          <p:cNvPr id="7" name="Shape 3"/>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8" name="Text 4"/>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dirty="0">
                <a:solidFill>
                  <a:srgbClr val="241C3B"/>
                </a:solidFill>
                <a:latin typeface="Calibri" pitchFamily="34" charset="0"/>
                <a:ea typeface="Calibri" pitchFamily="34" charset="-122"/>
                <a:cs typeface="Calibri" pitchFamily="34" charset="-120"/>
              </a:rPr>
              <a:t>ETag виду W/"…" — слабкий (семантична еквівалентність); "…" — сильний (побайтова).</a:t>
            </a:r>
            <a:endParaRPr lang="en-US" sz="1200" dirty="0"/>
          </a:p>
        </p:txBody>
      </p:sp>
      <p:sp>
        <p:nvSpPr>
          <p:cNvPr id="9" name="Text 5"/>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67</a:t>
            </a:r>
            <a:endParaRPr lang="en-US" sz="1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Оптимістичне блокування</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Оптимістичне блокування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спосіб уникнути «lost update», коли двоє клієнтів редагують ту саму версію. Ресурс не блокують — просто перевіряють версію (ETag) у момент запису й відхиляють запит зі старою версією.</a:t>
            </a:r>
            <a:endParaRPr lang="en-US" sz="1450" dirty="0"/>
          </a:p>
        </p:txBody>
      </p:sp>
      <p:sp>
        <p:nvSpPr>
          <p:cNvPr id="6" name="Shape 3"/>
          <p:cNvSpPr/>
          <p:nvPr/>
        </p:nvSpPr>
        <p:spPr>
          <a:xfrm>
            <a:off x="566928" y="2231136"/>
            <a:ext cx="11057839" cy="1005840"/>
          </a:xfrm>
          <a:prstGeom prst="roundRect">
            <a:avLst>
              <a:gd name="adj" fmla="val 4545"/>
            </a:avLst>
          </a:prstGeom>
          <a:solidFill>
            <a:srgbClr val="F3EFFD"/>
          </a:solidFill>
          <a:ln w="9525">
            <a:solidFill>
              <a:srgbClr val="D9CEF5"/>
            </a:solidFill>
            <a:prstDash val="solid"/>
          </a:ln>
        </p:spPr>
      </p:sp>
      <p:sp>
        <p:nvSpPr>
          <p:cNvPr id="7" name="Shape 4"/>
          <p:cNvSpPr/>
          <p:nvPr/>
        </p:nvSpPr>
        <p:spPr>
          <a:xfrm>
            <a:off x="768096" y="2560320"/>
            <a:ext cx="347472" cy="347472"/>
          </a:xfrm>
          <a:prstGeom prst="ellipse">
            <a:avLst/>
          </a:prstGeom>
          <a:solidFill>
            <a:srgbClr val="512BD4"/>
          </a:solidFill>
          <a:ln/>
        </p:spPr>
      </p:sp>
      <p:sp>
        <p:nvSpPr>
          <p:cNvPr id="8" name="Text 5"/>
          <p:cNvSpPr txBox="1"/>
          <p:nvPr/>
        </p:nvSpPr>
        <p:spPr>
          <a:xfrm>
            <a:off x="768096" y="25603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1298448" y="2231136"/>
            <a:ext cx="10097719" cy="1005840"/>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Проблема без ETag   </a:t>
            </a:r>
            <a:pPr indent="0" marL="0">
              <a:buNone/>
            </a:pPr>
            <a:r>
              <a:rPr lang="en-US" sz="1250" dirty="0">
                <a:solidFill>
                  <a:srgbClr val="6E6785"/>
                </a:solidFill>
                <a:latin typeface="Calibri" pitchFamily="34" charset="0"/>
                <a:ea typeface="Calibri" pitchFamily="34" charset="-122"/>
                <a:cs typeface="Calibri" pitchFamily="34" charset="-120"/>
              </a:rPr>
              <a:t>клієнт A і B читають v1; A зберігає свою зміну; B зберігає поверх — зміни A мовчки зникли, ніхто не дізнався</a:t>
            </a:r>
            <a:endParaRPr lang="en-US" sz="1500" dirty="0"/>
          </a:p>
        </p:txBody>
      </p:sp>
      <p:sp>
        <p:nvSpPr>
          <p:cNvPr id="10" name="Shape 7"/>
          <p:cNvSpPr/>
          <p:nvPr/>
        </p:nvSpPr>
        <p:spPr>
          <a:xfrm>
            <a:off x="566928" y="3355848"/>
            <a:ext cx="11057839" cy="1005840"/>
          </a:xfrm>
          <a:prstGeom prst="roundRect">
            <a:avLst>
              <a:gd name="adj" fmla="val 4545"/>
            </a:avLst>
          </a:prstGeom>
          <a:solidFill>
            <a:srgbClr val="F3EFFD"/>
          </a:solidFill>
          <a:ln w="9525">
            <a:solidFill>
              <a:srgbClr val="D9CEF5"/>
            </a:solidFill>
            <a:prstDash val="solid"/>
          </a:ln>
        </p:spPr>
      </p:sp>
      <p:sp>
        <p:nvSpPr>
          <p:cNvPr id="11" name="Shape 8"/>
          <p:cNvSpPr/>
          <p:nvPr/>
        </p:nvSpPr>
        <p:spPr>
          <a:xfrm>
            <a:off x="768096" y="3685032"/>
            <a:ext cx="347472" cy="347472"/>
          </a:xfrm>
          <a:prstGeom prst="ellipse">
            <a:avLst/>
          </a:prstGeom>
          <a:solidFill>
            <a:srgbClr val="512BD4"/>
          </a:solidFill>
          <a:ln/>
        </p:spPr>
      </p:sp>
      <p:sp>
        <p:nvSpPr>
          <p:cNvPr id="12" name="Text 9"/>
          <p:cNvSpPr txBox="1"/>
          <p:nvPr/>
        </p:nvSpPr>
        <p:spPr>
          <a:xfrm>
            <a:off x="768096" y="368503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298448" y="3355848"/>
            <a:ext cx="10097719" cy="1005840"/>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З ETag   </a:t>
            </a:r>
            <a:pPr indent="0" marL="0">
              <a:buNone/>
            </a:pPr>
            <a:r>
              <a:rPr lang="en-US" sz="1250" dirty="0">
                <a:solidFill>
                  <a:srgbClr val="6E6785"/>
                </a:solidFill>
                <a:latin typeface="Calibri" pitchFamily="34" charset="0"/>
                <a:ea typeface="Calibri" pitchFamily="34" charset="-122"/>
                <a:cs typeface="Calibri" pitchFamily="34" charset="-120"/>
              </a:rPr>
              <a:t>GET повертає ETag; PUT або PATCH клієнт зобов'язаний надіслати з If-Match; версія не збіглася → 412, треба перечитати й повторити</a:t>
            </a:r>
            <a:endParaRPr lang="en-US" sz="1500" dirty="0"/>
          </a:p>
        </p:txBody>
      </p:sp>
      <p:sp>
        <p:nvSpPr>
          <p:cNvPr id="14" name="Shape 11"/>
          <p:cNvSpPr/>
          <p:nvPr/>
        </p:nvSpPr>
        <p:spPr>
          <a:xfrm>
            <a:off x="566928" y="4480560"/>
            <a:ext cx="11057839" cy="1005840"/>
          </a:xfrm>
          <a:prstGeom prst="roundRect">
            <a:avLst>
              <a:gd name="adj" fmla="val 4545"/>
            </a:avLst>
          </a:prstGeom>
          <a:solidFill>
            <a:srgbClr val="F3EFFD"/>
          </a:solidFill>
          <a:ln w="9525">
            <a:solidFill>
              <a:srgbClr val="D9CEF5"/>
            </a:solidFill>
            <a:prstDash val="solid"/>
          </a:ln>
        </p:spPr>
      </p:sp>
      <p:sp>
        <p:nvSpPr>
          <p:cNvPr id="15" name="Shape 12"/>
          <p:cNvSpPr/>
          <p:nvPr/>
        </p:nvSpPr>
        <p:spPr>
          <a:xfrm>
            <a:off x="768096" y="4809744"/>
            <a:ext cx="347472" cy="347472"/>
          </a:xfrm>
          <a:prstGeom prst="ellipse">
            <a:avLst/>
          </a:prstGeom>
          <a:solidFill>
            <a:srgbClr val="512BD4"/>
          </a:solidFill>
          <a:ln/>
        </p:spPr>
      </p:sp>
      <p:sp>
        <p:nvSpPr>
          <p:cNvPr id="16" name="Text 13"/>
          <p:cNvSpPr txBox="1"/>
          <p:nvPr/>
        </p:nvSpPr>
        <p:spPr>
          <a:xfrm>
            <a:off x="768096" y="480974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txBox="1"/>
          <p:nvPr/>
        </p:nvSpPr>
        <p:spPr>
          <a:xfrm>
            <a:off x="1298448" y="4480560"/>
            <a:ext cx="10097719" cy="1005840"/>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428 Precondition Required   </a:t>
            </a:r>
            <a:pPr indent="0" marL="0">
              <a:buNone/>
            </a:pPr>
            <a:r>
              <a:rPr lang="en-US" sz="1250" dirty="0">
                <a:solidFill>
                  <a:srgbClr val="6E6785"/>
                </a:solidFill>
                <a:latin typeface="Calibri" pitchFamily="34" charset="0"/>
                <a:ea typeface="Calibri" pitchFamily="34" charset="-122"/>
                <a:cs typeface="Calibri" pitchFamily="34" charset="-120"/>
              </a:rPr>
              <a:t>сервер може вимагати заголовок If-Match для будь-якої зміни</a:t>
            </a:r>
            <a:endParaRPr lang="en-US" sz="1500" dirty="0"/>
          </a:p>
        </p:txBody>
      </p:sp>
      <p:sp>
        <p:nvSpPr>
          <p:cNvPr id="18" name="Text 15"/>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68</a:t>
            </a:r>
            <a:endParaRPr lang="en-US" sz="1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PATCH: два формати</a:t>
            </a:r>
            <a:endParaRPr lang="en-US" sz="3000" dirty="0"/>
          </a:p>
        </p:txBody>
      </p:sp>
      <p:sp>
        <p:nvSpPr>
          <p:cNvPr id="4" name="Text 1"/>
          <p:cNvSpPr txBox="1"/>
          <p:nvPr/>
        </p:nvSpPr>
        <p:spPr>
          <a:xfrm>
            <a:off x="566928" y="1243584"/>
            <a:ext cx="11057839" cy="603504"/>
          </a:xfrm>
          <a:prstGeom prst="rect">
            <a:avLst/>
          </a:prstGeom>
          <a:noFill/>
          <a:ln/>
        </p:spPr>
        <p:txBody>
          <a:bodyPr wrap="square" lIns="0" tIns="0" rIns="0" bIns="0" rtlCol="0" anchor="t"/>
          <a:lstStyle/>
          <a:p>
            <a:pPr indent="0" marL="0">
              <a:lnSpc>
                <a:spcPct val="116000"/>
              </a:lnSpc>
              <a:buNone/>
            </a:pPr>
            <a:r>
              <a:rPr lang="en-US" sz="1300" dirty="0">
                <a:solidFill>
                  <a:srgbClr val="241C3B"/>
                </a:solidFill>
                <a:latin typeface="Calibri" pitchFamily="34" charset="0"/>
                <a:ea typeface="Calibri" pitchFamily="34" charset="-122"/>
                <a:cs typeface="Calibri" pitchFamily="34" charset="-120"/>
              </a:rPr>
              <a:t>PATCH описує ЧАСТКОВУ зміну ресурсу. Стандарт не один — є два несумісні формати тіла, і клієнт має вказати, який використовує, через Content-Type.</a:t>
            </a:r>
            <a:endParaRPr lang="en-US" sz="13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566928" y="1993392"/>
          <a:ext cx="11057839" cy="914400"/>
        </p:xfrm>
        <a:graphic>
          <a:graphicData uri="http://schemas.openxmlformats.org/drawingml/2006/table">
            <a:tbl>
              <a:tblPr/>
              <a:tblGrid>
                <a:gridCol w="2194560"/>
                <a:gridCol w="4434840"/>
                <a:gridCol w="4434840"/>
              </a:tblGrid>
              <a:tr h="635508">
                <a:tc>
                  <a:txBody>
                    <a:bodyPr/>
                    <a:lstStyle/>
                    <a:p>
                      <a:pPr indent="0" marL="0">
                        <a:buNone/>
                      </a:pP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JSON Patch (RFC 6902)</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JSON Merge Patch (RFC 7386)</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r>
              <a:tr h="63550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Content-Type</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application/json-patch+json</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application/merge-patch+json</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3550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Тіло</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список операцій</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частковий об'єкт</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63550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Приклад</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[{"op":"replace","path":"/price","value":42}]</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 "price": 42 }</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3550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Операції</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add/remove/replace/move/copy/test</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лише присвоєння; null = видалити</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63550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Масиви</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точкові зміни за індексом</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заміна цілком</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bl>
          </a:graphicData>
        </a:graphic>
      </p:graphicFrame>
      <p:sp>
        <p:nvSpPr>
          <p:cNvPr id="6" name="Shape 2"/>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7" name="Text 3"/>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i="1" dirty="0">
                <a:solidFill>
                  <a:srgbClr val="241C3B"/>
                </a:solidFill>
                <a:latin typeface="Calibri" pitchFamily="34" charset="0"/>
                <a:ea typeface="Calibri" pitchFamily="34" charset="-122"/>
                <a:cs typeface="Calibri" pitchFamily="34" charset="-120"/>
              </a:rPr>
              <a:t>.NET 10: пакет Microsoft.AspNetCore.JsonPatch.SystemTextJson — без Newtonsoft.</a:t>
            </a:r>
            <a:endParaRPr lang="en-US" sz="1200" dirty="0"/>
          </a:p>
        </p:txBody>
      </p:sp>
      <p:sp>
        <p:nvSpPr>
          <p:cNvPr id="8" name="Text 4"/>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69</a:t>
            </a: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Колекції: пагінація</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Пагінація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віддавання колекції частинами замість усього масиву одразу. Два підходи: за зсувом (номер сторінки) або за курсором (від останнього побаченого елемента).</a:t>
            </a:r>
            <a:endParaRPr lang="en-US" sz="145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566928" y="2372868"/>
          <a:ext cx="11057839" cy="914400"/>
        </p:xfrm>
        <a:graphic>
          <a:graphicData uri="http://schemas.openxmlformats.org/drawingml/2006/table">
            <a:tbl>
              <a:tblPr/>
              <a:tblGrid>
                <a:gridCol w="3108960"/>
                <a:gridCol w="3977640"/>
                <a:gridCol w="3977640"/>
              </a:tblGrid>
              <a:tr h="658368">
                <a:tc>
                  <a:txBody>
                    <a:bodyPr/>
                    <a:lstStyle/>
                    <a:p>
                      <a:pPr indent="0" marL="0">
                        <a:buNone/>
                      </a:pP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Offset (page/pageSize)</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Cursor (keyset)</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Просто реалізувати</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так</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ні</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Стабільність при вставках</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ні (зсув сторінок)</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так</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«Перейти на сторінку N»</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так</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ні</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Великі дані / нескінченний скрол</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повільно (OFFSET)</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швидко</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bl>
          </a:graphicData>
        </a:graphic>
      </p:graphicFrame>
      <p:sp>
        <p:nvSpPr>
          <p:cNvPr id="7" name="Shape 3"/>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8" name="Text 4"/>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i="1" dirty="0">
                <a:solidFill>
                  <a:srgbClr val="241C3B"/>
                </a:solidFill>
                <a:latin typeface="Calibri" pitchFamily="34" charset="0"/>
                <a:ea typeface="Calibri" pitchFamily="34" charset="-122"/>
                <a:cs typeface="Calibri" pitchFamily="34" charset="-120"/>
              </a:rPr>
              <a:t>Завжди задавайте max pageSize. Сортування — тільки за білим списком полів, ніколи не підставляйте поле з query напряму.</a:t>
            </a:r>
            <a:endParaRPr lang="en-US" sz="1200" dirty="0"/>
          </a:p>
        </p:txBody>
      </p:sp>
      <p:sp>
        <p:nvSpPr>
          <p:cNvPr id="9" name="Text 5"/>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70</a:t>
            </a:r>
            <a:endParaRPr lang="en-US" sz="1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Problem Details (RFC 9457)</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Problem Details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стандартний формат тіла помилки з Content-Type application/problem+json. Один формат на весь API — і клієнт пише обробку помилок лише раз.</a:t>
            </a:r>
            <a:endParaRPr lang="en-US" sz="1450" dirty="0"/>
          </a:p>
        </p:txBody>
      </p:sp>
      <p:sp>
        <p:nvSpPr>
          <p:cNvPr id="6" name="Shape 3"/>
          <p:cNvSpPr/>
          <p:nvPr/>
        </p:nvSpPr>
        <p:spPr>
          <a:xfrm>
            <a:off x="566928" y="2606040"/>
            <a:ext cx="6949440" cy="3328416"/>
          </a:xfrm>
          <a:prstGeom prst="roundRect">
            <a:avLst>
              <a:gd name="adj" fmla="val 1648"/>
            </a:avLst>
          </a:prstGeom>
          <a:solidFill>
            <a:srgbClr val="201A38"/>
          </a:solidFill>
          <a:ln/>
        </p:spPr>
      </p:sp>
      <p:sp>
        <p:nvSpPr>
          <p:cNvPr id="7" name="Text 4"/>
          <p:cNvSpPr txBox="1"/>
          <p:nvPr/>
        </p:nvSpPr>
        <p:spPr>
          <a:xfrm>
            <a:off x="786384" y="2660904"/>
            <a:ext cx="6510528" cy="3218688"/>
          </a:xfrm>
          <a:prstGeom prst="rect">
            <a:avLst/>
          </a:prstGeom>
          <a:noFill/>
          <a:ln/>
        </p:spPr>
        <p:txBody>
          <a:bodyPr wrap="square" lIns="0" tIns="0" rIns="0" bIns="0" rtlCol="0" anchor="ctr"/>
          <a:lstStyle/>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  "type": "https://tools.ietf.org/html/rfc9110#section-15.5.1",</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  "title": "One or more validation errors occurred.",</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  "status": 400,</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  "instance": "/products",</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  "errors": {</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    "name":  ["The Name field is required."],</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    "price": ["The field Price must be between 0.01 and 100000."]</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  },</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  "traceId": "00-2f8b...-01"</a:t>
            </a:r>
            <a:endParaRPr lang="en-US" sz="1250" dirty="0"/>
          </a:p>
          <a:p>
            <a:pPr indent="0" marL="0">
              <a:lnSpc>
                <a:spcPct val="122000"/>
              </a:lnSpc>
              <a:buNone/>
            </a:pPr>
            <a:r>
              <a:rPr lang="en-US" sz="1250" dirty="0">
                <a:solidFill>
                  <a:srgbClr val="E9E3F7"/>
                </a:solidFill>
                <a:latin typeface="Courier New" pitchFamily="34" charset="0"/>
                <a:ea typeface="Courier New" pitchFamily="34" charset="-122"/>
                <a:cs typeface="Courier New" pitchFamily="34" charset="-120"/>
              </a:rPr>
              <a:t>}</a:t>
            </a:r>
            <a:endParaRPr lang="en-US" sz="1250" dirty="0"/>
          </a:p>
        </p:txBody>
      </p:sp>
      <p:sp>
        <p:nvSpPr>
          <p:cNvPr id="8" name="Text 5"/>
          <p:cNvSpPr txBox="1"/>
          <p:nvPr/>
        </p:nvSpPr>
        <p:spPr>
          <a:xfrm>
            <a:off x="7882128" y="2606040"/>
            <a:ext cx="3742639" cy="3328416"/>
          </a:xfrm>
          <a:prstGeom prst="rect">
            <a:avLst/>
          </a:prstGeom>
          <a:noFill/>
          <a:ln/>
        </p:spPr>
        <p:txBody>
          <a:bodyPr wrap="square" lIns="0" tIns="0" rIns="0" bIns="0" rtlCol="0" anchor="ctr"/>
          <a:lstStyle/>
          <a:p>
            <a:pPr marL="127000" indent="-127000">
              <a:spcAft>
                <a:spcPts val="1000"/>
              </a:spcAft>
              <a:buSzPct val="100000"/>
              <a:buChar char="•"/>
            </a:pPr>
            <a:r>
              <a:rPr lang="en-US" sz="1300" dirty="0">
                <a:solidFill>
                  <a:srgbClr val="241C3B"/>
                </a:solidFill>
                <a:latin typeface="Calibri" pitchFamily="34" charset="0"/>
                <a:ea typeface="Calibri" pitchFamily="34" charset="-122"/>
                <a:cs typeface="Calibri" pitchFamily="34" charset="-120"/>
              </a:rPr>
              <a:t>AddProblemDetails() — єдиний формат для 4xx/5xx фреймворку</a:t>
            </a:r>
            <a:endParaRPr lang="en-US" sz="1300" dirty="0"/>
          </a:p>
          <a:p>
            <a:pPr marL="127000" indent="-127000">
              <a:spcAft>
                <a:spcPts val="1000"/>
              </a:spcAft>
              <a:buSzPct val="100000"/>
              <a:buChar char="•"/>
            </a:pPr>
            <a:r>
              <a:rPr lang="en-US" sz="1300" dirty="0">
                <a:solidFill>
                  <a:srgbClr val="241C3B"/>
                </a:solidFill>
                <a:latin typeface="Calibri" pitchFamily="34" charset="0"/>
                <a:ea typeface="Calibri" pitchFamily="34" charset="-122"/>
                <a:cs typeface="Calibri" pitchFamily="34" charset="-120"/>
              </a:rPr>
              <a:t>Results.ValidationProblem(errors) / Results.Problem(...)</a:t>
            </a:r>
            <a:endParaRPr lang="en-US" sz="1300" dirty="0"/>
          </a:p>
          <a:p>
            <a:pPr marL="127000" indent="-127000">
              <a:spcAft>
                <a:spcPts val="1000"/>
              </a:spcAft>
              <a:buSzPct val="100000"/>
              <a:buChar char="•"/>
            </a:pPr>
            <a:r>
              <a:rPr lang="en-US" sz="1300" dirty="0">
                <a:solidFill>
                  <a:srgbClr val="241C3B"/>
                </a:solidFill>
                <a:latin typeface="Calibri" pitchFamily="34" charset="0"/>
                <a:ea typeface="Calibri" pitchFamily="34" charset="-122"/>
                <a:cs typeface="Calibri" pitchFamily="34" charset="-120"/>
              </a:rPr>
              <a:t>Один формат на весь API — клієнт пише обробку помилок раз</a:t>
            </a:r>
            <a:endParaRPr lang="en-US" sz="1300" dirty="0"/>
          </a:p>
          <a:p>
            <a:pPr marL="127000" indent="-127000">
              <a:spcAft>
                <a:spcPts val="1000"/>
              </a:spcAft>
              <a:buSzPct val="100000"/>
              <a:buChar char="•"/>
            </a:pPr>
            <a:r>
              <a:rPr lang="en-US" sz="1300" dirty="0">
                <a:solidFill>
                  <a:srgbClr val="241C3B"/>
                </a:solidFill>
                <a:latin typeface="Calibri" pitchFamily="34" charset="0"/>
                <a:ea typeface="Calibri" pitchFamily="34" charset="-122"/>
                <a:cs typeface="Calibri" pitchFamily="34" charset="-120"/>
              </a:rPr>
              <a:t>CustomizeProblemDetails — додати traceId, instance</a:t>
            </a:r>
            <a:endParaRPr lang="en-US" sz="1300" dirty="0"/>
          </a:p>
        </p:txBody>
      </p:sp>
      <p:sp>
        <p:nvSpPr>
          <p:cNvPr id="9" name="Text 6"/>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71</a:t>
            </a:r>
            <a:endParaRPr lang="en-US" sz="1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Версіонування API</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Версіонування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підтримка кількох версій контракту API одночасно. Потрібне, бо публічний API — це контракт: breaking change замість «зламати всіх» вводять новою версією, стару якийсь час підтримують.</a:t>
            </a:r>
            <a:endParaRPr lang="en-US" sz="145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566928" y="2372868"/>
          <a:ext cx="11057839" cy="914400"/>
        </p:xfrm>
        <a:graphic>
          <a:graphicData uri="http://schemas.openxmlformats.org/drawingml/2006/table">
            <a:tbl>
              <a:tblPr/>
              <a:tblGrid>
                <a:gridCol w="2103120"/>
                <a:gridCol w="3931920"/>
                <a:gridCol w="5029200"/>
              </a:tblGrid>
              <a:tr h="6583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Спосіб</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Приклад</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Плюс / мінус</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Сегмент URL</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/v2/products</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видно, кешується / URI «стрибає»</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Query string</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/products?api-version=2.0</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не чіпає шлях / легко забути</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Заголовок</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X-Api-Version: 2.0</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URI стабільний / «невидимо»</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Media type</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Accept: application/json;v=2.0</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найбільш «RESTful» / складно для клієнтів</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bl>
          </a:graphicData>
        </a:graphic>
      </p:graphicFrame>
      <p:sp>
        <p:nvSpPr>
          <p:cNvPr id="7" name="Shape 3"/>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8" name="Text 4"/>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i="1" dirty="0">
                <a:solidFill>
                  <a:srgbClr val="241C3B"/>
                </a:solidFill>
                <a:latin typeface="Calibri" pitchFamily="34" charset="0"/>
                <a:ea typeface="Calibri" pitchFamily="34" charset="-122"/>
                <a:cs typeface="Calibri" pitchFamily="34" charset="-120"/>
              </a:rPr>
              <a:t>ReportApiVersions → заголовки api-supported-versions / api-deprecated-versions. Адитивні зміни (нове необов'язкове поле) — не breaking.</a:t>
            </a:r>
            <a:endParaRPr lang="en-US" sz="1200" dirty="0"/>
          </a:p>
        </p:txBody>
      </p:sp>
      <p:sp>
        <p:nvSpPr>
          <p:cNvPr id="9" name="Text 5"/>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72</a:t>
            </a:r>
            <a:endParaRPr lang="en-US" sz="1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Гіпермедіа (HATEOAS)</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HATEOAS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Hypermedia As The Engine Of Application State — рівень 3 Річардсона. Клієнт рухається по API не за «зашитими» URL, а за посиланнями (_links), які сервер повертає у відповіді.</a:t>
            </a:r>
            <a:endParaRPr lang="en-US" sz="1450" dirty="0"/>
          </a:p>
        </p:txBody>
      </p:sp>
      <p:sp>
        <p:nvSpPr>
          <p:cNvPr id="6" name="Shape 3"/>
          <p:cNvSpPr/>
          <p:nvPr/>
        </p:nvSpPr>
        <p:spPr>
          <a:xfrm>
            <a:off x="566928" y="2231136"/>
            <a:ext cx="11057839" cy="934974"/>
          </a:xfrm>
          <a:prstGeom prst="roundRect">
            <a:avLst>
              <a:gd name="adj" fmla="val 4890"/>
            </a:avLst>
          </a:prstGeom>
          <a:solidFill>
            <a:srgbClr val="F3EFFD"/>
          </a:solidFill>
          <a:ln w="9525">
            <a:solidFill>
              <a:srgbClr val="D9CEF5"/>
            </a:solidFill>
            <a:prstDash val="solid"/>
          </a:ln>
        </p:spPr>
      </p:sp>
      <p:sp>
        <p:nvSpPr>
          <p:cNvPr id="7" name="Shape 4"/>
          <p:cNvSpPr/>
          <p:nvPr/>
        </p:nvSpPr>
        <p:spPr>
          <a:xfrm>
            <a:off x="768096" y="2524887"/>
            <a:ext cx="347472" cy="347472"/>
          </a:xfrm>
          <a:prstGeom prst="ellipse">
            <a:avLst/>
          </a:prstGeom>
          <a:solidFill>
            <a:srgbClr val="512BD4"/>
          </a:solidFill>
          <a:ln/>
        </p:spPr>
      </p:sp>
      <p:sp>
        <p:nvSpPr>
          <p:cNvPr id="8" name="Text 5"/>
          <p:cNvSpPr txBox="1"/>
          <p:nvPr/>
        </p:nvSpPr>
        <p:spPr>
          <a:xfrm>
            <a:off x="768096" y="2524887"/>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1298448" y="2231136"/>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Стан → дії   </a:t>
            </a:r>
            <a:pPr indent="0" marL="0">
              <a:buNone/>
            </a:pPr>
            <a:r>
              <a:rPr lang="en-US" sz="1250" dirty="0">
                <a:solidFill>
                  <a:srgbClr val="6E6785"/>
                </a:solidFill>
                <a:latin typeface="Calibri" pitchFamily="34" charset="0"/>
                <a:ea typeface="Calibri" pitchFamily="34" charset="-122"/>
                <a:cs typeface="Calibri" pitchFamily="34" charset="-120"/>
              </a:rPr>
              <a:t>набір доступних посилань залежить від СТАНУ ресурсу: порожній кошик не має посилання «оформити», непорожній — має</a:t>
            </a:r>
            <a:endParaRPr lang="en-US" sz="1500" dirty="0"/>
          </a:p>
        </p:txBody>
      </p:sp>
      <p:sp>
        <p:nvSpPr>
          <p:cNvPr id="10" name="Shape 7"/>
          <p:cNvSpPr/>
          <p:nvPr/>
        </p:nvSpPr>
        <p:spPr>
          <a:xfrm>
            <a:off x="566928" y="3284982"/>
            <a:ext cx="11057839" cy="934974"/>
          </a:xfrm>
          <a:prstGeom prst="roundRect">
            <a:avLst>
              <a:gd name="adj" fmla="val 4890"/>
            </a:avLst>
          </a:prstGeom>
          <a:solidFill>
            <a:srgbClr val="F3EFFD"/>
          </a:solidFill>
          <a:ln w="9525">
            <a:solidFill>
              <a:srgbClr val="D9CEF5"/>
            </a:solidFill>
            <a:prstDash val="solid"/>
          </a:ln>
        </p:spPr>
      </p:sp>
      <p:sp>
        <p:nvSpPr>
          <p:cNvPr id="11" name="Shape 8"/>
          <p:cNvSpPr/>
          <p:nvPr/>
        </p:nvSpPr>
        <p:spPr>
          <a:xfrm>
            <a:off x="768096" y="3578733"/>
            <a:ext cx="347472" cy="347472"/>
          </a:xfrm>
          <a:prstGeom prst="ellipse">
            <a:avLst/>
          </a:prstGeom>
          <a:solidFill>
            <a:srgbClr val="512BD4"/>
          </a:solidFill>
          <a:ln/>
        </p:spPr>
      </p:sp>
      <p:sp>
        <p:nvSpPr>
          <p:cNvPr id="12" name="Text 9"/>
          <p:cNvSpPr txBox="1"/>
          <p:nvPr/>
        </p:nvSpPr>
        <p:spPr>
          <a:xfrm>
            <a:off x="768096" y="3578733"/>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298448" y="3284982"/>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Вигода   </a:t>
            </a:r>
            <a:pPr indent="0" marL="0">
              <a:buNone/>
            </a:pPr>
            <a:r>
              <a:rPr lang="en-US" sz="1250" dirty="0">
                <a:solidFill>
                  <a:srgbClr val="6E6785"/>
                </a:solidFill>
                <a:latin typeface="Calibri" pitchFamily="34" charset="0"/>
                <a:ea typeface="Calibri" pitchFamily="34" charset="-122"/>
                <a:cs typeface="Calibri" pitchFamily="34" charset="-120"/>
              </a:rPr>
              <a:t>менша зв'язність; дозволені переходи визначає сервер в одному місці; API можна еволюціонувати без оновлення клієнтів</a:t>
            </a:r>
            <a:endParaRPr lang="en-US" sz="1500" dirty="0"/>
          </a:p>
        </p:txBody>
      </p:sp>
      <p:sp>
        <p:nvSpPr>
          <p:cNvPr id="14" name="Shape 11"/>
          <p:cNvSpPr/>
          <p:nvPr/>
        </p:nvSpPr>
        <p:spPr>
          <a:xfrm>
            <a:off x="566928" y="4338828"/>
            <a:ext cx="11057839" cy="934974"/>
          </a:xfrm>
          <a:prstGeom prst="roundRect">
            <a:avLst>
              <a:gd name="adj" fmla="val 4890"/>
            </a:avLst>
          </a:prstGeom>
          <a:solidFill>
            <a:srgbClr val="F3EFFD"/>
          </a:solidFill>
          <a:ln w="9525">
            <a:solidFill>
              <a:srgbClr val="D9CEF5"/>
            </a:solidFill>
            <a:prstDash val="solid"/>
          </a:ln>
        </p:spPr>
      </p:sp>
      <p:sp>
        <p:nvSpPr>
          <p:cNvPr id="15" name="Shape 12"/>
          <p:cNvSpPr/>
          <p:nvPr/>
        </p:nvSpPr>
        <p:spPr>
          <a:xfrm>
            <a:off x="768096" y="4632579"/>
            <a:ext cx="347472" cy="347472"/>
          </a:xfrm>
          <a:prstGeom prst="ellipse">
            <a:avLst/>
          </a:prstGeom>
          <a:solidFill>
            <a:srgbClr val="512BD4"/>
          </a:solidFill>
          <a:ln/>
        </p:spPr>
      </p:sp>
      <p:sp>
        <p:nvSpPr>
          <p:cNvPr id="16" name="Text 13"/>
          <p:cNvSpPr txBox="1"/>
          <p:nvPr/>
        </p:nvSpPr>
        <p:spPr>
          <a:xfrm>
            <a:off x="768096" y="4632579"/>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txBox="1"/>
          <p:nvPr/>
        </p:nvSpPr>
        <p:spPr>
          <a:xfrm>
            <a:off x="1298448" y="4338828"/>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Формати   </a:t>
            </a:r>
            <a:pPr indent="0" marL="0">
              <a:buNone/>
            </a:pPr>
            <a:r>
              <a:rPr lang="en-US" sz="1250" dirty="0">
                <a:solidFill>
                  <a:srgbClr val="6E6785"/>
                </a:solidFill>
                <a:latin typeface="Calibri" pitchFamily="34" charset="0"/>
                <a:ea typeface="Calibri" pitchFamily="34" charset="-122"/>
                <a:cs typeface="Calibri" pitchFamily="34" charset="-120"/>
              </a:rPr>
              <a:t>HAL (_links, _embedded), JSON:API, Siren, Hydra</a:t>
            </a:r>
            <a:endParaRPr lang="en-US" sz="1500" dirty="0"/>
          </a:p>
        </p:txBody>
      </p:sp>
      <p:sp>
        <p:nvSpPr>
          <p:cNvPr id="18" name="Shape 15"/>
          <p:cNvSpPr/>
          <p:nvPr/>
        </p:nvSpPr>
        <p:spPr>
          <a:xfrm>
            <a:off x="566928" y="5392674"/>
            <a:ext cx="11057839" cy="934974"/>
          </a:xfrm>
          <a:prstGeom prst="roundRect">
            <a:avLst>
              <a:gd name="adj" fmla="val 4890"/>
            </a:avLst>
          </a:prstGeom>
          <a:solidFill>
            <a:srgbClr val="F3EFFD"/>
          </a:solidFill>
          <a:ln w="9525">
            <a:solidFill>
              <a:srgbClr val="D9CEF5"/>
            </a:solidFill>
            <a:prstDash val="solid"/>
          </a:ln>
        </p:spPr>
      </p:sp>
      <p:sp>
        <p:nvSpPr>
          <p:cNvPr id="19" name="Shape 16"/>
          <p:cNvSpPr/>
          <p:nvPr/>
        </p:nvSpPr>
        <p:spPr>
          <a:xfrm>
            <a:off x="768096" y="5686425"/>
            <a:ext cx="347472" cy="347472"/>
          </a:xfrm>
          <a:prstGeom prst="ellipse">
            <a:avLst/>
          </a:prstGeom>
          <a:solidFill>
            <a:srgbClr val="512BD4"/>
          </a:solidFill>
          <a:ln/>
        </p:spPr>
      </p:sp>
      <p:sp>
        <p:nvSpPr>
          <p:cNvPr id="20" name="Text 17"/>
          <p:cNvSpPr txBox="1"/>
          <p:nvPr/>
        </p:nvSpPr>
        <p:spPr>
          <a:xfrm>
            <a:off x="768096" y="5686425"/>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txBox="1"/>
          <p:nvPr/>
        </p:nvSpPr>
        <p:spPr>
          <a:xfrm>
            <a:off x="1298448" y="5392674"/>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Прагматично   </a:t>
            </a:r>
            <a:pPr indent="0" marL="0">
              <a:buNone/>
            </a:pPr>
            <a:r>
              <a:rPr lang="en-US" sz="1250" dirty="0">
                <a:solidFill>
                  <a:srgbClr val="6E6785"/>
                </a:solidFill>
                <a:latin typeface="Calibri" pitchFamily="34" charset="0"/>
                <a:ea typeface="Calibri" pitchFamily="34" charset="-122"/>
                <a:cs typeface="Calibri" pitchFamily="34" charset="-120"/>
              </a:rPr>
              <a:t>навіть без повного HATEOAS корисно додавати self-посилання та next/prev для колекцій — це дешево</a:t>
            </a:r>
            <a:endParaRPr lang="en-US" sz="1500" dirty="0"/>
          </a:p>
        </p:txBody>
      </p:sp>
      <p:sp>
        <p:nvSpPr>
          <p:cNvPr id="22" name="Text 19"/>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73</a:t>
            </a:r>
            <a:endParaRPr lang="en-US" sz="1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3EFFD"/>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Модуль 7 · далі — приклади</a:t>
            </a:r>
            <a:endParaRPr lang="en-US" sz="3000" dirty="0"/>
          </a:p>
        </p:txBody>
      </p:sp>
      <p:sp>
        <p:nvSpPr>
          <p:cNvPr id="4" name="Shape 1"/>
          <p:cNvSpPr/>
          <p:nvPr/>
        </p:nvSpPr>
        <p:spPr>
          <a:xfrm>
            <a:off x="566928" y="1243584"/>
            <a:ext cx="11057839" cy="1117854"/>
          </a:xfrm>
          <a:prstGeom prst="roundRect">
            <a:avLst>
              <a:gd name="adj" fmla="val 5726"/>
            </a:avLst>
          </a:prstGeom>
          <a:solidFill>
            <a:srgbClr val="FFFFFF"/>
          </a:solidFill>
          <a:ln w="12700">
            <a:solidFill>
              <a:srgbClr val="D9CEF5"/>
            </a:solidFill>
            <a:prstDash val="solid"/>
          </a:ln>
        </p:spPr>
      </p:sp>
      <p:sp>
        <p:nvSpPr>
          <p:cNvPr id="5" name="Shape 2"/>
          <p:cNvSpPr/>
          <p:nvPr/>
        </p:nvSpPr>
        <p:spPr>
          <a:xfrm>
            <a:off x="795528" y="1628775"/>
            <a:ext cx="2926080" cy="347472"/>
          </a:xfrm>
          <a:prstGeom prst="roundRect">
            <a:avLst>
              <a:gd name="adj" fmla="val 13158"/>
            </a:avLst>
          </a:prstGeom>
          <a:solidFill>
            <a:srgbClr val="E7DFFA"/>
          </a:solidFill>
          <a:ln/>
        </p:spPr>
      </p:sp>
      <p:sp>
        <p:nvSpPr>
          <p:cNvPr id="6" name="Text 3"/>
          <p:cNvSpPr txBox="1"/>
          <p:nvPr/>
        </p:nvSpPr>
        <p:spPr>
          <a:xfrm>
            <a:off x="795528" y="1628775"/>
            <a:ext cx="2926080" cy="347472"/>
          </a:xfrm>
          <a:prstGeom prst="rect">
            <a:avLst/>
          </a:prstGeom>
          <a:noFill/>
          <a:ln/>
        </p:spPr>
        <p:txBody>
          <a:bodyPr wrap="square" lIns="0" tIns="0" rIns="0" bIns="0" rtlCol="0" anchor="ctr"/>
          <a:lstStyle/>
          <a:p>
            <a:pPr algn="ctr" indent="0" marL="0">
              <a:buNone/>
            </a:pPr>
            <a:r>
              <a:rPr lang="en-US" sz="1100" b="1" dirty="0">
                <a:solidFill>
                  <a:srgbClr val="512BD4"/>
                </a:solidFill>
                <a:latin typeface="Courier New" pitchFamily="34" charset="0"/>
                <a:ea typeface="Courier New" pitchFamily="34" charset="-122"/>
                <a:cs typeface="Courier New" pitchFamily="34" charset="-120"/>
              </a:rPr>
              <a:t>15.Rest.Representations</a:t>
            </a:r>
            <a:endParaRPr lang="en-US" sz="1100" dirty="0"/>
          </a:p>
        </p:txBody>
      </p:sp>
      <p:sp>
        <p:nvSpPr>
          <p:cNvPr id="7" name="Text 4"/>
          <p:cNvSpPr txBox="1"/>
          <p:nvPr/>
        </p:nvSpPr>
        <p:spPr>
          <a:xfrm>
            <a:off x="3995928" y="1243584"/>
            <a:ext cx="7400239" cy="1117854"/>
          </a:xfrm>
          <a:prstGeom prst="rect">
            <a:avLst/>
          </a:prstGeom>
          <a:noFill/>
          <a:ln/>
        </p:spPr>
        <p:txBody>
          <a:bodyPr wrap="square" lIns="0" tIns="0" rIns="0" bIns="0" rtlCol="0" anchor="ctr"/>
          <a:lstStyle/>
          <a:p>
            <a:pPr indent="0" marL="0">
              <a:buNone/>
            </a:pPr>
            <a:r>
              <a:rPr lang="en-US" sz="1250" b="1" dirty="0">
                <a:solidFill>
                  <a:srgbClr val="241C3B"/>
                </a:solidFill>
                <a:latin typeface="Calibri" pitchFamily="34" charset="0"/>
                <a:ea typeface="Calibri" pitchFamily="34" charset="-122"/>
                <a:cs typeface="Calibri" pitchFamily="34" charset="-120"/>
              </a:rPr>
              <a:t>Представлення  —  </a:t>
            </a:r>
            <a:pPr indent="0" marL="0">
              <a:buNone/>
            </a:pPr>
            <a:r>
              <a:rPr lang="en-US" sz="1250" dirty="0">
                <a:solidFill>
                  <a:srgbClr val="6E6785"/>
                </a:solidFill>
                <a:latin typeface="Calibri" pitchFamily="34" charset="0"/>
                <a:ea typeface="Calibri" pitchFamily="34" charset="-122"/>
                <a:cs typeface="Calibri" pitchFamily="34" charset="-120"/>
              </a:rPr>
              <a:t>content negotiation (JSON/XML), ETag, If-None-Match/If-Match, JSON Patch</a:t>
            </a:r>
            <a:endParaRPr lang="en-US" sz="1250" dirty="0"/>
          </a:p>
        </p:txBody>
      </p:sp>
      <p:sp>
        <p:nvSpPr>
          <p:cNvPr id="8" name="Shape 5"/>
          <p:cNvSpPr/>
          <p:nvPr/>
        </p:nvSpPr>
        <p:spPr>
          <a:xfrm>
            <a:off x="566928" y="2544318"/>
            <a:ext cx="11057839" cy="1117854"/>
          </a:xfrm>
          <a:prstGeom prst="roundRect">
            <a:avLst>
              <a:gd name="adj" fmla="val 5726"/>
            </a:avLst>
          </a:prstGeom>
          <a:solidFill>
            <a:srgbClr val="FFFFFF"/>
          </a:solidFill>
          <a:ln w="12700">
            <a:solidFill>
              <a:srgbClr val="D9CEF5"/>
            </a:solidFill>
            <a:prstDash val="solid"/>
          </a:ln>
        </p:spPr>
      </p:sp>
      <p:sp>
        <p:nvSpPr>
          <p:cNvPr id="9" name="Shape 6"/>
          <p:cNvSpPr/>
          <p:nvPr/>
        </p:nvSpPr>
        <p:spPr>
          <a:xfrm>
            <a:off x="795528" y="2929509"/>
            <a:ext cx="2926080" cy="347472"/>
          </a:xfrm>
          <a:prstGeom prst="roundRect">
            <a:avLst>
              <a:gd name="adj" fmla="val 13158"/>
            </a:avLst>
          </a:prstGeom>
          <a:solidFill>
            <a:srgbClr val="E7DFFA"/>
          </a:solidFill>
          <a:ln/>
        </p:spPr>
      </p:sp>
      <p:sp>
        <p:nvSpPr>
          <p:cNvPr id="10" name="Text 7"/>
          <p:cNvSpPr txBox="1"/>
          <p:nvPr/>
        </p:nvSpPr>
        <p:spPr>
          <a:xfrm>
            <a:off x="795528" y="2929509"/>
            <a:ext cx="2926080" cy="347472"/>
          </a:xfrm>
          <a:prstGeom prst="rect">
            <a:avLst/>
          </a:prstGeom>
          <a:noFill/>
          <a:ln/>
        </p:spPr>
        <p:txBody>
          <a:bodyPr wrap="square" lIns="0" tIns="0" rIns="0" bIns="0" rtlCol="0" anchor="ctr"/>
          <a:lstStyle/>
          <a:p>
            <a:pPr algn="ctr" indent="0" marL="0">
              <a:buNone/>
            </a:pPr>
            <a:r>
              <a:rPr lang="en-US" sz="1100" b="1" dirty="0">
                <a:solidFill>
                  <a:srgbClr val="512BD4"/>
                </a:solidFill>
                <a:latin typeface="Courier New" pitchFamily="34" charset="0"/>
                <a:ea typeface="Courier New" pitchFamily="34" charset="-122"/>
                <a:cs typeface="Courier New" pitchFamily="34" charset="-120"/>
              </a:rPr>
              <a:t>16.Rest.CollectionsAndErrors</a:t>
            </a:r>
            <a:endParaRPr lang="en-US" sz="1100" dirty="0"/>
          </a:p>
        </p:txBody>
      </p:sp>
      <p:sp>
        <p:nvSpPr>
          <p:cNvPr id="11" name="Text 8"/>
          <p:cNvSpPr txBox="1"/>
          <p:nvPr/>
        </p:nvSpPr>
        <p:spPr>
          <a:xfrm>
            <a:off x="3995928" y="2544318"/>
            <a:ext cx="7400239" cy="1117854"/>
          </a:xfrm>
          <a:prstGeom prst="rect">
            <a:avLst/>
          </a:prstGeom>
          <a:noFill/>
          <a:ln/>
        </p:spPr>
        <p:txBody>
          <a:bodyPr wrap="square" lIns="0" tIns="0" rIns="0" bIns="0" rtlCol="0" anchor="ctr"/>
          <a:lstStyle/>
          <a:p>
            <a:pPr indent="0" marL="0">
              <a:buNone/>
            </a:pPr>
            <a:r>
              <a:rPr lang="en-US" sz="1250" b="1" dirty="0">
                <a:solidFill>
                  <a:srgbClr val="241C3B"/>
                </a:solidFill>
                <a:latin typeface="Calibri" pitchFamily="34" charset="0"/>
                <a:ea typeface="Calibri" pitchFamily="34" charset="-122"/>
                <a:cs typeface="Calibri" pitchFamily="34" charset="-120"/>
              </a:rPr>
              <a:t>Колекції та помилки  —  </a:t>
            </a:r>
            <a:pPr indent="0" marL="0">
              <a:buNone/>
            </a:pPr>
            <a:r>
              <a:rPr lang="en-US" sz="1250" dirty="0">
                <a:solidFill>
                  <a:srgbClr val="6E6785"/>
                </a:solidFill>
                <a:latin typeface="Calibri" pitchFamily="34" charset="0"/>
                <a:ea typeface="Calibri" pitchFamily="34" charset="-122"/>
                <a:cs typeface="Calibri" pitchFamily="34" charset="-120"/>
              </a:rPr>
              <a:t>пагінація, фільтр, конверт відповіді, X-Total-Count, ProblemDetails</a:t>
            </a:r>
            <a:endParaRPr lang="en-US" sz="1250" dirty="0"/>
          </a:p>
        </p:txBody>
      </p:sp>
      <p:sp>
        <p:nvSpPr>
          <p:cNvPr id="12" name="Shape 9"/>
          <p:cNvSpPr/>
          <p:nvPr/>
        </p:nvSpPr>
        <p:spPr>
          <a:xfrm>
            <a:off x="566928" y="3845052"/>
            <a:ext cx="11057839" cy="1117854"/>
          </a:xfrm>
          <a:prstGeom prst="roundRect">
            <a:avLst>
              <a:gd name="adj" fmla="val 5726"/>
            </a:avLst>
          </a:prstGeom>
          <a:solidFill>
            <a:srgbClr val="FFFFFF"/>
          </a:solidFill>
          <a:ln w="12700">
            <a:solidFill>
              <a:srgbClr val="D9CEF5"/>
            </a:solidFill>
            <a:prstDash val="solid"/>
          </a:ln>
        </p:spPr>
      </p:sp>
      <p:sp>
        <p:nvSpPr>
          <p:cNvPr id="13" name="Shape 10"/>
          <p:cNvSpPr/>
          <p:nvPr/>
        </p:nvSpPr>
        <p:spPr>
          <a:xfrm>
            <a:off x="795528" y="4230243"/>
            <a:ext cx="2926080" cy="347472"/>
          </a:xfrm>
          <a:prstGeom prst="roundRect">
            <a:avLst>
              <a:gd name="adj" fmla="val 13158"/>
            </a:avLst>
          </a:prstGeom>
          <a:solidFill>
            <a:srgbClr val="E7DFFA"/>
          </a:solidFill>
          <a:ln/>
        </p:spPr>
      </p:sp>
      <p:sp>
        <p:nvSpPr>
          <p:cNvPr id="14" name="Text 11"/>
          <p:cNvSpPr txBox="1"/>
          <p:nvPr/>
        </p:nvSpPr>
        <p:spPr>
          <a:xfrm>
            <a:off x="795528" y="4230243"/>
            <a:ext cx="2926080" cy="347472"/>
          </a:xfrm>
          <a:prstGeom prst="rect">
            <a:avLst/>
          </a:prstGeom>
          <a:noFill/>
          <a:ln/>
        </p:spPr>
        <p:txBody>
          <a:bodyPr wrap="square" lIns="0" tIns="0" rIns="0" bIns="0" rtlCol="0" anchor="ctr"/>
          <a:lstStyle/>
          <a:p>
            <a:pPr algn="ctr" indent="0" marL="0">
              <a:buNone/>
            </a:pPr>
            <a:r>
              <a:rPr lang="en-US" sz="1100" b="1" dirty="0">
                <a:solidFill>
                  <a:srgbClr val="512BD4"/>
                </a:solidFill>
                <a:latin typeface="Courier New" pitchFamily="34" charset="0"/>
                <a:ea typeface="Courier New" pitchFamily="34" charset="-122"/>
                <a:cs typeface="Courier New" pitchFamily="34" charset="-120"/>
              </a:rPr>
              <a:t>17.Rest.Versioning</a:t>
            </a:r>
            <a:endParaRPr lang="en-US" sz="1100" dirty="0"/>
          </a:p>
        </p:txBody>
      </p:sp>
      <p:sp>
        <p:nvSpPr>
          <p:cNvPr id="15" name="Text 12"/>
          <p:cNvSpPr txBox="1"/>
          <p:nvPr/>
        </p:nvSpPr>
        <p:spPr>
          <a:xfrm>
            <a:off x="3995928" y="3845052"/>
            <a:ext cx="7400239" cy="1117854"/>
          </a:xfrm>
          <a:prstGeom prst="rect">
            <a:avLst/>
          </a:prstGeom>
          <a:noFill/>
          <a:ln/>
        </p:spPr>
        <p:txBody>
          <a:bodyPr wrap="square" lIns="0" tIns="0" rIns="0" bIns="0" rtlCol="0" anchor="ctr"/>
          <a:lstStyle/>
          <a:p>
            <a:pPr indent="0" marL="0">
              <a:buNone/>
            </a:pPr>
            <a:r>
              <a:rPr lang="en-US" sz="1250" b="1" dirty="0">
                <a:solidFill>
                  <a:srgbClr val="241C3B"/>
                </a:solidFill>
                <a:latin typeface="Calibri" pitchFamily="34" charset="0"/>
                <a:ea typeface="Calibri" pitchFamily="34" charset="-122"/>
                <a:cs typeface="Calibri" pitchFamily="34" charset="-120"/>
              </a:rPr>
              <a:t>Версіонування  —  </a:t>
            </a:r>
            <a:pPr indent="0" marL="0">
              <a:buNone/>
            </a:pPr>
            <a:r>
              <a:rPr lang="en-US" sz="1250" dirty="0">
                <a:solidFill>
                  <a:srgbClr val="6E6785"/>
                </a:solidFill>
                <a:latin typeface="Calibri" pitchFamily="34" charset="0"/>
                <a:ea typeface="Calibri" pitchFamily="34" charset="-122"/>
                <a:cs typeface="Calibri" pitchFamily="34" charset="-120"/>
              </a:rPr>
              <a:t>4 способи вказати версію, v1/v2 одночасно, deprecation</a:t>
            </a:r>
            <a:endParaRPr lang="en-US" sz="1250" dirty="0"/>
          </a:p>
        </p:txBody>
      </p:sp>
      <p:sp>
        <p:nvSpPr>
          <p:cNvPr id="16" name="Shape 13"/>
          <p:cNvSpPr/>
          <p:nvPr/>
        </p:nvSpPr>
        <p:spPr>
          <a:xfrm>
            <a:off x="566928" y="5145786"/>
            <a:ext cx="11057839" cy="1117854"/>
          </a:xfrm>
          <a:prstGeom prst="roundRect">
            <a:avLst>
              <a:gd name="adj" fmla="val 5726"/>
            </a:avLst>
          </a:prstGeom>
          <a:solidFill>
            <a:srgbClr val="FFFFFF"/>
          </a:solidFill>
          <a:ln w="12700">
            <a:solidFill>
              <a:srgbClr val="D9CEF5"/>
            </a:solidFill>
            <a:prstDash val="solid"/>
          </a:ln>
        </p:spPr>
      </p:sp>
      <p:sp>
        <p:nvSpPr>
          <p:cNvPr id="17" name="Shape 14"/>
          <p:cNvSpPr/>
          <p:nvPr/>
        </p:nvSpPr>
        <p:spPr>
          <a:xfrm>
            <a:off x="795528" y="5530977"/>
            <a:ext cx="2926080" cy="347472"/>
          </a:xfrm>
          <a:prstGeom prst="roundRect">
            <a:avLst>
              <a:gd name="adj" fmla="val 13158"/>
            </a:avLst>
          </a:prstGeom>
          <a:solidFill>
            <a:srgbClr val="E7DFFA"/>
          </a:solidFill>
          <a:ln/>
        </p:spPr>
      </p:sp>
      <p:sp>
        <p:nvSpPr>
          <p:cNvPr id="18" name="Text 15"/>
          <p:cNvSpPr txBox="1"/>
          <p:nvPr/>
        </p:nvSpPr>
        <p:spPr>
          <a:xfrm>
            <a:off x="795528" y="5530977"/>
            <a:ext cx="2926080" cy="347472"/>
          </a:xfrm>
          <a:prstGeom prst="rect">
            <a:avLst/>
          </a:prstGeom>
          <a:noFill/>
          <a:ln/>
        </p:spPr>
        <p:txBody>
          <a:bodyPr wrap="square" lIns="0" tIns="0" rIns="0" bIns="0" rtlCol="0" anchor="ctr"/>
          <a:lstStyle/>
          <a:p>
            <a:pPr algn="ctr" indent="0" marL="0">
              <a:buNone/>
            </a:pPr>
            <a:r>
              <a:rPr lang="en-US" sz="1100" b="1" dirty="0">
                <a:solidFill>
                  <a:srgbClr val="512BD4"/>
                </a:solidFill>
                <a:latin typeface="Courier New" pitchFamily="34" charset="0"/>
                <a:ea typeface="Courier New" pitchFamily="34" charset="-122"/>
                <a:cs typeface="Courier New" pitchFamily="34" charset="-120"/>
              </a:rPr>
              <a:t>18.Rest.Hypermedia</a:t>
            </a:r>
            <a:endParaRPr lang="en-US" sz="1100" dirty="0"/>
          </a:p>
        </p:txBody>
      </p:sp>
      <p:sp>
        <p:nvSpPr>
          <p:cNvPr id="19" name="Text 16"/>
          <p:cNvSpPr txBox="1"/>
          <p:nvPr/>
        </p:nvSpPr>
        <p:spPr>
          <a:xfrm>
            <a:off x="3995928" y="5145786"/>
            <a:ext cx="7400239" cy="1117854"/>
          </a:xfrm>
          <a:prstGeom prst="rect">
            <a:avLst/>
          </a:prstGeom>
          <a:noFill/>
          <a:ln/>
        </p:spPr>
        <p:txBody>
          <a:bodyPr wrap="square" lIns="0" tIns="0" rIns="0" bIns="0" rtlCol="0" anchor="ctr"/>
          <a:lstStyle/>
          <a:p>
            <a:pPr indent="0" marL="0">
              <a:buNone/>
            </a:pPr>
            <a:r>
              <a:rPr lang="en-US" sz="1250" b="1" dirty="0">
                <a:solidFill>
                  <a:srgbClr val="241C3B"/>
                </a:solidFill>
                <a:latin typeface="Calibri" pitchFamily="34" charset="0"/>
                <a:ea typeface="Calibri" pitchFamily="34" charset="-122"/>
                <a:cs typeface="Calibri" pitchFamily="34" charset="-120"/>
              </a:rPr>
              <a:t>Гіпермедіа  —  </a:t>
            </a:r>
            <a:pPr indent="0" marL="0">
              <a:buNone/>
            </a:pPr>
            <a:r>
              <a:rPr lang="en-US" sz="1250" dirty="0">
                <a:solidFill>
                  <a:srgbClr val="6E6785"/>
                </a:solidFill>
                <a:latin typeface="Calibri" pitchFamily="34" charset="0"/>
                <a:ea typeface="Calibri" pitchFamily="34" charset="-122"/>
                <a:cs typeface="Calibri" pitchFamily="34" charset="-120"/>
              </a:rPr>
              <a:t>_links, стан ресурсу → доступні дії, модель Річардсона</a:t>
            </a:r>
            <a:endParaRPr lang="en-US" sz="1250" dirty="0"/>
          </a:p>
        </p:txBody>
      </p:sp>
      <p:sp>
        <p:nvSpPr>
          <p:cNvPr id="20" name="Text 17"/>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74</a:t>
            </a:r>
            <a:endParaRPr lang="en-US" sz="10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1A1333"/>
        </a:solidFill>
      </p:bgPr>
    </p:bg>
    <p:spTree>
      <p:nvGrpSpPr>
        <p:cNvPr id="1" name=""/>
        <p:cNvGrpSpPr/>
        <p:nvPr/>
      </p:nvGrpSpPr>
      <p:grpSpPr>
        <a:xfrm>
          <a:off x="0" y="0"/>
          <a:ext cx="0" cy="0"/>
          <a:chOff x="0" y="0"/>
          <a:chExt cx="0" cy="0"/>
        </a:xfrm>
      </p:grpSpPr>
      <p:sp>
        <p:nvSpPr>
          <p:cNvPr id="2" name="Text 0"/>
          <p:cNvSpPr txBox="1"/>
          <p:nvPr/>
        </p:nvSpPr>
        <p:spPr>
          <a:xfrm>
            <a:off x="7680960" y="182880"/>
            <a:ext cx="4572000" cy="6400800"/>
          </a:xfrm>
          <a:prstGeom prst="rect">
            <a:avLst/>
          </a:prstGeom>
          <a:noFill/>
          <a:ln/>
        </p:spPr>
        <p:txBody>
          <a:bodyPr wrap="square" lIns="0" tIns="0" rIns="0" bIns="0" rtlCol="0" anchor="ctr"/>
          <a:lstStyle/>
          <a:p>
            <a:pPr algn="r" indent="0" marL="0">
              <a:buNone/>
            </a:pPr>
            <a:r>
              <a:rPr lang="en-US" sz="32000" b="1" dirty="0">
                <a:solidFill>
                  <a:srgbClr val="2A1E52"/>
                </a:solidFill>
                <a:latin typeface="Cambria" pitchFamily="34" charset="0"/>
                <a:ea typeface="Cambria" pitchFamily="34" charset="-122"/>
                <a:cs typeface="Cambria" pitchFamily="34" charset="-120"/>
              </a:rPr>
              <a:t>8</a:t>
            </a:r>
            <a:endParaRPr lang="en-US" sz="32000" dirty="0"/>
          </a:p>
        </p:txBody>
      </p:sp>
      <p:sp>
        <p:nvSpPr>
          <p:cNvPr id="3" name="Text 1"/>
          <p:cNvSpPr txBox="1"/>
          <p:nvPr/>
        </p:nvSpPr>
        <p:spPr>
          <a:xfrm>
            <a:off x="914400" y="2286000"/>
            <a:ext cx="8229600" cy="365760"/>
          </a:xfrm>
          <a:prstGeom prst="rect">
            <a:avLst/>
          </a:prstGeom>
          <a:noFill/>
          <a:ln/>
        </p:spPr>
        <p:txBody>
          <a:bodyPr wrap="square" lIns="0" tIns="0" rIns="0" bIns="0" rtlCol="0" anchor="ctr"/>
          <a:lstStyle/>
          <a:p>
            <a:pPr indent="0" marL="0">
              <a:buNone/>
            </a:pPr>
            <a:r>
              <a:rPr lang="en-US" sz="1500" b="1" spc="300" kern="0" dirty="0">
                <a:solidFill>
                  <a:srgbClr val="0E9C8E"/>
                </a:solidFill>
                <a:latin typeface="Calibri" pitchFamily="34" charset="0"/>
                <a:ea typeface="Calibri" pitchFamily="34" charset="-122"/>
                <a:cs typeface="Calibri" pitchFamily="34" charset="-120"/>
              </a:rPr>
              <a:t>МОДУЛЬ 8</a:t>
            </a:r>
            <a:endParaRPr lang="en-US" sz="1500" dirty="0"/>
          </a:p>
        </p:txBody>
      </p:sp>
      <p:sp>
        <p:nvSpPr>
          <p:cNvPr id="4" name="Text 2"/>
          <p:cNvSpPr txBox="1"/>
          <p:nvPr/>
        </p:nvSpPr>
        <p:spPr>
          <a:xfrm>
            <a:off x="914400" y="2743200"/>
            <a:ext cx="7772400" cy="15544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Документація та тестування</a:t>
            </a:r>
            <a:endParaRPr lang="en-US" sz="4000" dirty="0"/>
          </a:p>
        </p:txBody>
      </p:sp>
      <p:sp>
        <p:nvSpPr>
          <p:cNvPr id="5" name="Text 3"/>
          <p:cNvSpPr txBox="1"/>
          <p:nvPr/>
        </p:nvSpPr>
        <p:spPr>
          <a:xfrm>
            <a:off x="960120" y="4389120"/>
            <a:ext cx="6949440" cy="1828800"/>
          </a:xfrm>
          <a:prstGeom prst="rect">
            <a:avLst/>
          </a:prstGeom>
          <a:noFill/>
          <a:ln/>
        </p:spPr>
        <p:txBody>
          <a:bodyPr wrap="square" lIns="0" tIns="0" rIns="0" bIns="0" rtlCol="0" anchor="ctr"/>
          <a:lstStyle/>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OpenAPI: що це, історія Swagger</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.NET 10: AddOpenApi / MapOpenApi</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Swagger UI · Scalar · Redoc</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піраміда тестів; WebApplicationFactory</a:t>
            </a:r>
            <a:endParaRPr lang="en-US" sz="1400" dirty="0"/>
          </a:p>
        </p:txBody>
      </p:sp>
      <p:sp>
        <p:nvSpPr>
          <p:cNvPr id="6" name="Text 4"/>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9E93C4"/>
                </a:solidFill>
                <a:latin typeface="Calibri" pitchFamily="34" charset="0"/>
                <a:ea typeface="Calibri" pitchFamily="34" charset="-122"/>
                <a:cs typeface="Calibri" pitchFamily="34" charset="-120"/>
              </a:rPr>
              <a:t>75</a:t>
            </a:r>
            <a:endParaRPr lang="en-US" sz="1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OpenAPI</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OpenAPI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машиночитний опис HTTP API у форматі JSON/YAML — шляхи, методи, параметри, схеми, коди, безпека. Раніше називався Swagger Specification.</a:t>
            </a:r>
            <a:endParaRPr lang="en-US" sz="1450" dirty="0"/>
          </a:p>
        </p:txBody>
      </p:sp>
      <p:sp>
        <p:nvSpPr>
          <p:cNvPr id="6" name="Shape 3"/>
          <p:cNvSpPr/>
          <p:nvPr/>
        </p:nvSpPr>
        <p:spPr>
          <a:xfrm>
            <a:off x="566928" y="2231136"/>
            <a:ext cx="11057839" cy="934974"/>
          </a:xfrm>
          <a:prstGeom prst="roundRect">
            <a:avLst>
              <a:gd name="adj" fmla="val 4890"/>
            </a:avLst>
          </a:prstGeom>
          <a:solidFill>
            <a:srgbClr val="F3EFFD"/>
          </a:solidFill>
          <a:ln w="9525">
            <a:solidFill>
              <a:srgbClr val="D9CEF5"/>
            </a:solidFill>
            <a:prstDash val="solid"/>
          </a:ln>
        </p:spPr>
      </p:sp>
      <p:sp>
        <p:nvSpPr>
          <p:cNvPr id="7" name="Shape 4"/>
          <p:cNvSpPr/>
          <p:nvPr/>
        </p:nvSpPr>
        <p:spPr>
          <a:xfrm>
            <a:off x="768096" y="2524887"/>
            <a:ext cx="347472" cy="347472"/>
          </a:xfrm>
          <a:prstGeom prst="ellipse">
            <a:avLst/>
          </a:prstGeom>
          <a:solidFill>
            <a:srgbClr val="512BD4"/>
          </a:solidFill>
          <a:ln/>
        </p:spPr>
      </p:sp>
      <p:sp>
        <p:nvSpPr>
          <p:cNvPr id="8" name="Text 5"/>
          <p:cNvSpPr txBox="1"/>
          <p:nvPr/>
        </p:nvSpPr>
        <p:spPr>
          <a:xfrm>
            <a:off x="768096" y="2524887"/>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1298448" y="2231136"/>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Що з нього роблять   </a:t>
            </a:r>
            <a:pPr indent="0" marL="0">
              <a:buNone/>
            </a:pPr>
            <a:r>
              <a:rPr lang="en-US" sz="1250" dirty="0">
                <a:solidFill>
                  <a:srgbClr val="6E6785"/>
                </a:solidFill>
                <a:latin typeface="Calibri" pitchFamily="34" charset="0"/>
                <a:ea typeface="Calibri" pitchFamily="34" charset="-122"/>
                <a:cs typeface="Calibri" pitchFamily="34" charset="-120"/>
              </a:rPr>
              <a:t>інтерактивну документацію, клієнтські SDK різними мовами, моки, контрактні тести в CI, імпорт у Postman чи API-шлюз</a:t>
            </a:r>
            <a:endParaRPr lang="en-US" sz="1500" dirty="0"/>
          </a:p>
        </p:txBody>
      </p:sp>
      <p:sp>
        <p:nvSpPr>
          <p:cNvPr id="10" name="Shape 7"/>
          <p:cNvSpPr/>
          <p:nvPr/>
        </p:nvSpPr>
        <p:spPr>
          <a:xfrm>
            <a:off x="566928" y="3284982"/>
            <a:ext cx="11057839" cy="934974"/>
          </a:xfrm>
          <a:prstGeom prst="roundRect">
            <a:avLst>
              <a:gd name="adj" fmla="val 4890"/>
            </a:avLst>
          </a:prstGeom>
          <a:solidFill>
            <a:srgbClr val="F3EFFD"/>
          </a:solidFill>
          <a:ln w="9525">
            <a:solidFill>
              <a:srgbClr val="D9CEF5"/>
            </a:solidFill>
            <a:prstDash val="solid"/>
          </a:ln>
        </p:spPr>
      </p:sp>
      <p:sp>
        <p:nvSpPr>
          <p:cNvPr id="11" name="Shape 8"/>
          <p:cNvSpPr/>
          <p:nvPr/>
        </p:nvSpPr>
        <p:spPr>
          <a:xfrm>
            <a:off x="768096" y="3578733"/>
            <a:ext cx="347472" cy="347472"/>
          </a:xfrm>
          <a:prstGeom prst="ellipse">
            <a:avLst/>
          </a:prstGeom>
          <a:solidFill>
            <a:srgbClr val="512BD4"/>
          </a:solidFill>
          <a:ln/>
        </p:spPr>
      </p:sp>
      <p:sp>
        <p:nvSpPr>
          <p:cNvPr id="12" name="Text 9"/>
          <p:cNvSpPr txBox="1"/>
          <p:nvPr/>
        </p:nvSpPr>
        <p:spPr>
          <a:xfrm>
            <a:off x="768096" y="3578733"/>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298448" y="3284982"/>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.NET 10   </a:t>
            </a:r>
            <a:pPr indent="0" marL="0">
              <a:buNone/>
            </a:pPr>
            <a:r>
              <a:rPr lang="en-US" sz="1250" dirty="0">
                <a:solidFill>
                  <a:srgbClr val="6E6785"/>
                </a:solidFill>
                <a:latin typeface="Calibri" pitchFamily="34" charset="0"/>
                <a:ea typeface="Calibri" pitchFamily="34" charset="-122"/>
                <a:cs typeface="Calibri" pitchFamily="34" charset="-120"/>
              </a:rPr>
              <a:t>AddOpenApi() + MapOpenApi() генерують /openapi/v1.json вбудовано, без жодних сторонніх пакетів</a:t>
            </a:r>
            <a:endParaRPr lang="en-US" sz="1500" dirty="0"/>
          </a:p>
        </p:txBody>
      </p:sp>
      <p:sp>
        <p:nvSpPr>
          <p:cNvPr id="14" name="Shape 11"/>
          <p:cNvSpPr/>
          <p:nvPr/>
        </p:nvSpPr>
        <p:spPr>
          <a:xfrm>
            <a:off x="566928" y="4338828"/>
            <a:ext cx="11057839" cy="934974"/>
          </a:xfrm>
          <a:prstGeom prst="roundRect">
            <a:avLst>
              <a:gd name="adj" fmla="val 4890"/>
            </a:avLst>
          </a:prstGeom>
          <a:solidFill>
            <a:srgbClr val="F3EFFD"/>
          </a:solidFill>
          <a:ln w="9525">
            <a:solidFill>
              <a:srgbClr val="D9CEF5"/>
            </a:solidFill>
            <a:prstDash val="solid"/>
          </a:ln>
        </p:spPr>
      </p:sp>
      <p:sp>
        <p:nvSpPr>
          <p:cNvPr id="15" name="Shape 12"/>
          <p:cNvSpPr/>
          <p:nvPr/>
        </p:nvSpPr>
        <p:spPr>
          <a:xfrm>
            <a:off x="768096" y="4632579"/>
            <a:ext cx="347472" cy="347472"/>
          </a:xfrm>
          <a:prstGeom prst="ellipse">
            <a:avLst/>
          </a:prstGeom>
          <a:solidFill>
            <a:srgbClr val="512BD4"/>
          </a:solidFill>
          <a:ln/>
        </p:spPr>
      </p:sp>
      <p:sp>
        <p:nvSpPr>
          <p:cNvPr id="16" name="Text 13"/>
          <p:cNvSpPr txBox="1"/>
          <p:nvPr/>
        </p:nvSpPr>
        <p:spPr>
          <a:xfrm>
            <a:off x="768096" y="4632579"/>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txBox="1"/>
          <p:nvPr/>
        </p:nvSpPr>
        <p:spPr>
          <a:xfrm>
            <a:off x="1298448" y="4338828"/>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Джерело правди   </a:t>
            </a:r>
            <a:pPr indent="0" marL="0">
              <a:buNone/>
            </a:pPr>
            <a:r>
              <a:rPr lang="en-US" sz="1250" dirty="0">
                <a:solidFill>
                  <a:srgbClr val="6E6785"/>
                </a:solidFill>
                <a:latin typeface="Calibri" pitchFamily="34" charset="0"/>
                <a:ea typeface="Calibri" pitchFamily="34" charset="-122"/>
                <a:cs typeface="Calibri" pitchFamily="34" charset="-120"/>
              </a:rPr>
              <a:t>документ один; переглядачів (UI) поверх нього може бути скільки завгодно й одночасно</a:t>
            </a:r>
            <a:endParaRPr lang="en-US" sz="1500" dirty="0"/>
          </a:p>
        </p:txBody>
      </p:sp>
      <p:sp>
        <p:nvSpPr>
          <p:cNvPr id="18" name="Shape 15"/>
          <p:cNvSpPr/>
          <p:nvPr/>
        </p:nvSpPr>
        <p:spPr>
          <a:xfrm>
            <a:off x="566928" y="5392674"/>
            <a:ext cx="11057839" cy="934974"/>
          </a:xfrm>
          <a:prstGeom prst="roundRect">
            <a:avLst>
              <a:gd name="adj" fmla="val 4890"/>
            </a:avLst>
          </a:prstGeom>
          <a:solidFill>
            <a:srgbClr val="F3EFFD"/>
          </a:solidFill>
          <a:ln w="9525">
            <a:solidFill>
              <a:srgbClr val="D9CEF5"/>
            </a:solidFill>
            <a:prstDash val="solid"/>
          </a:ln>
        </p:spPr>
      </p:sp>
      <p:sp>
        <p:nvSpPr>
          <p:cNvPr id="19" name="Shape 16"/>
          <p:cNvSpPr/>
          <p:nvPr/>
        </p:nvSpPr>
        <p:spPr>
          <a:xfrm>
            <a:off x="768096" y="5686425"/>
            <a:ext cx="347472" cy="347472"/>
          </a:xfrm>
          <a:prstGeom prst="ellipse">
            <a:avLst/>
          </a:prstGeom>
          <a:solidFill>
            <a:srgbClr val="512BD4"/>
          </a:solidFill>
          <a:ln/>
        </p:spPr>
      </p:sp>
      <p:sp>
        <p:nvSpPr>
          <p:cNvPr id="20" name="Text 17"/>
          <p:cNvSpPr txBox="1"/>
          <p:nvPr/>
        </p:nvSpPr>
        <p:spPr>
          <a:xfrm>
            <a:off x="768096" y="5686425"/>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txBox="1"/>
          <p:nvPr/>
        </p:nvSpPr>
        <p:spPr>
          <a:xfrm>
            <a:off x="1298448" y="5392674"/>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Метадані   </a:t>
            </a:r>
            <a:pPr indent="0" marL="0">
              <a:buNone/>
            </a:pPr>
            <a:r>
              <a:rPr lang="en-US" sz="1250" dirty="0">
                <a:solidFill>
                  <a:srgbClr val="6E6785"/>
                </a:solidFill>
                <a:latin typeface="Calibri" pitchFamily="34" charset="0"/>
                <a:ea typeface="Calibri" pitchFamily="34" charset="-122"/>
                <a:cs typeface="Calibri" pitchFamily="34" charset="-120"/>
              </a:rPr>
              <a:t>беруться з таблиці маршрутів, типів результату, атрибутів, XML-коментарів та трансформерів</a:t>
            </a:r>
            <a:endParaRPr lang="en-US" sz="1500" dirty="0"/>
          </a:p>
        </p:txBody>
      </p:sp>
      <p:sp>
        <p:nvSpPr>
          <p:cNvPr id="22" name="Text 19"/>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76</a:t>
            </a:r>
            <a:endParaRPr lang="en-US" sz="1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Джерела метаданих для OpenAPI</a:t>
            </a:r>
            <a:endParaRPr lang="en-US" sz="30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566928" y="1472184"/>
          <a:ext cx="11057839" cy="914400"/>
        </p:xfrm>
        <a:graphic>
          <a:graphicData uri="http://schemas.openxmlformats.org/drawingml/2006/table">
            <a:tbl>
              <a:tblPr/>
              <a:tblGrid>
                <a:gridCol w="3474720"/>
                <a:gridCol w="7589520"/>
              </a:tblGrid>
              <a:tr h="6583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Що в документі</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Звідки</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шляхи, методи, параметри</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таблиця маршрутів</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схеми запиту/відповіді</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типи параметрів і результату (TypedResults, Results&lt;…&gt;)</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коди відповідей</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union-типи результату, Produces&lt;T&gt;(), [ProducesResponseType]</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summary / description</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.WithSummary(), .WithDescription(), XML-коментарі ///</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теги (групування)</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.WithTags()</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приклади, Info, security</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трансформери: AddDocumentTransformer / AddSchemaTransformer</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bl>
          </a:graphicData>
        </a:graphic>
      </p:graphicFrame>
      <p:sp>
        <p:nvSpPr>
          <p:cNvPr id="5" name="Text 1"/>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77</a:t>
            </a:r>
            <a:endParaRPr lang="en-US" sz="10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Переглядачі: Swagger UI · Scalar · Redoc</a:t>
            </a:r>
            <a:endParaRPr lang="en-US" sz="3000" dirty="0"/>
          </a:p>
        </p:txBody>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566928" y="1879092"/>
          <a:ext cx="11057839" cy="914400"/>
        </p:xfrm>
        <a:graphic>
          <a:graphicData uri="http://schemas.openxmlformats.org/drawingml/2006/table">
            <a:tbl>
              <a:tblPr/>
              <a:tblGrid>
                <a:gridCol w="2743200"/>
                <a:gridCol w="2788920"/>
                <a:gridCol w="2788920"/>
                <a:gridCol w="2743200"/>
              </a:tblGrid>
              <a:tr h="658368">
                <a:tc>
                  <a:txBody>
                    <a:bodyPr/>
                    <a:lstStyle/>
                    <a:p>
                      <a:pPr indent="0" marL="0">
                        <a:buNone/>
                      </a:pP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Swagger UI</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Scalar</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Redoc</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Пакет</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Swashbuckle…SwaggerUI</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Scalar.AspNetCore</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статикою</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«Try it out»</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так</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так</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ні (лише читання)</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.NET-шаблони</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до .NET 8</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.NET 9+</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Особливість</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класика, впізнаваний</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сучасний, генерує сніпети коду</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гарний для публічних API</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bl>
          </a:graphicData>
        </a:graphic>
      </p:graphicFrame>
      <p:sp>
        <p:nvSpPr>
          <p:cNvPr id="5" name="Shape 1"/>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6" name="Text 2"/>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i="1" dirty="0">
                <a:solidFill>
                  <a:srgbClr val="241C3B"/>
                </a:solidFill>
                <a:latin typeface="Calibri" pitchFamily="34" charset="0"/>
                <a:ea typeface="Calibri" pitchFamily="34" charset="-122"/>
                <a:cs typeface="Calibri" pitchFamily="34" charset="-120"/>
              </a:rPr>
              <a:t>У курсі приклад 19 підключає Swagger UI (/swagger) і Scalar (/scalar) паралельно — один документ, два UI.</a:t>
            </a:r>
            <a:endParaRPr lang="en-US" sz="1200" dirty="0"/>
          </a:p>
        </p:txBody>
      </p:sp>
      <p:sp>
        <p:nvSpPr>
          <p:cNvPr id="7" name="Text 3"/>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78</a:t>
            </a:r>
            <a:endParaRPr lang="en-US" sz="1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Тестування: піраміда</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WebApplicationFactory&lt;T&gt;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піднімає РЕАЛЬНИЙ застосунок у пам'яті — весь конвеєр, DI, маршрутизацію, серіалізацію — і дає HttpClient, який звертається до нього без справжньої мережі.</a:t>
            </a:r>
            <a:endParaRPr lang="en-US" sz="1450" dirty="0"/>
          </a:p>
        </p:txBody>
      </p:sp>
      <p:pic>
        <p:nvPicPr>
          <p:cNvPr id="6" name="Image 0" descr="C:\Users\Yurii\AppData\Local\Temp\claude\C--Users-Yurii-source-repos---Examples-ASP-NET-AspNet-Basics\130b0e02-3c53-4be1-ac71-0d4d7a5d1c71\scratchpad\deck\assets\d15_pyramid.png">    </p:cNvPr>
          <p:cNvPicPr>
            <a:picLocks noChangeAspect="1"/>
          </p:cNvPicPr>
          <p:nvPr/>
        </p:nvPicPr>
        <p:blipFill>
          <a:blip r:embed="rId1"/>
          <a:stretch>
            <a:fillRect/>
          </a:stretch>
        </p:blipFill>
        <p:spPr>
          <a:xfrm>
            <a:off x="3356469" y="2276856"/>
            <a:ext cx="5478757" cy="3529584"/>
          </a:xfrm>
          <a:prstGeom prst="rect">
            <a:avLst/>
          </a:prstGeom>
        </p:spPr>
      </p:pic>
      <p:sp>
        <p:nvSpPr>
          <p:cNvPr id="7" name="Shape 3"/>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8" name="Text 4"/>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dirty="0">
                <a:solidFill>
                  <a:srgbClr val="241C3B"/>
                </a:solidFill>
                <a:latin typeface="Calibri" pitchFamily="34" charset="0"/>
                <a:ea typeface="Calibri" pitchFamily="34" charset="-122"/>
                <a:cs typeface="Calibri" pitchFamily="34" charset="-120"/>
              </a:rPr>
              <a:t>Це найдешевший спосіб перевірити endpoint-и «як бачить клієнт». TEntryPoint — клас Program цільового проєкту (public partial class Program).</a:t>
            </a:r>
            <a:endParaRPr lang="en-US" sz="1200" dirty="0"/>
          </a:p>
        </p:txBody>
      </p:sp>
      <p:sp>
        <p:nvSpPr>
          <p:cNvPr id="9" name="Text 5"/>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79</a:t>
            </a:r>
            <a:endParaRPr lang="en-US" sz="10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3EFFD"/>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Модуль 8 — приклади</a:t>
            </a:r>
            <a:endParaRPr lang="en-US" sz="3000" dirty="0"/>
          </a:p>
        </p:txBody>
      </p:sp>
      <p:sp>
        <p:nvSpPr>
          <p:cNvPr id="4" name="Shape 1"/>
          <p:cNvSpPr/>
          <p:nvPr/>
        </p:nvSpPr>
        <p:spPr>
          <a:xfrm>
            <a:off x="566928" y="1833372"/>
            <a:ext cx="11057839" cy="1828800"/>
          </a:xfrm>
          <a:prstGeom prst="roundRect">
            <a:avLst>
              <a:gd name="adj" fmla="val 3500"/>
            </a:avLst>
          </a:prstGeom>
          <a:solidFill>
            <a:srgbClr val="FFFFFF"/>
          </a:solidFill>
          <a:ln w="12700">
            <a:solidFill>
              <a:srgbClr val="D9CEF5"/>
            </a:solidFill>
            <a:prstDash val="solid"/>
          </a:ln>
        </p:spPr>
      </p:sp>
      <p:sp>
        <p:nvSpPr>
          <p:cNvPr id="5" name="Shape 2"/>
          <p:cNvSpPr/>
          <p:nvPr/>
        </p:nvSpPr>
        <p:spPr>
          <a:xfrm>
            <a:off x="795528" y="2574036"/>
            <a:ext cx="2926080" cy="347472"/>
          </a:xfrm>
          <a:prstGeom prst="roundRect">
            <a:avLst>
              <a:gd name="adj" fmla="val 13158"/>
            </a:avLst>
          </a:prstGeom>
          <a:solidFill>
            <a:srgbClr val="E7DFFA"/>
          </a:solidFill>
          <a:ln/>
        </p:spPr>
      </p:sp>
      <p:sp>
        <p:nvSpPr>
          <p:cNvPr id="6" name="Text 3"/>
          <p:cNvSpPr txBox="1"/>
          <p:nvPr/>
        </p:nvSpPr>
        <p:spPr>
          <a:xfrm>
            <a:off x="795528" y="2574036"/>
            <a:ext cx="2926080" cy="347472"/>
          </a:xfrm>
          <a:prstGeom prst="rect">
            <a:avLst/>
          </a:prstGeom>
          <a:noFill/>
          <a:ln/>
        </p:spPr>
        <p:txBody>
          <a:bodyPr wrap="square" lIns="0" tIns="0" rIns="0" bIns="0" rtlCol="0" anchor="ctr"/>
          <a:lstStyle/>
          <a:p>
            <a:pPr algn="ctr" indent="0" marL="0">
              <a:buNone/>
            </a:pPr>
            <a:r>
              <a:rPr lang="en-US" sz="1100" b="1" dirty="0">
                <a:solidFill>
                  <a:srgbClr val="512BD4"/>
                </a:solidFill>
                <a:latin typeface="Courier New" pitchFamily="34" charset="0"/>
                <a:ea typeface="Courier New" pitchFamily="34" charset="-122"/>
                <a:cs typeface="Courier New" pitchFamily="34" charset="-120"/>
              </a:rPr>
              <a:t>19.OpenApi.Swagger</a:t>
            </a:r>
            <a:endParaRPr lang="en-US" sz="1100" dirty="0"/>
          </a:p>
        </p:txBody>
      </p:sp>
      <p:sp>
        <p:nvSpPr>
          <p:cNvPr id="7" name="Text 4"/>
          <p:cNvSpPr txBox="1"/>
          <p:nvPr/>
        </p:nvSpPr>
        <p:spPr>
          <a:xfrm>
            <a:off x="3995928" y="1833372"/>
            <a:ext cx="7400239" cy="1828800"/>
          </a:xfrm>
          <a:prstGeom prst="rect">
            <a:avLst/>
          </a:prstGeom>
          <a:noFill/>
          <a:ln/>
        </p:spPr>
        <p:txBody>
          <a:bodyPr wrap="square" lIns="0" tIns="0" rIns="0" bIns="0" rtlCol="0" anchor="ctr"/>
          <a:lstStyle/>
          <a:p>
            <a:pPr indent="0" marL="0">
              <a:buNone/>
            </a:pPr>
            <a:r>
              <a:rPr lang="en-US" sz="1250" b="1" dirty="0">
                <a:solidFill>
                  <a:srgbClr val="241C3B"/>
                </a:solidFill>
                <a:latin typeface="Calibri" pitchFamily="34" charset="0"/>
                <a:ea typeface="Calibri" pitchFamily="34" charset="-122"/>
                <a:cs typeface="Calibri" pitchFamily="34" charset="-120"/>
              </a:rPr>
              <a:t>OpenAPI + два UI  —  </a:t>
            </a:r>
            <a:pPr indent="0" marL="0">
              <a:buNone/>
            </a:pPr>
            <a:r>
              <a:rPr lang="en-US" sz="1250" dirty="0">
                <a:solidFill>
                  <a:srgbClr val="6E6785"/>
                </a:solidFill>
                <a:latin typeface="Calibri" pitchFamily="34" charset="0"/>
                <a:ea typeface="Calibri" pitchFamily="34" charset="-122"/>
                <a:cs typeface="Calibri" pitchFamily="34" charset="-120"/>
              </a:rPr>
              <a:t>AddOpenApi/MapOpenApi, трансформери, Swagger UI та Scalar паралельно</a:t>
            </a:r>
            <a:endParaRPr lang="en-US" sz="1250" dirty="0"/>
          </a:p>
        </p:txBody>
      </p:sp>
      <p:sp>
        <p:nvSpPr>
          <p:cNvPr id="8" name="Shape 5"/>
          <p:cNvSpPr/>
          <p:nvPr/>
        </p:nvSpPr>
        <p:spPr>
          <a:xfrm>
            <a:off x="566928" y="3845052"/>
            <a:ext cx="11057839" cy="1828800"/>
          </a:xfrm>
          <a:prstGeom prst="roundRect">
            <a:avLst>
              <a:gd name="adj" fmla="val 3500"/>
            </a:avLst>
          </a:prstGeom>
          <a:solidFill>
            <a:srgbClr val="FFFFFF"/>
          </a:solidFill>
          <a:ln w="12700">
            <a:solidFill>
              <a:srgbClr val="D9CEF5"/>
            </a:solidFill>
            <a:prstDash val="solid"/>
          </a:ln>
        </p:spPr>
      </p:sp>
      <p:sp>
        <p:nvSpPr>
          <p:cNvPr id="9" name="Shape 6"/>
          <p:cNvSpPr/>
          <p:nvPr/>
        </p:nvSpPr>
        <p:spPr>
          <a:xfrm>
            <a:off x="795528" y="4585716"/>
            <a:ext cx="2926080" cy="347472"/>
          </a:xfrm>
          <a:prstGeom prst="roundRect">
            <a:avLst>
              <a:gd name="adj" fmla="val 13158"/>
            </a:avLst>
          </a:prstGeom>
          <a:solidFill>
            <a:srgbClr val="E7DFFA"/>
          </a:solidFill>
          <a:ln/>
        </p:spPr>
      </p:sp>
      <p:sp>
        <p:nvSpPr>
          <p:cNvPr id="10" name="Text 7"/>
          <p:cNvSpPr txBox="1"/>
          <p:nvPr/>
        </p:nvSpPr>
        <p:spPr>
          <a:xfrm>
            <a:off x="795528" y="4585716"/>
            <a:ext cx="2926080" cy="347472"/>
          </a:xfrm>
          <a:prstGeom prst="rect">
            <a:avLst/>
          </a:prstGeom>
          <a:noFill/>
          <a:ln/>
        </p:spPr>
        <p:txBody>
          <a:bodyPr wrap="square" lIns="0" tIns="0" rIns="0" bIns="0" rtlCol="0" anchor="ctr"/>
          <a:lstStyle/>
          <a:p>
            <a:pPr algn="ctr" indent="0" marL="0">
              <a:buNone/>
            </a:pPr>
            <a:r>
              <a:rPr lang="en-US" sz="1100" b="1" dirty="0">
                <a:solidFill>
                  <a:srgbClr val="512BD4"/>
                </a:solidFill>
                <a:latin typeface="Courier New" pitchFamily="34" charset="0"/>
                <a:ea typeface="Courier New" pitchFamily="34" charset="-122"/>
                <a:cs typeface="Courier New" pitchFamily="34" charset="-120"/>
              </a:rPr>
              <a:t>20.Testing</a:t>
            </a:r>
            <a:endParaRPr lang="en-US" sz="1100" dirty="0"/>
          </a:p>
        </p:txBody>
      </p:sp>
      <p:sp>
        <p:nvSpPr>
          <p:cNvPr id="11" name="Text 8"/>
          <p:cNvSpPr txBox="1"/>
          <p:nvPr/>
        </p:nvSpPr>
        <p:spPr>
          <a:xfrm>
            <a:off x="3995928" y="3845052"/>
            <a:ext cx="7400239" cy="1828800"/>
          </a:xfrm>
          <a:prstGeom prst="rect">
            <a:avLst/>
          </a:prstGeom>
          <a:noFill/>
          <a:ln/>
        </p:spPr>
        <p:txBody>
          <a:bodyPr wrap="square" lIns="0" tIns="0" rIns="0" bIns="0" rtlCol="0" anchor="ctr"/>
          <a:lstStyle/>
          <a:p>
            <a:pPr indent="0" marL="0">
              <a:buNone/>
            </a:pPr>
            <a:r>
              <a:rPr lang="en-US" sz="1250" b="1" dirty="0">
                <a:solidFill>
                  <a:srgbClr val="241C3B"/>
                </a:solidFill>
                <a:latin typeface="Calibri" pitchFamily="34" charset="0"/>
                <a:ea typeface="Calibri" pitchFamily="34" charset="-122"/>
                <a:cs typeface="Calibri" pitchFamily="34" charset="-120"/>
              </a:rPr>
              <a:t>Інтеграційні тести  —  </a:t>
            </a:r>
            <a:pPr indent="0" marL="0">
              <a:buNone/>
            </a:pPr>
            <a:r>
              <a:rPr lang="en-US" sz="1250" dirty="0">
                <a:solidFill>
                  <a:srgbClr val="6E6785"/>
                </a:solidFill>
                <a:latin typeface="Calibri" pitchFamily="34" charset="0"/>
                <a:ea typeface="Calibri" pitchFamily="34" charset="-122"/>
                <a:cs typeface="Calibri" pitchFamily="34" charset="-120"/>
              </a:rPr>
              <a:t>WebApplicationFactory, HttpClient без мережі, перевірка кодів і Location</a:t>
            </a:r>
            <a:endParaRPr lang="en-US" sz="1250" dirty="0"/>
          </a:p>
        </p:txBody>
      </p:sp>
      <p:sp>
        <p:nvSpPr>
          <p:cNvPr id="12" name="Text 9"/>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80</a:t>
            </a:r>
            <a:endParaRPr lang="en-US" sz="1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1A1333"/>
        </a:solidFill>
      </p:bgPr>
    </p:bg>
    <p:spTree>
      <p:nvGrpSpPr>
        <p:cNvPr id="1" name=""/>
        <p:cNvGrpSpPr/>
        <p:nvPr/>
      </p:nvGrpSpPr>
      <p:grpSpPr>
        <a:xfrm>
          <a:off x="0" y="0"/>
          <a:ext cx="0" cy="0"/>
          <a:chOff x="0" y="0"/>
          <a:chExt cx="0" cy="0"/>
        </a:xfrm>
      </p:grpSpPr>
      <p:sp>
        <p:nvSpPr>
          <p:cNvPr id="3" name="Text 0"/>
          <p:cNvSpPr txBox="1"/>
          <p:nvPr/>
        </p:nvSpPr>
        <p:spPr>
          <a:xfrm>
            <a:off x="7680960" y="182880"/>
            <a:ext cx="4572000" cy="6400800"/>
          </a:xfrm>
          <a:prstGeom prst="rect">
            <a:avLst/>
          </a:prstGeom>
          <a:noFill/>
          <a:ln/>
        </p:spPr>
        <p:txBody>
          <a:bodyPr wrap="square" lIns="0" tIns="0" rIns="0" bIns="0" rtlCol="0" anchor="ctr"/>
          <a:lstStyle/>
          <a:p>
            <a:pPr algn="r" indent="0" marL="0">
              <a:buNone/>
            </a:pPr>
            <a:r>
              <a:rPr lang="en-US" sz="32000" b="1" dirty="0">
                <a:solidFill>
                  <a:srgbClr val="2A1E52"/>
                </a:solidFill>
                <a:latin typeface="Cambria" pitchFamily="34" charset="0"/>
                <a:ea typeface="Cambria" pitchFamily="34" charset="-122"/>
                <a:cs typeface="Cambria" pitchFamily="34" charset="-120"/>
              </a:rPr>
              <a:t>9</a:t>
            </a:r>
            <a:endParaRPr lang="en-US" sz="32000" dirty="0"/>
          </a:p>
        </p:txBody>
      </p:sp>
      <p:sp>
        <p:nvSpPr>
          <p:cNvPr id="4" name="Text 1"/>
          <p:cNvSpPr txBox="1"/>
          <p:nvPr/>
        </p:nvSpPr>
        <p:spPr>
          <a:xfrm>
            <a:off x="914400" y="2286000"/>
            <a:ext cx="8229600" cy="365760"/>
          </a:xfrm>
          <a:prstGeom prst="rect">
            <a:avLst/>
          </a:prstGeom>
          <a:noFill/>
          <a:ln/>
        </p:spPr>
        <p:txBody>
          <a:bodyPr wrap="square" lIns="0" tIns="0" rIns="0" bIns="0" rtlCol="0" anchor="ctr"/>
          <a:lstStyle/>
          <a:p>
            <a:pPr indent="0" marL="0">
              <a:buNone/>
            </a:pPr>
            <a:r>
              <a:rPr lang="en-US" sz="1500" b="1" spc="300" kern="0" dirty="0">
                <a:solidFill>
                  <a:srgbClr val="0E9C8E"/>
                </a:solidFill>
                <a:latin typeface="Calibri" pitchFamily="34" charset="0"/>
                <a:ea typeface="Calibri" pitchFamily="34" charset="-122"/>
                <a:cs typeface="Calibri" pitchFamily="34" charset="-120"/>
              </a:rPr>
              <a:t>МОДУЛЬ 9</a:t>
            </a:r>
            <a:endParaRPr lang="en-US" sz="1500" dirty="0"/>
          </a:p>
        </p:txBody>
      </p:sp>
      <p:sp>
        <p:nvSpPr>
          <p:cNvPr id="5" name="Text 2"/>
          <p:cNvSpPr txBox="1"/>
          <p:nvPr/>
        </p:nvSpPr>
        <p:spPr>
          <a:xfrm>
            <a:off x="914400" y="2743200"/>
            <a:ext cx="7772400" cy="15544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Безпека (базово)</a:t>
            </a:r>
            <a:endParaRPr lang="en-US" sz="4000" dirty="0"/>
          </a:p>
        </p:txBody>
      </p:sp>
      <p:sp>
        <p:nvSpPr>
          <p:cNvPr id="6" name="Text 3"/>
          <p:cNvSpPr txBox="1"/>
          <p:nvPr/>
        </p:nvSpPr>
        <p:spPr>
          <a:xfrm>
            <a:off x="960120" y="4389120"/>
            <a:ext cx="6949440" cy="1828800"/>
          </a:xfrm>
          <a:prstGeom prst="rect">
            <a:avLst/>
          </a:prstGeom>
          <a:noFill/>
          <a:ln/>
        </p:spPr>
        <p:txBody>
          <a:bodyPr wrap="square" lIns="0" tIns="0" rIns="0" bIns="0" rtlCol="0" anchor="ctr"/>
          <a:lstStyle/>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автентифікація vs авторизація</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JWT: структура, Bearer</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[Authorize], політики, ролі, claims</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місце auth у конвеєрі</a:t>
            </a:r>
            <a:endParaRPr lang="en-US" sz="1400" dirty="0"/>
          </a:p>
        </p:txBody>
      </p:sp>
      <p:sp>
        <p:nvSpPr>
          <p:cNvPr id="7" name="Text 4"/>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9E93C4"/>
                </a:solidFill>
                <a:latin typeface="Calibri" pitchFamily="34" charset="0"/>
                <a:ea typeface="Calibri" pitchFamily="34" charset="-122"/>
                <a:cs typeface="Calibri" pitchFamily="34" charset="-120"/>
              </a:rPr>
              <a:t>81</a:t>
            </a:r>
            <a:endParaRPr lang="en-US" sz="1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Автентифікація vs авторизація</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AuthN vs AuthZ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Автентифікація (AuthN) відповідає «ХТО це?» — встановлює особу й заповнює HttpContext.User. Авторизація (AuthZ) відповідає «ЧИ МОЖНА?» — перевіряє права вже встановленої особи. Це дві різні речі.</a:t>
            </a:r>
            <a:endParaRPr lang="en-US" sz="1450" dirty="0"/>
          </a:p>
        </p:txBody>
      </p:sp>
      <p:pic>
        <p:nvPicPr>
          <p:cNvPr id="6" name="Image 0" descr="C:\Users\Yurii\AppData\Local\Temp\claude\C--Users-Yurii-source-repos---Examples-ASP-NET-AspNet-Basics\130b0e02-3c53-4be1-ac71-0d4d7a5d1c71\scratchpad\deck\assets\d14_auth.png">    </p:cNvPr>
          <p:cNvPicPr>
            <a:picLocks noChangeAspect="1"/>
          </p:cNvPicPr>
          <p:nvPr/>
        </p:nvPicPr>
        <p:blipFill>
          <a:blip r:embed="rId1"/>
          <a:stretch>
            <a:fillRect/>
          </a:stretch>
        </p:blipFill>
        <p:spPr>
          <a:xfrm>
            <a:off x="1843744" y="2276856"/>
            <a:ext cx="8504207" cy="3529584"/>
          </a:xfrm>
          <a:prstGeom prst="rect">
            <a:avLst/>
          </a:prstGeom>
        </p:spPr>
      </p:pic>
      <p:sp>
        <p:nvSpPr>
          <p:cNvPr id="7" name="Shape 3"/>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8" name="Text 4"/>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dirty="0">
                <a:solidFill>
                  <a:srgbClr val="241C3B"/>
                </a:solidFill>
                <a:latin typeface="Calibri" pitchFamily="34" charset="0"/>
                <a:ea typeface="Calibri" pitchFamily="34" charset="-122"/>
                <a:cs typeface="Calibri" pitchFamily="34" charset="-120"/>
              </a:rPr>
              <a:t>401 «ти не представився» (немає/невалідний токен) ≠ 403 «я тебе впізнав, але доступу немає».</a:t>
            </a:r>
            <a:endParaRPr lang="en-US" sz="1200" dirty="0"/>
          </a:p>
        </p:txBody>
      </p:sp>
      <p:sp>
        <p:nvSpPr>
          <p:cNvPr id="9" name="Text 5"/>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82</a:t>
            </a:r>
            <a:endParaRPr lang="en-US" sz="10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JWT та схема Bearer</a:t>
            </a:r>
            <a:endParaRPr lang="en-US" sz="3000" dirty="0"/>
          </a:p>
        </p:txBody>
      </p:sp>
      <p:sp>
        <p:nvSpPr>
          <p:cNvPr id="4" name="Shape 1"/>
          <p:cNvSpPr/>
          <p:nvPr/>
        </p:nvSpPr>
        <p:spPr>
          <a:xfrm>
            <a:off x="566928" y="1243584"/>
            <a:ext cx="11057839" cy="804672"/>
          </a:xfrm>
          <a:prstGeom prst="roundRect">
            <a:avLst>
              <a:gd name="adj" fmla="val 6818"/>
            </a:avLst>
          </a:prstGeom>
          <a:solidFill>
            <a:srgbClr val="E7DFFA"/>
          </a:solidFill>
          <a:ln/>
        </p:spPr>
      </p:sp>
      <p:sp>
        <p:nvSpPr>
          <p:cNvPr id="5" name="Text 2"/>
          <p:cNvSpPr txBox="1"/>
          <p:nvPr/>
        </p:nvSpPr>
        <p:spPr>
          <a:xfrm>
            <a:off x="841248" y="1243584"/>
            <a:ext cx="10509199" cy="804672"/>
          </a:xfrm>
          <a:prstGeom prst="rect">
            <a:avLst/>
          </a:prstGeom>
          <a:noFill/>
          <a:ln/>
        </p:spPr>
        <p:txBody>
          <a:bodyPr wrap="square" lIns="0" tIns="0" rIns="0" bIns="0" rtlCol="0" anchor="ctr"/>
          <a:lstStyle/>
          <a:p>
            <a:pPr indent="0" marL="0">
              <a:lnSpc>
                <a:spcPct val="114000"/>
              </a:lnSpc>
              <a:buNone/>
            </a:pPr>
            <a:r>
              <a:rPr lang="en-US" sz="1450" b="1" dirty="0">
                <a:solidFill>
                  <a:srgbClr val="512BD4"/>
                </a:solidFill>
                <a:latin typeface="Calibri" pitchFamily="34" charset="0"/>
                <a:ea typeface="Calibri" pitchFamily="34" charset="-122"/>
                <a:cs typeface="Calibri" pitchFamily="34" charset="-120"/>
              </a:rPr>
              <a:t>JWT  —  </a:t>
            </a:r>
            <a:pPr indent="0" marL="0">
              <a:lnSpc>
                <a:spcPct val="114000"/>
              </a:lnSpc>
              <a:buNone/>
            </a:pPr>
            <a:r>
              <a:rPr lang="en-US" sz="1300" dirty="0">
                <a:solidFill>
                  <a:srgbClr val="241C3B"/>
                </a:solidFill>
                <a:latin typeface="Calibri" pitchFamily="34" charset="0"/>
                <a:ea typeface="Calibri" pitchFamily="34" charset="-122"/>
                <a:cs typeface="Calibri" pitchFamily="34" charset="-120"/>
              </a:rPr>
              <a:t>JSON Web Token — самодостатній токен із трьох частин через крапку (base64url): header, payload (claims), signature. Клієнт надсилає його в заголовку Authorization: Bearer &lt;jwt&gt;.</a:t>
            </a:r>
            <a:endParaRPr lang="en-US" sz="1450" dirty="0"/>
          </a:p>
        </p:txBody>
      </p:sp>
      <p:sp>
        <p:nvSpPr>
          <p:cNvPr id="6" name="Shape 3"/>
          <p:cNvSpPr/>
          <p:nvPr/>
        </p:nvSpPr>
        <p:spPr>
          <a:xfrm>
            <a:off x="566928" y="2231136"/>
            <a:ext cx="11057839" cy="934974"/>
          </a:xfrm>
          <a:prstGeom prst="roundRect">
            <a:avLst>
              <a:gd name="adj" fmla="val 4890"/>
            </a:avLst>
          </a:prstGeom>
          <a:solidFill>
            <a:srgbClr val="F3EFFD"/>
          </a:solidFill>
          <a:ln w="9525">
            <a:solidFill>
              <a:srgbClr val="D9CEF5"/>
            </a:solidFill>
            <a:prstDash val="solid"/>
          </a:ln>
        </p:spPr>
      </p:sp>
      <p:sp>
        <p:nvSpPr>
          <p:cNvPr id="7" name="Shape 4"/>
          <p:cNvSpPr/>
          <p:nvPr/>
        </p:nvSpPr>
        <p:spPr>
          <a:xfrm>
            <a:off x="768096" y="2524887"/>
            <a:ext cx="347472" cy="347472"/>
          </a:xfrm>
          <a:prstGeom prst="ellipse">
            <a:avLst/>
          </a:prstGeom>
          <a:solidFill>
            <a:srgbClr val="512BD4"/>
          </a:solidFill>
          <a:ln/>
        </p:spPr>
      </p:sp>
      <p:sp>
        <p:nvSpPr>
          <p:cNvPr id="8" name="Text 5"/>
          <p:cNvSpPr txBox="1"/>
          <p:nvPr/>
        </p:nvSpPr>
        <p:spPr>
          <a:xfrm>
            <a:off x="768096" y="2524887"/>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1298448" y="2231136"/>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Claims   </a:t>
            </a:r>
            <a:pPr indent="0" marL="0">
              <a:buNone/>
            </a:pPr>
            <a:r>
              <a:rPr lang="en-US" sz="1250" dirty="0">
                <a:solidFill>
                  <a:srgbClr val="6E6785"/>
                </a:solidFill>
                <a:latin typeface="Calibri" pitchFamily="34" charset="0"/>
                <a:ea typeface="Calibri" pitchFamily="34" charset="-122"/>
                <a:cs typeface="Calibri" pitchFamily="34" charset="-120"/>
              </a:rPr>
              <a:t>у payload: sub (ідентифікатор користувача), role, exp (час протухання), плюс власні</a:t>
            </a:r>
            <a:endParaRPr lang="en-US" sz="1500" dirty="0"/>
          </a:p>
        </p:txBody>
      </p:sp>
      <p:sp>
        <p:nvSpPr>
          <p:cNvPr id="10" name="Shape 7"/>
          <p:cNvSpPr/>
          <p:nvPr/>
        </p:nvSpPr>
        <p:spPr>
          <a:xfrm>
            <a:off x="566928" y="3284982"/>
            <a:ext cx="11057839" cy="934974"/>
          </a:xfrm>
          <a:prstGeom prst="roundRect">
            <a:avLst>
              <a:gd name="adj" fmla="val 4890"/>
            </a:avLst>
          </a:prstGeom>
          <a:solidFill>
            <a:srgbClr val="F3EFFD"/>
          </a:solidFill>
          <a:ln w="9525">
            <a:solidFill>
              <a:srgbClr val="D9CEF5"/>
            </a:solidFill>
            <a:prstDash val="solid"/>
          </a:ln>
        </p:spPr>
      </p:sp>
      <p:sp>
        <p:nvSpPr>
          <p:cNvPr id="11" name="Shape 8"/>
          <p:cNvSpPr/>
          <p:nvPr/>
        </p:nvSpPr>
        <p:spPr>
          <a:xfrm>
            <a:off x="768096" y="3578733"/>
            <a:ext cx="347472" cy="347472"/>
          </a:xfrm>
          <a:prstGeom prst="ellipse">
            <a:avLst/>
          </a:prstGeom>
          <a:solidFill>
            <a:srgbClr val="512BD4"/>
          </a:solidFill>
          <a:ln/>
        </p:spPr>
      </p:sp>
      <p:sp>
        <p:nvSpPr>
          <p:cNvPr id="12" name="Text 9"/>
          <p:cNvSpPr txBox="1"/>
          <p:nvPr/>
        </p:nvSpPr>
        <p:spPr>
          <a:xfrm>
            <a:off x="768096" y="3578733"/>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298448" y="3284982"/>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Підпис   </a:t>
            </a:r>
            <a:pPr indent="0" marL="0">
              <a:buNone/>
            </a:pPr>
            <a:r>
              <a:rPr lang="en-US" sz="1250" dirty="0">
                <a:solidFill>
                  <a:srgbClr val="6E6785"/>
                </a:solidFill>
                <a:latin typeface="Calibri" pitchFamily="34" charset="0"/>
                <a:ea typeface="Calibri" pitchFamily="34" charset="-122"/>
                <a:cs typeface="Calibri" pitchFamily="34" charset="-120"/>
              </a:rPr>
              <a:t>HMAC-SHA256 симетричним ключем або RSA/ECDSA асиметрично</a:t>
            </a:r>
            <a:endParaRPr lang="en-US" sz="1500" dirty="0"/>
          </a:p>
        </p:txBody>
      </p:sp>
      <p:sp>
        <p:nvSpPr>
          <p:cNvPr id="14" name="Shape 11"/>
          <p:cNvSpPr/>
          <p:nvPr/>
        </p:nvSpPr>
        <p:spPr>
          <a:xfrm>
            <a:off x="566928" y="4338828"/>
            <a:ext cx="11057839" cy="934974"/>
          </a:xfrm>
          <a:prstGeom prst="roundRect">
            <a:avLst>
              <a:gd name="adj" fmla="val 4890"/>
            </a:avLst>
          </a:prstGeom>
          <a:solidFill>
            <a:srgbClr val="F3EFFD"/>
          </a:solidFill>
          <a:ln w="9525">
            <a:solidFill>
              <a:srgbClr val="D9CEF5"/>
            </a:solidFill>
            <a:prstDash val="solid"/>
          </a:ln>
        </p:spPr>
      </p:sp>
      <p:sp>
        <p:nvSpPr>
          <p:cNvPr id="15" name="Shape 12"/>
          <p:cNvSpPr/>
          <p:nvPr/>
        </p:nvSpPr>
        <p:spPr>
          <a:xfrm>
            <a:off x="768096" y="4632579"/>
            <a:ext cx="347472" cy="347472"/>
          </a:xfrm>
          <a:prstGeom prst="ellipse">
            <a:avLst/>
          </a:prstGeom>
          <a:solidFill>
            <a:srgbClr val="512BD4"/>
          </a:solidFill>
          <a:ln/>
        </p:spPr>
      </p:sp>
      <p:sp>
        <p:nvSpPr>
          <p:cNvPr id="16" name="Text 13"/>
          <p:cNvSpPr txBox="1"/>
          <p:nvPr/>
        </p:nvSpPr>
        <p:spPr>
          <a:xfrm>
            <a:off x="768096" y="4632579"/>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txBox="1"/>
          <p:nvPr/>
        </p:nvSpPr>
        <p:spPr>
          <a:xfrm>
            <a:off x="1298448" y="4338828"/>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Сервер не зберігає токен   </a:t>
            </a:r>
            <a:pPr indent="0" marL="0">
              <a:buNone/>
            </a:pPr>
            <a:r>
              <a:rPr lang="en-US" sz="1250" dirty="0">
                <a:solidFill>
                  <a:srgbClr val="6E6785"/>
                </a:solidFill>
                <a:latin typeface="Calibri" pitchFamily="34" charset="0"/>
                <a:ea typeface="Calibri" pitchFamily="34" charset="-122"/>
                <a:cs typeface="Calibri" pitchFamily="34" charset="-120"/>
              </a:rPr>
              <a:t>лише перевіряє підпис і термін; що саме перевіряти — задається через TokenValidationParameters</a:t>
            </a:r>
            <a:endParaRPr lang="en-US" sz="1500" dirty="0"/>
          </a:p>
        </p:txBody>
      </p:sp>
      <p:sp>
        <p:nvSpPr>
          <p:cNvPr id="18" name="Shape 15"/>
          <p:cNvSpPr/>
          <p:nvPr/>
        </p:nvSpPr>
        <p:spPr>
          <a:xfrm>
            <a:off x="566928" y="5392674"/>
            <a:ext cx="11057839" cy="934974"/>
          </a:xfrm>
          <a:prstGeom prst="roundRect">
            <a:avLst>
              <a:gd name="adj" fmla="val 4890"/>
            </a:avLst>
          </a:prstGeom>
          <a:solidFill>
            <a:srgbClr val="F3EFFD"/>
          </a:solidFill>
          <a:ln w="9525">
            <a:solidFill>
              <a:srgbClr val="D9CEF5"/>
            </a:solidFill>
            <a:prstDash val="solid"/>
          </a:ln>
        </p:spPr>
      </p:sp>
      <p:sp>
        <p:nvSpPr>
          <p:cNvPr id="19" name="Shape 16"/>
          <p:cNvSpPr/>
          <p:nvPr/>
        </p:nvSpPr>
        <p:spPr>
          <a:xfrm>
            <a:off x="768096" y="5686425"/>
            <a:ext cx="347472" cy="347472"/>
          </a:xfrm>
          <a:prstGeom prst="ellipse">
            <a:avLst/>
          </a:prstGeom>
          <a:solidFill>
            <a:srgbClr val="512BD4"/>
          </a:solidFill>
          <a:ln/>
        </p:spPr>
      </p:sp>
      <p:sp>
        <p:nvSpPr>
          <p:cNvPr id="20" name="Text 17"/>
          <p:cNvSpPr txBox="1"/>
          <p:nvPr/>
        </p:nvSpPr>
        <p:spPr>
          <a:xfrm>
            <a:off x="768096" y="5686425"/>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txBox="1"/>
          <p:nvPr/>
        </p:nvSpPr>
        <p:spPr>
          <a:xfrm>
            <a:off x="1298448" y="5392674"/>
            <a:ext cx="10097719" cy="93497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Наслідок   </a:t>
            </a:r>
            <a:pPr indent="0" marL="0">
              <a:buNone/>
            </a:pPr>
            <a:r>
              <a:rPr lang="en-US" sz="1250" dirty="0">
                <a:solidFill>
                  <a:srgbClr val="6E6785"/>
                </a:solidFill>
                <a:latin typeface="Calibri" pitchFamily="34" charset="0"/>
                <a:ea typeface="Calibri" pitchFamily="34" charset="-122"/>
                <a:cs typeface="Calibri" pitchFamily="34" charset="-120"/>
              </a:rPr>
              <a:t>токен = перепустка на пред'явника → працювати тільки по HTTPS, короткий exp, для сесій — refresh-токени</a:t>
            </a:r>
            <a:endParaRPr lang="en-US" sz="1500" dirty="0"/>
          </a:p>
        </p:txBody>
      </p:sp>
      <p:sp>
        <p:nvSpPr>
          <p:cNvPr id="22" name="Text 19"/>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83</a:t>
            </a:r>
            <a:endParaRPr lang="en-US" sz="1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Авторизація: механізми</a:t>
            </a:r>
            <a:endParaRPr lang="en-US" sz="3000" dirty="0"/>
          </a:p>
        </p:txBody>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566928" y="1879092"/>
          <a:ext cx="11057839" cy="914400"/>
        </p:xfrm>
        <a:graphic>
          <a:graphicData uri="http://schemas.openxmlformats.org/drawingml/2006/table">
            <a:tbl>
              <a:tblPr/>
              <a:tblGrid>
                <a:gridCol w="3291840"/>
                <a:gridCol w="3657600"/>
                <a:gridCol w="4114800"/>
              </a:tblGrid>
              <a:tr h="6583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Механізм</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Приклад</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Коли</a:t>
                      </a:r>
                      <a:endParaRPr lang="en-US" sz="13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RequireAuthorization()</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будь-хто автентифікований</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приватний ресурс</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RequireRole("admin")</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claim role=admin</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грубий поділ</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RequireClaim("scope", "…")</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довільний claim</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фічі, тарифи, OAuth scopes</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658368">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політика + RequireAssertion</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age &gt;= 18, «власник ресурсу»</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200" dirty="0">
                          <a:solidFill>
                            <a:srgbClr val="241C3B"/>
                          </a:solidFill>
                          <a:latin typeface="Calibri" pitchFamily="34" charset="0"/>
                          <a:ea typeface="Calibri" pitchFamily="34" charset="-122"/>
                          <a:cs typeface="Calibri" pitchFamily="34" charset="-120"/>
                        </a:rPr>
                        <a:t>складні правила</a:t>
                      </a:r>
                      <a:endParaRPr lang="en-US" sz="120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bl>
          </a:graphicData>
        </a:graphic>
      </p:graphicFrame>
      <p:sp>
        <p:nvSpPr>
          <p:cNvPr id="5" name="Shape 1"/>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6" name="Text 2"/>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i="1" dirty="0">
                <a:solidFill>
                  <a:srgbClr val="241C3B"/>
                </a:solidFill>
                <a:latin typeface="Calibri" pitchFamily="34" charset="0"/>
                <a:ea typeface="Calibri" pitchFamily="34" charset="-122"/>
                <a:cs typeface="Calibri" pitchFamily="34" charset="-120"/>
              </a:rPr>
              <a:t>Порядок у конвеєрі: UseRouting → UseAuthentication → UseAuthorization → endpoints. Політики іменують і перевикористовують.</a:t>
            </a:r>
            <a:endParaRPr lang="en-US" sz="1200" dirty="0"/>
          </a:p>
        </p:txBody>
      </p:sp>
      <p:sp>
        <p:nvSpPr>
          <p:cNvPr id="7" name="Text 3"/>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84</a:t>
            </a:r>
            <a:endParaRPr lang="en-US" sz="10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3EFFD"/>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Модуль 9 — приклад</a:t>
            </a:r>
            <a:endParaRPr lang="en-US" sz="3000" dirty="0"/>
          </a:p>
        </p:txBody>
      </p:sp>
      <p:sp>
        <p:nvSpPr>
          <p:cNvPr id="4" name="Shape 1"/>
          <p:cNvSpPr/>
          <p:nvPr/>
        </p:nvSpPr>
        <p:spPr>
          <a:xfrm>
            <a:off x="1847088" y="2519172"/>
            <a:ext cx="3566160" cy="502920"/>
          </a:xfrm>
          <a:prstGeom prst="roundRect">
            <a:avLst>
              <a:gd name="adj" fmla="val 12727"/>
            </a:avLst>
          </a:prstGeom>
          <a:solidFill>
            <a:srgbClr val="512BD4"/>
          </a:solidFill>
          <a:ln/>
        </p:spPr>
      </p:sp>
      <p:sp>
        <p:nvSpPr>
          <p:cNvPr id="5" name="Text 2"/>
          <p:cNvSpPr txBox="1"/>
          <p:nvPr/>
        </p:nvSpPr>
        <p:spPr>
          <a:xfrm>
            <a:off x="1847088" y="2519172"/>
            <a:ext cx="356616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21.Security.AuthBasics</a:t>
            </a:r>
            <a:endParaRPr lang="en-US" sz="1400" dirty="0"/>
          </a:p>
        </p:txBody>
      </p:sp>
      <p:sp>
        <p:nvSpPr>
          <p:cNvPr id="6" name="Text 3"/>
          <p:cNvSpPr txBox="1"/>
          <p:nvPr/>
        </p:nvSpPr>
        <p:spPr>
          <a:xfrm>
            <a:off x="1847088" y="3204972"/>
            <a:ext cx="8497519" cy="640080"/>
          </a:xfrm>
          <a:prstGeom prst="rect">
            <a:avLst/>
          </a:prstGeom>
          <a:noFill/>
          <a:ln/>
        </p:spPr>
        <p:txBody>
          <a:bodyPr wrap="square" lIns="0" tIns="0" rIns="0" bIns="0" rtlCol="0" anchor="ctr"/>
          <a:lstStyle/>
          <a:p>
            <a:pPr indent="0" marL="0">
              <a:buNone/>
            </a:pPr>
            <a:r>
              <a:rPr lang="en-US" sz="2800" b="1" dirty="0">
                <a:solidFill>
                  <a:srgbClr val="241C3B"/>
                </a:solidFill>
                <a:latin typeface="Cambria" pitchFamily="34" charset="0"/>
                <a:ea typeface="Cambria" pitchFamily="34" charset="-122"/>
                <a:cs typeface="Cambria" pitchFamily="34" charset="-120"/>
              </a:rPr>
              <a:t>Основи безпеки</a:t>
            </a:r>
            <a:endParaRPr lang="en-US" sz="2800" dirty="0"/>
          </a:p>
        </p:txBody>
      </p:sp>
      <p:sp>
        <p:nvSpPr>
          <p:cNvPr id="7" name="Text 4"/>
          <p:cNvSpPr txBox="1"/>
          <p:nvPr/>
        </p:nvSpPr>
        <p:spPr>
          <a:xfrm>
            <a:off x="1847088" y="3890772"/>
            <a:ext cx="8497519" cy="914400"/>
          </a:xfrm>
          <a:prstGeom prst="rect">
            <a:avLst/>
          </a:prstGeom>
          <a:noFill/>
          <a:ln/>
        </p:spPr>
        <p:txBody>
          <a:bodyPr wrap="square" lIns="0" tIns="0" rIns="0" bIns="0" rtlCol="0" anchor="ctr"/>
          <a:lstStyle/>
          <a:p>
            <a:pPr indent="0" marL="0">
              <a:buNone/>
            </a:pPr>
            <a:r>
              <a:rPr lang="en-US" sz="1500" dirty="0">
                <a:solidFill>
                  <a:srgbClr val="6E6785"/>
                </a:solidFill>
                <a:latin typeface="Calibri" pitchFamily="34" charset="0"/>
                <a:ea typeface="Calibri" pitchFamily="34" charset="-122"/>
                <a:cs typeface="Calibri" pitchFamily="34" charset="-120"/>
              </a:rPr>
              <a:t>JWT bearer, видача токена, [Authorize], політика ролі, місце auth у конвеєрі</a:t>
            </a:r>
            <a:endParaRPr lang="en-US" sz="1500" dirty="0"/>
          </a:p>
        </p:txBody>
      </p:sp>
      <p:sp>
        <p:nvSpPr>
          <p:cNvPr id="8" name="Text 5"/>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85</a:t>
            </a:r>
            <a:endParaRPr lang="en-US" sz="10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1A1333"/>
        </a:solidFill>
      </p:bgPr>
    </p:bg>
    <p:spTree>
      <p:nvGrpSpPr>
        <p:cNvPr id="1" name=""/>
        <p:cNvGrpSpPr/>
        <p:nvPr/>
      </p:nvGrpSpPr>
      <p:grpSpPr>
        <a:xfrm>
          <a:off x="0" y="0"/>
          <a:ext cx="0" cy="0"/>
          <a:chOff x="0" y="0"/>
          <a:chExt cx="0" cy="0"/>
        </a:xfrm>
      </p:grpSpPr>
      <p:sp>
        <p:nvSpPr>
          <p:cNvPr id="2" name="Text 0"/>
          <p:cNvSpPr txBox="1"/>
          <p:nvPr/>
        </p:nvSpPr>
        <p:spPr>
          <a:xfrm>
            <a:off x="7680960" y="182880"/>
            <a:ext cx="4572000" cy="6400800"/>
          </a:xfrm>
          <a:prstGeom prst="rect">
            <a:avLst/>
          </a:prstGeom>
          <a:noFill/>
          <a:ln/>
        </p:spPr>
        <p:txBody>
          <a:bodyPr wrap="square" lIns="0" tIns="0" rIns="0" bIns="0" rtlCol="0" anchor="ctr"/>
          <a:lstStyle/>
          <a:p>
            <a:pPr algn="r" indent="0" marL="0">
              <a:buNone/>
            </a:pPr>
            <a:r>
              <a:rPr lang="en-US" sz="32000" b="1" dirty="0">
                <a:solidFill>
                  <a:srgbClr val="2A1E52"/>
                </a:solidFill>
                <a:latin typeface="Cambria" pitchFamily="34" charset="0"/>
                <a:ea typeface="Cambria" pitchFamily="34" charset="-122"/>
                <a:cs typeface="Cambria" pitchFamily="34" charset="-120"/>
              </a:rPr>
              <a:t>✓</a:t>
            </a:r>
            <a:endParaRPr lang="en-US" sz="32000" dirty="0"/>
          </a:p>
        </p:txBody>
      </p:sp>
      <p:sp>
        <p:nvSpPr>
          <p:cNvPr id="3" name="Text 1"/>
          <p:cNvSpPr txBox="1"/>
          <p:nvPr/>
        </p:nvSpPr>
        <p:spPr>
          <a:xfrm>
            <a:off x="914400" y="2286000"/>
            <a:ext cx="8229600" cy="365760"/>
          </a:xfrm>
          <a:prstGeom prst="rect">
            <a:avLst/>
          </a:prstGeom>
          <a:noFill/>
          <a:ln/>
        </p:spPr>
        <p:txBody>
          <a:bodyPr wrap="square" lIns="0" tIns="0" rIns="0" bIns="0" rtlCol="0" anchor="ctr"/>
          <a:lstStyle/>
          <a:p>
            <a:pPr indent="0" marL="0">
              <a:buNone/>
            </a:pPr>
            <a:r>
              <a:rPr lang="en-US" sz="1500" b="1" spc="300" kern="0" dirty="0">
                <a:solidFill>
                  <a:srgbClr val="0E9C8E"/>
                </a:solidFill>
                <a:latin typeface="Calibri" pitchFamily="34" charset="0"/>
                <a:ea typeface="Calibri" pitchFamily="34" charset="-122"/>
                <a:cs typeface="Calibri" pitchFamily="34" charset="-120"/>
              </a:rPr>
              <a:t>ПІДСУМОК</a:t>
            </a:r>
            <a:endParaRPr lang="en-US" sz="1500" dirty="0"/>
          </a:p>
        </p:txBody>
      </p:sp>
      <p:sp>
        <p:nvSpPr>
          <p:cNvPr id="4" name="Text 2"/>
          <p:cNvSpPr txBox="1"/>
          <p:nvPr/>
        </p:nvSpPr>
        <p:spPr>
          <a:xfrm>
            <a:off x="914400" y="2743200"/>
            <a:ext cx="7772400" cy="15544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Повна картина</a:t>
            </a:r>
            <a:endParaRPr lang="en-US" sz="4000" dirty="0"/>
          </a:p>
        </p:txBody>
      </p:sp>
      <p:sp>
        <p:nvSpPr>
          <p:cNvPr id="5" name="Text 3"/>
          <p:cNvSpPr txBox="1"/>
          <p:nvPr/>
        </p:nvSpPr>
        <p:spPr>
          <a:xfrm>
            <a:off x="960120" y="4389120"/>
            <a:ext cx="6949440" cy="1828800"/>
          </a:xfrm>
          <a:prstGeom prst="rect">
            <a:avLst/>
          </a:prstGeom>
          <a:noFill/>
          <a:ln/>
        </p:spPr>
        <p:txBody>
          <a:bodyPr wrap="square" lIns="0" tIns="0" rIns="0" bIns="0" rtlCol="0" anchor="ctr"/>
          <a:lstStyle/>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карта курсу — 21 приклад</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життєвий цикл запиту</a:t>
            </a:r>
            <a:endParaRPr lang="en-US" sz="1400" dirty="0"/>
          </a:p>
          <a:p>
            <a:pPr marL="152400" indent="-152400">
              <a:spcAft>
                <a:spcPts val="600"/>
              </a:spcAft>
              <a:buSzPct val="100000"/>
              <a:buChar char="•"/>
            </a:pPr>
            <a:r>
              <a:rPr lang="en-US" sz="1400" dirty="0">
                <a:solidFill>
                  <a:srgbClr val="E7DFFA"/>
                </a:solidFill>
                <a:latin typeface="Calibri" pitchFamily="34" charset="0"/>
                <a:ea typeface="Calibri" pitchFamily="34" charset="-122"/>
                <a:cs typeface="Calibri" pitchFamily="34" charset="-120"/>
              </a:rPr>
              <a:t>що вивчати далі</a:t>
            </a:r>
            <a:endParaRPr lang="en-US" sz="1400" dirty="0"/>
          </a:p>
        </p:txBody>
      </p:sp>
      <p:sp>
        <p:nvSpPr>
          <p:cNvPr id="6" name="Text 4"/>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9E93C4"/>
                </a:solidFill>
                <a:latin typeface="Calibri" pitchFamily="34" charset="0"/>
                <a:ea typeface="Calibri" pitchFamily="34" charset="-122"/>
                <a:cs typeface="Calibri" pitchFamily="34" charset="-120"/>
              </a:rPr>
              <a:t>86</a:t>
            </a:r>
            <a:endParaRPr lang="en-US" sz="10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Життєвий цикл запиту — велика картина</a:t>
            </a:r>
            <a:endParaRPr lang="en-US" sz="3000" dirty="0"/>
          </a:p>
        </p:txBody>
      </p:sp>
      <p:pic>
        <p:nvPicPr>
          <p:cNvPr id="4" name="Image 0" descr="C:\Users\Yurii\AppData\Local\Temp\claude\C--Users-Yurii-source-repos---Examples-ASP-NET-AspNet-Basics\130b0e02-3c53-4be1-ac71-0d4d7a5d1c71\scratchpad\deck\assets\d16_lifecycle.png">    </p:cNvPr>
          <p:cNvPicPr>
            <a:picLocks noChangeAspect="1"/>
          </p:cNvPicPr>
          <p:nvPr/>
        </p:nvPicPr>
        <p:blipFill>
          <a:blip r:embed="rId1"/>
          <a:stretch>
            <a:fillRect/>
          </a:stretch>
        </p:blipFill>
        <p:spPr>
          <a:xfrm>
            <a:off x="566928" y="2365341"/>
            <a:ext cx="11057839" cy="2365062"/>
          </a:xfrm>
          <a:prstGeom prst="rect">
            <a:avLst/>
          </a:prstGeom>
        </p:spPr>
      </p:pic>
      <p:sp>
        <p:nvSpPr>
          <p:cNvPr id="5" name="Shape 1"/>
          <p:cNvSpPr/>
          <p:nvPr/>
        </p:nvSpPr>
        <p:spPr>
          <a:xfrm>
            <a:off x="566928" y="5961888"/>
            <a:ext cx="11057839" cy="566928"/>
          </a:xfrm>
          <a:prstGeom prst="roundRect">
            <a:avLst>
              <a:gd name="adj" fmla="val 8065"/>
            </a:avLst>
          </a:prstGeom>
          <a:solidFill>
            <a:srgbClr val="F3EFFD"/>
          </a:solidFill>
          <a:ln w="9525">
            <a:solidFill>
              <a:srgbClr val="D9CEF5"/>
            </a:solidFill>
            <a:prstDash val="solid"/>
          </a:ln>
        </p:spPr>
      </p:sp>
      <p:sp>
        <p:nvSpPr>
          <p:cNvPr id="6" name="Text 2"/>
          <p:cNvSpPr txBox="1"/>
          <p:nvPr/>
        </p:nvSpPr>
        <p:spPr>
          <a:xfrm>
            <a:off x="768096" y="5961888"/>
            <a:ext cx="10655503" cy="566928"/>
          </a:xfrm>
          <a:prstGeom prst="rect">
            <a:avLst/>
          </a:prstGeom>
          <a:noFill/>
          <a:ln/>
        </p:spPr>
        <p:txBody>
          <a:bodyPr wrap="square" lIns="0" tIns="0" rIns="0" bIns="0" rtlCol="0" anchor="ctr"/>
          <a:lstStyle/>
          <a:p>
            <a:pPr indent="0" marL="0">
              <a:buNone/>
            </a:pPr>
            <a:r>
              <a:rPr lang="en-US" sz="1200" b="1" dirty="0">
                <a:solidFill>
                  <a:srgbClr val="512BD4"/>
                </a:solidFill>
                <a:latin typeface="Calibri" pitchFamily="34" charset="0"/>
                <a:ea typeface="Calibri" pitchFamily="34" charset="-122"/>
                <a:cs typeface="Calibri" pitchFamily="34" charset="-120"/>
              </a:rPr>
              <a:t>▸   </a:t>
            </a:r>
            <a:pPr indent="0" marL="0">
              <a:buNone/>
            </a:pPr>
            <a:r>
              <a:rPr lang="en-US" sz="1200" dirty="0">
                <a:solidFill>
                  <a:srgbClr val="241C3B"/>
                </a:solidFill>
                <a:latin typeface="Calibri" pitchFamily="34" charset="0"/>
                <a:ea typeface="Calibri" pitchFamily="34" charset="-122"/>
                <a:cs typeface="Calibri" pitchFamily="34" charset="-120"/>
              </a:rPr>
              <a:t>Kestrel формує HttpContext → конвеєр middleware → routing обирає endpoint → endpoint виконується → відповідь назад тим самим конвеєром.</a:t>
            </a:r>
            <a:endParaRPr lang="en-US" sz="1200" dirty="0"/>
          </a:p>
        </p:txBody>
      </p:sp>
      <p:sp>
        <p:nvSpPr>
          <p:cNvPr id="7" name="Text 3"/>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87</a:t>
            </a:r>
            <a:endParaRPr lang="en-US" sz="10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Карта курсу</a:t>
            </a:r>
            <a:endParaRPr lang="en-US" sz="3000" dirty="0"/>
          </a:p>
        </p:txBody>
      </p:sp>
      <p:graphicFrame>
        <p:nvGraphicFramePr>
          <p:cNvPr id="89" name="Table 0"/>
          <p:cNvGraphicFramePr>
            <a:graphicFrameLocks noGrp="1"/>
          </p:cNvGraphicFramePr>
          <p:nvPr>
            <p:extLst>
              <p:ext uri="{D42A27DB-BD31-4B8C-83A1-F6EECF244321}">
                <p14:modId xmlns:p14="http://schemas.microsoft.com/office/powerpoint/2010/main" val="1579011935"/>
              </p:ext>
            </p:extLst>
          </p:nvPr>
        </p:nvGraphicFramePr>
        <p:xfrm>
          <a:off x="566928" y="1243584"/>
          <a:ext cx="11057839" cy="914400"/>
        </p:xfrm>
        <a:graphic>
          <a:graphicData uri="http://schemas.openxmlformats.org/drawingml/2006/table">
            <a:tbl>
              <a:tblPr/>
              <a:tblGrid>
                <a:gridCol w="2743200"/>
                <a:gridCol w="1371600"/>
                <a:gridCol w="6949440"/>
              </a:tblGrid>
              <a:tr h="50657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Модуль</a:t>
                      </a:r>
                      <a:endParaRPr lang="en-US" sz="11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Приклади</a:t>
                      </a:r>
                      <a:endParaRPr lang="en-US" sz="11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Ключові концепції</a:t>
                      </a:r>
                      <a:endParaRPr lang="en-US" sz="11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512BD4"/>
                    </a:solidFill>
                  </a:tcPr>
                </a:tc>
              </a:tr>
              <a:tr h="506578">
                <a:tc>
                  <a:txBody>
                    <a:bodyPr/>
                    <a:lstStyle/>
                    <a:p>
                      <a:pPr indent="0" marL="0">
                        <a:buNone/>
                      </a:pPr>
                      <a:r>
                        <a:rPr lang="en-US" sz="1050" dirty="0">
                          <a:solidFill>
                            <a:srgbClr val="241C3B"/>
                          </a:solidFill>
                          <a:latin typeface="Calibri" pitchFamily="34" charset="0"/>
                          <a:ea typeface="Calibri" pitchFamily="34" charset="-122"/>
                          <a:cs typeface="Calibri" pitchFamily="34" charset="-120"/>
                        </a:rPr>
                        <a:t>Хостинг</a:t>
                      </a:r>
                      <a:endParaRPr lang="en-US" sz="10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050" dirty="0">
                          <a:solidFill>
                            <a:srgbClr val="241C3B"/>
                          </a:solidFill>
                          <a:latin typeface="Calibri" pitchFamily="34" charset="0"/>
                          <a:ea typeface="Calibri" pitchFamily="34" charset="-122"/>
                          <a:cs typeface="Calibri" pitchFamily="34" charset="-120"/>
                        </a:rPr>
                        <a:t>01–02</a:t>
                      </a:r>
                      <a:endParaRPr lang="en-US" sz="10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050" dirty="0">
                          <a:solidFill>
                            <a:srgbClr val="241C3B"/>
                          </a:solidFill>
                          <a:latin typeface="Calibri" pitchFamily="34" charset="0"/>
                          <a:ea typeface="Calibri" pitchFamily="34" charset="-122"/>
                          <a:cs typeface="Calibri" pitchFamily="34" charset="-120"/>
                        </a:rPr>
                        <a:t>Host, builder→app, Kestrel, середовища, graceful shutdown</a:t>
                      </a:r>
                      <a:endParaRPr lang="en-US" sz="10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506578">
                <a:tc>
                  <a:txBody>
                    <a:bodyPr/>
                    <a:lstStyle/>
                    <a:p>
                      <a:pPr indent="0" marL="0">
                        <a:buNone/>
                      </a:pPr>
                      <a:r>
                        <a:rPr lang="en-US" sz="1050" dirty="0">
                          <a:solidFill>
                            <a:srgbClr val="241C3B"/>
                          </a:solidFill>
                          <a:latin typeface="Calibri" pitchFamily="34" charset="0"/>
                          <a:ea typeface="Calibri" pitchFamily="34" charset="-122"/>
                          <a:cs typeface="Calibri" pitchFamily="34" charset="-120"/>
                        </a:rPr>
                        <a:t>Конвеєр</a:t>
                      </a:r>
                      <a:endParaRPr lang="en-US" sz="10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050" dirty="0">
                          <a:solidFill>
                            <a:srgbClr val="241C3B"/>
                          </a:solidFill>
                          <a:latin typeface="Calibri" pitchFamily="34" charset="0"/>
                          <a:ea typeface="Calibri" pitchFamily="34" charset="-122"/>
                          <a:cs typeface="Calibri" pitchFamily="34" charset="-120"/>
                        </a:rPr>
                        <a:t>03–06</a:t>
                      </a:r>
                      <a:endParaRPr lang="en-US" sz="10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050" dirty="0">
                          <a:solidFill>
                            <a:srgbClr val="241C3B"/>
                          </a:solidFill>
                          <a:latin typeface="Calibri" pitchFamily="34" charset="0"/>
                          <a:ea typeface="Calibri" pitchFamily="34" charset="-122"/>
                          <a:cs typeface="Calibri" pitchFamily="34" charset="-120"/>
                        </a:rPr>
                        <a:t>middleware, next, порядок, Map/UseWhen, ProblemDetails, CORS</a:t>
                      </a:r>
                      <a:endParaRPr lang="en-US" sz="10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506578">
                <a:tc>
                  <a:txBody>
                    <a:bodyPr/>
                    <a:lstStyle/>
                    <a:p>
                      <a:pPr indent="0" marL="0">
                        <a:buNone/>
                      </a:pPr>
                      <a:r>
                        <a:rPr lang="en-US" sz="1050" dirty="0">
                          <a:solidFill>
                            <a:srgbClr val="241C3B"/>
                          </a:solidFill>
                          <a:latin typeface="Calibri" pitchFamily="34" charset="0"/>
                          <a:ea typeface="Calibri" pitchFamily="34" charset="-122"/>
                          <a:cs typeface="Calibri" pitchFamily="34" charset="-120"/>
                        </a:rPr>
                        <a:t>DI + конфіг</a:t>
                      </a:r>
                      <a:endParaRPr lang="en-US" sz="10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050" dirty="0">
                          <a:solidFill>
                            <a:srgbClr val="241C3B"/>
                          </a:solidFill>
                          <a:latin typeface="Calibri" pitchFamily="34" charset="0"/>
                          <a:ea typeface="Calibri" pitchFamily="34" charset="-122"/>
                          <a:cs typeface="Calibri" pitchFamily="34" charset="-120"/>
                        </a:rPr>
                        <a:t>07–08</a:t>
                      </a:r>
                      <a:endParaRPr lang="en-US" sz="10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050" dirty="0">
                          <a:solidFill>
                            <a:srgbClr val="241C3B"/>
                          </a:solidFill>
                          <a:latin typeface="Calibri" pitchFamily="34" charset="0"/>
                          <a:ea typeface="Calibri" pitchFamily="34" charset="-122"/>
                          <a:cs typeface="Calibri" pitchFamily="34" charset="-120"/>
                        </a:rPr>
                        <a:t>Transient/Scoped/Singleton, captive dependency, Options</a:t>
                      </a:r>
                      <a:endParaRPr lang="en-US" sz="10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506578">
                <a:tc>
                  <a:txBody>
                    <a:bodyPr/>
                    <a:lstStyle/>
                    <a:p>
                      <a:pPr indent="0" marL="0">
                        <a:buNone/>
                      </a:pPr>
                      <a:r>
                        <a:rPr lang="en-US" sz="1050" dirty="0">
                          <a:solidFill>
                            <a:srgbClr val="241C3B"/>
                          </a:solidFill>
                          <a:latin typeface="Calibri" pitchFamily="34" charset="0"/>
                          <a:ea typeface="Calibri" pitchFamily="34" charset="-122"/>
                          <a:cs typeface="Calibri" pitchFamily="34" charset="-120"/>
                        </a:rPr>
                        <a:t>Маршрутизація</a:t>
                      </a:r>
                      <a:endParaRPr lang="en-US" sz="10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050" dirty="0">
                          <a:solidFill>
                            <a:srgbClr val="241C3B"/>
                          </a:solidFill>
                          <a:latin typeface="Calibri" pitchFamily="34" charset="0"/>
                          <a:ea typeface="Calibri" pitchFamily="34" charset="-122"/>
                          <a:cs typeface="Calibri" pitchFamily="34" charset="-120"/>
                        </a:rPr>
                        <a:t>09</a:t>
                      </a:r>
                      <a:endParaRPr lang="en-US" sz="10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050" dirty="0">
                          <a:solidFill>
                            <a:srgbClr val="241C3B"/>
                          </a:solidFill>
                          <a:latin typeface="Calibri" pitchFamily="34" charset="0"/>
                          <a:ea typeface="Calibri" pitchFamily="34" charset="-122"/>
                          <a:cs typeface="Calibri" pitchFamily="34" charset="-120"/>
                        </a:rPr>
                        <a:t>endpoint routing, constraints, пріоритет, LinkGenerator</a:t>
                      </a:r>
                      <a:endParaRPr lang="en-US" sz="10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506578">
                <a:tc>
                  <a:txBody>
                    <a:bodyPr/>
                    <a:lstStyle/>
                    <a:p>
                      <a:pPr indent="0" marL="0">
                        <a:buNone/>
                      </a:pPr>
                      <a:r>
                        <a:rPr lang="en-US" sz="1050" dirty="0">
                          <a:solidFill>
                            <a:srgbClr val="241C3B"/>
                          </a:solidFill>
                          <a:latin typeface="Calibri" pitchFamily="34" charset="0"/>
                          <a:ea typeface="Calibri" pitchFamily="34" charset="-122"/>
                          <a:cs typeface="Calibri" pitchFamily="34" charset="-120"/>
                        </a:rPr>
                        <a:t>Minimal API</a:t>
                      </a:r>
                      <a:endParaRPr lang="en-US" sz="10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050" dirty="0">
                          <a:solidFill>
                            <a:srgbClr val="241C3B"/>
                          </a:solidFill>
                          <a:latin typeface="Calibri" pitchFamily="34" charset="0"/>
                          <a:ea typeface="Calibri" pitchFamily="34" charset="-122"/>
                          <a:cs typeface="Calibri" pitchFamily="34" charset="-120"/>
                        </a:rPr>
                        <a:t>10–11</a:t>
                      </a:r>
                      <a:endParaRPr lang="en-US" sz="10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050" dirty="0">
                          <a:solidFill>
                            <a:srgbClr val="241C3B"/>
                          </a:solidFill>
                          <a:latin typeface="Calibri" pitchFamily="34" charset="0"/>
                          <a:ea typeface="Calibri" pitchFamily="34" charset="-122"/>
                          <a:cs typeface="Calibri" pitchFamily="34" charset="-120"/>
                        </a:rPr>
                        <a:t>MapGroup, Results, прив'язка, AddValidation, filters</a:t>
                      </a:r>
                      <a:endParaRPr lang="en-US" sz="10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506578">
                <a:tc>
                  <a:txBody>
                    <a:bodyPr/>
                    <a:lstStyle/>
                    <a:p>
                      <a:pPr indent="0" marL="0">
                        <a:buNone/>
                      </a:pPr>
                      <a:r>
                        <a:rPr lang="en-US" sz="1050" dirty="0">
                          <a:solidFill>
                            <a:srgbClr val="241C3B"/>
                          </a:solidFill>
                          <a:latin typeface="Calibri" pitchFamily="34" charset="0"/>
                          <a:ea typeface="Calibri" pitchFamily="34" charset="-122"/>
                          <a:cs typeface="Calibri" pitchFamily="34" charset="-120"/>
                        </a:rPr>
                        <a:t>MVC</a:t>
                      </a:r>
                      <a:endParaRPr lang="en-US" sz="10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050" dirty="0">
                          <a:solidFill>
                            <a:srgbClr val="241C3B"/>
                          </a:solidFill>
                          <a:latin typeface="Calibri" pitchFamily="34" charset="0"/>
                          <a:ea typeface="Calibri" pitchFamily="34" charset="-122"/>
                          <a:cs typeface="Calibri" pitchFamily="34" charset="-120"/>
                        </a:rPr>
                        <a:t>12–13</a:t>
                      </a:r>
                      <a:endParaRPr lang="en-US" sz="10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050" dirty="0">
                          <a:solidFill>
                            <a:srgbClr val="241C3B"/>
                          </a:solidFill>
                          <a:latin typeface="Calibri" pitchFamily="34" charset="0"/>
                          <a:ea typeface="Calibri" pitchFamily="34" charset="-122"/>
                          <a:cs typeface="Calibri" pitchFamily="34" charset="-120"/>
                        </a:rPr>
                        <a:t>[ApiController], ActionResult&lt;T&gt;, ModelState, 5 фільтрів</a:t>
                      </a:r>
                      <a:endParaRPr lang="en-US" sz="10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506578">
                <a:tc>
                  <a:txBody>
                    <a:bodyPr/>
                    <a:lstStyle/>
                    <a:p>
                      <a:pPr indent="0" marL="0">
                        <a:buNone/>
                      </a:pPr>
                      <a:r>
                        <a:rPr lang="en-US" sz="1050" dirty="0">
                          <a:solidFill>
                            <a:srgbClr val="241C3B"/>
                          </a:solidFill>
                          <a:latin typeface="Calibri" pitchFamily="34" charset="0"/>
                          <a:ea typeface="Calibri" pitchFamily="34" charset="-122"/>
                          <a:cs typeface="Calibri" pitchFamily="34" charset="-120"/>
                        </a:rPr>
                        <a:t>REST</a:t>
                      </a:r>
                      <a:endParaRPr lang="en-US" sz="10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050" dirty="0">
                          <a:solidFill>
                            <a:srgbClr val="241C3B"/>
                          </a:solidFill>
                          <a:latin typeface="Calibri" pitchFamily="34" charset="0"/>
                          <a:ea typeface="Calibri" pitchFamily="34" charset="-122"/>
                          <a:cs typeface="Calibri" pitchFamily="34" charset="-120"/>
                        </a:rPr>
                        <a:t>14–18</a:t>
                      </a:r>
                      <a:endParaRPr lang="en-US" sz="10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050" dirty="0">
                          <a:solidFill>
                            <a:srgbClr val="241C3B"/>
                          </a:solidFill>
                          <a:latin typeface="Calibri" pitchFamily="34" charset="0"/>
                          <a:ea typeface="Calibri" pitchFamily="34" charset="-122"/>
                          <a:cs typeface="Calibri" pitchFamily="34" charset="-120"/>
                        </a:rPr>
                        <a:t>дієслова, коди, ETag, PATCH, пагінація, версії, HATEOAS</a:t>
                      </a:r>
                      <a:endParaRPr lang="en-US" sz="10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r h="506578">
                <a:tc>
                  <a:txBody>
                    <a:bodyPr/>
                    <a:lstStyle/>
                    <a:p>
                      <a:pPr indent="0" marL="0">
                        <a:buNone/>
                      </a:pPr>
                      <a:r>
                        <a:rPr lang="en-US" sz="1050" dirty="0">
                          <a:solidFill>
                            <a:srgbClr val="241C3B"/>
                          </a:solidFill>
                          <a:latin typeface="Calibri" pitchFamily="34" charset="0"/>
                          <a:ea typeface="Calibri" pitchFamily="34" charset="-122"/>
                          <a:cs typeface="Calibri" pitchFamily="34" charset="-120"/>
                        </a:rPr>
                        <a:t>Доку + тести</a:t>
                      </a:r>
                      <a:endParaRPr lang="en-US" sz="10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050" dirty="0">
                          <a:solidFill>
                            <a:srgbClr val="241C3B"/>
                          </a:solidFill>
                          <a:latin typeface="Calibri" pitchFamily="34" charset="0"/>
                          <a:ea typeface="Calibri" pitchFamily="34" charset="-122"/>
                          <a:cs typeface="Calibri" pitchFamily="34" charset="-120"/>
                        </a:rPr>
                        <a:t>19–20</a:t>
                      </a:r>
                      <a:endParaRPr lang="en-US" sz="10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c>
                  <a:txBody>
                    <a:bodyPr/>
                    <a:lstStyle/>
                    <a:p>
                      <a:pPr indent="0" marL="0">
                        <a:buNone/>
                      </a:pPr>
                      <a:r>
                        <a:rPr lang="en-US" sz="1050" dirty="0">
                          <a:solidFill>
                            <a:srgbClr val="241C3B"/>
                          </a:solidFill>
                          <a:latin typeface="Calibri" pitchFamily="34" charset="0"/>
                          <a:ea typeface="Calibri" pitchFamily="34" charset="-122"/>
                          <a:cs typeface="Calibri" pitchFamily="34" charset="-120"/>
                        </a:rPr>
                        <a:t>OpenAPI, Swagger/Scalar, WebApplicationFactory</a:t>
                      </a:r>
                      <a:endParaRPr lang="en-US" sz="10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3EFFD"/>
                    </a:solidFill>
                  </a:tcPr>
                </a:tc>
              </a:tr>
              <a:tr h="506578">
                <a:tc>
                  <a:txBody>
                    <a:bodyPr/>
                    <a:lstStyle/>
                    <a:p>
                      <a:pPr indent="0" marL="0">
                        <a:buNone/>
                      </a:pPr>
                      <a:r>
                        <a:rPr lang="en-US" sz="1050" dirty="0">
                          <a:solidFill>
                            <a:srgbClr val="241C3B"/>
                          </a:solidFill>
                          <a:latin typeface="Calibri" pitchFamily="34" charset="0"/>
                          <a:ea typeface="Calibri" pitchFamily="34" charset="-122"/>
                          <a:cs typeface="Calibri" pitchFamily="34" charset="-120"/>
                        </a:rPr>
                        <a:t>Безпека</a:t>
                      </a:r>
                      <a:endParaRPr lang="en-US" sz="10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050" dirty="0">
                          <a:solidFill>
                            <a:srgbClr val="241C3B"/>
                          </a:solidFill>
                          <a:latin typeface="Calibri" pitchFamily="34" charset="0"/>
                          <a:ea typeface="Calibri" pitchFamily="34" charset="-122"/>
                          <a:cs typeface="Calibri" pitchFamily="34" charset="-120"/>
                        </a:rPr>
                        <a:t>21</a:t>
                      </a:r>
                      <a:endParaRPr lang="en-US" sz="10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c>
                  <a:txBody>
                    <a:bodyPr/>
                    <a:lstStyle/>
                    <a:p>
                      <a:pPr indent="0" marL="0">
                        <a:buNone/>
                      </a:pPr>
                      <a:r>
                        <a:rPr lang="en-US" sz="1050" dirty="0">
                          <a:solidFill>
                            <a:srgbClr val="241C3B"/>
                          </a:solidFill>
                          <a:latin typeface="Calibri" pitchFamily="34" charset="0"/>
                          <a:ea typeface="Calibri" pitchFamily="34" charset="-122"/>
                          <a:cs typeface="Calibri" pitchFamily="34" charset="-120"/>
                        </a:rPr>
                        <a:t>AuthN/AuthZ, JWT, [Authorize], політики</a:t>
                      </a:r>
                      <a:endParaRPr lang="en-US" sz="1050" dirty="0">
                        <a:latin typeface="Calibri" charset="0"/>
                        <a:ea typeface="Calibri" charset="0"/>
                        <a:cs typeface="Calibri" charset="0"/>
                      </a:endParaRPr>
                    </a:p>
                  </a:txBody>
                  <a:tcPr marL="88900" marR="88900" marT="38100" marB="38100" anchor="ctr">
                    <a:lnL w="12700" cap="flat" cmpd="sng" algn="ctr">
                      <a:solidFill>
                        <a:srgbClr val="D9CEF5"/>
                      </a:solidFill>
                      <a:prstDash val="solid"/>
                      <a:round/>
                      <a:headEnd type="none" w="med" len="med"/>
                      <a:tailEnd type="none" w="med" len="med"/>
                    </a:lnL>
                    <a:lnR w="12700" cap="flat" cmpd="sng" algn="ctr">
                      <a:solidFill>
                        <a:srgbClr val="D9CEF5"/>
                      </a:solidFill>
                      <a:prstDash val="solid"/>
                      <a:round/>
                      <a:headEnd type="none" w="med" len="med"/>
                      <a:tailEnd type="none" w="med" len="med"/>
                    </a:lnR>
                    <a:lnT w="12700" cap="flat" cmpd="sng" algn="ctr">
                      <a:solidFill>
                        <a:srgbClr val="D9CEF5"/>
                      </a:solidFill>
                      <a:prstDash val="solid"/>
                      <a:round/>
                      <a:headEnd type="none" w="med" len="med"/>
                      <a:tailEnd type="none" w="med" len="med"/>
                    </a:lnT>
                    <a:lnB w="12700" cap="flat" cmpd="sng" algn="ctr">
                      <a:solidFill>
                        <a:srgbClr val="D9CEF5"/>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88</a:t>
            </a:r>
            <a:endParaRPr lang="en-US" sz="10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Що вивчати далі</a:t>
            </a:r>
            <a:endParaRPr lang="en-US" sz="3000" dirty="0"/>
          </a:p>
        </p:txBody>
      </p:sp>
      <p:sp>
        <p:nvSpPr>
          <p:cNvPr id="4" name="Shape 1"/>
          <p:cNvSpPr/>
          <p:nvPr/>
        </p:nvSpPr>
        <p:spPr>
          <a:xfrm>
            <a:off x="566928" y="1243584"/>
            <a:ext cx="11057839" cy="778764"/>
          </a:xfrm>
          <a:prstGeom prst="roundRect">
            <a:avLst>
              <a:gd name="adj" fmla="val 5871"/>
            </a:avLst>
          </a:prstGeom>
          <a:solidFill>
            <a:srgbClr val="F3EFFD"/>
          </a:solidFill>
          <a:ln w="9525">
            <a:solidFill>
              <a:srgbClr val="D9CEF5"/>
            </a:solidFill>
            <a:prstDash val="solid"/>
          </a:ln>
        </p:spPr>
      </p:sp>
      <p:sp>
        <p:nvSpPr>
          <p:cNvPr id="5" name="Shape 2"/>
          <p:cNvSpPr/>
          <p:nvPr/>
        </p:nvSpPr>
        <p:spPr>
          <a:xfrm>
            <a:off x="768096" y="1459230"/>
            <a:ext cx="347472" cy="347472"/>
          </a:xfrm>
          <a:prstGeom prst="ellipse">
            <a:avLst/>
          </a:prstGeom>
          <a:solidFill>
            <a:srgbClr val="512BD4"/>
          </a:solidFill>
          <a:ln/>
        </p:spPr>
      </p:sp>
      <p:sp>
        <p:nvSpPr>
          <p:cNvPr id="6" name="Text 3"/>
          <p:cNvSpPr txBox="1"/>
          <p:nvPr/>
        </p:nvSpPr>
        <p:spPr>
          <a:xfrm>
            <a:off x="768096" y="145923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4"/>
          <p:cNvSpPr txBox="1"/>
          <p:nvPr/>
        </p:nvSpPr>
        <p:spPr>
          <a:xfrm>
            <a:off x="1298448" y="1243584"/>
            <a:ext cx="10097719" cy="77876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Доступ до даних   </a:t>
            </a:r>
            <a:pPr indent="0" marL="0">
              <a:buNone/>
            </a:pPr>
            <a:r>
              <a:rPr lang="en-US" sz="1250" dirty="0">
                <a:solidFill>
                  <a:srgbClr val="6E6785"/>
                </a:solidFill>
                <a:latin typeface="Calibri" pitchFamily="34" charset="0"/>
                <a:ea typeface="Calibri" pitchFamily="34" charset="-122"/>
                <a:cs typeface="Calibri" pitchFamily="34" charset="-120"/>
              </a:rPr>
              <a:t>EntityFramework Core, Dapper; міграції, транзакції, патерн репозиторію</a:t>
            </a:r>
            <a:endParaRPr lang="en-US" sz="1500" dirty="0"/>
          </a:p>
        </p:txBody>
      </p:sp>
      <p:sp>
        <p:nvSpPr>
          <p:cNvPr id="8" name="Shape 5"/>
          <p:cNvSpPr/>
          <p:nvPr/>
        </p:nvSpPr>
        <p:spPr>
          <a:xfrm>
            <a:off x="566928" y="2104644"/>
            <a:ext cx="11057839" cy="778764"/>
          </a:xfrm>
          <a:prstGeom prst="roundRect">
            <a:avLst>
              <a:gd name="adj" fmla="val 5871"/>
            </a:avLst>
          </a:prstGeom>
          <a:solidFill>
            <a:srgbClr val="F3EFFD"/>
          </a:solidFill>
          <a:ln w="9525">
            <a:solidFill>
              <a:srgbClr val="D9CEF5"/>
            </a:solidFill>
            <a:prstDash val="solid"/>
          </a:ln>
        </p:spPr>
      </p:sp>
      <p:sp>
        <p:nvSpPr>
          <p:cNvPr id="9" name="Shape 6"/>
          <p:cNvSpPr/>
          <p:nvPr/>
        </p:nvSpPr>
        <p:spPr>
          <a:xfrm>
            <a:off x="768096" y="2320290"/>
            <a:ext cx="347472" cy="347472"/>
          </a:xfrm>
          <a:prstGeom prst="ellipse">
            <a:avLst/>
          </a:prstGeom>
          <a:solidFill>
            <a:srgbClr val="512BD4"/>
          </a:solidFill>
          <a:ln/>
        </p:spPr>
      </p:sp>
      <p:sp>
        <p:nvSpPr>
          <p:cNvPr id="10" name="Text 7"/>
          <p:cNvSpPr txBox="1"/>
          <p:nvPr/>
        </p:nvSpPr>
        <p:spPr>
          <a:xfrm>
            <a:off x="768096" y="232029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8"/>
          <p:cNvSpPr txBox="1"/>
          <p:nvPr/>
        </p:nvSpPr>
        <p:spPr>
          <a:xfrm>
            <a:off x="1298448" y="2104644"/>
            <a:ext cx="10097719" cy="77876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Реалтайм і RPC   </a:t>
            </a:r>
            <a:pPr indent="0" marL="0">
              <a:buNone/>
            </a:pPr>
            <a:r>
              <a:rPr lang="en-US" sz="1250" dirty="0">
                <a:solidFill>
                  <a:srgbClr val="6E6785"/>
                </a:solidFill>
                <a:latin typeface="Calibri" pitchFamily="34" charset="0"/>
                <a:ea typeface="Calibri" pitchFamily="34" charset="-122"/>
                <a:cs typeface="Calibri" pitchFamily="34" charset="-120"/>
              </a:rPr>
              <a:t>SignalR (WebSockets), gRPC, gRPC-Web</a:t>
            </a:r>
            <a:endParaRPr lang="en-US" sz="1500" dirty="0"/>
          </a:p>
        </p:txBody>
      </p:sp>
      <p:sp>
        <p:nvSpPr>
          <p:cNvPr id="12" name="Shape 9"/>
          <p:cNvSpPr/>
          <p:nvPr/>
        </p:nvSpPr>
        <p:spPr>
          <a:xfrm>
            <a:off x="566928" y="2965704"/>
            <a:ext cx="11057839" cy="778764"/>
          </a:xfrm>
          <a:prstGeom prst="roundRect">
            <a:avLst>
              <a:gd name="adj" fmla="val 5871"/>
            </a:avLst>
          </a:prstGeom>
          <a:solidFill>
            <a:srgbClr val="F3EFFD"/>
          </a:solidFill>
          <a:ln w="9525">
            <a:solidFill>
              <a:srgbClr val="D9CEF5"/>
            </a:solidFill>
            <a:prstDash val="solid"/>
          </a:ln>
        </p:spPr>
      </p:sp>
      <p:sp>
        <p:nvSpPr>
          <p:cNvPr id="13" name="Shape 10"/>
          <p:cNvSpPr/>
          <p:nvPr/>
        </p:nvSpPr>
        <p:spPr>
          <a:xfrm>
            <a:off x="768096" y="3181350"/>
            <a:ext cx="347472" cy="347472"/>
          </a:xfrm>
          <a:prstGeom prst="ellipse">
            <a:avLst/>
          </a:prstGeom>
          <a:solidFill>
            <a:srgbClr val="512BD4"/>
          </a:solidFill>
          <a:ln/>
        </p:spPr>
      </p:sp>
      <p:sp>
        <p:nvSpPr>
          <p:cNvPr id="14" name="Text 11"/>
          <p:cNvSpPr txBox="1"/>
          <p:nvPr/>
        </p:nvSpPr>
        <p:spPr>
          <a:xfrm>
            <a:off x="768096" y="318135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txBox="1"/>
          <p:nvPr/>
        </p:nvSpPr>
        <p:spPr>
          <a:xfrm>
            <a:off x="1298448" y="2965704"/>
            <a:ext cx="10097719" cy="77876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UI   </a:t>
            </a:r>
            <a:pPr indent="0" marL="0">
              <a:buNone/>
            </a:pPr>
            <a:r>
              <a:rPr lang="en-US" sz="1250" dirty="0">
                <a:solidFill>
                  <a:srgbClr val="6E6785"/>
                </a:solidFill>
                <a:latin typeface="Calibri" pitchFamily="34" charset="0"/>
                <a:ea typeface="Calibri" pitchFamily="34" charset="-122"/>
                <a:cs typeface="Calibri" pitchFamily="34" charset="-120"/>
              </a:rPr>
              <a:t>Blazor (Server / WebAssembly / United), Razor Pages, MVC Views</a:t>
            </a:r>
            <a:endParaRPr lang="en-US" sz="1500" dirty="0"/>
          </a:p>
        </p:txBody>
      </p:sp>
      <p:sp>
        <p:nvSpPr>
          <p:cNvPr id="16" name="Shape 13"/>
          <p:cNvSpPr/>
          <p:nvPr/>
        </p:nvSpPr>
        <p:spPr>
          <a:xfrm>
            <a:off x="566928" y="3826764"/>
            <a:ext cx="11057839" cy="778764"/>
          </a:xfrm>
          <a:prstGeom prst="roundRect">
            <a:avLst>
              <a:gd name="adj" fmla="val 5871"/>
            </a:avLst>
          </a:prstGeom>
          <a:solidFill>
            <a:srgbClr val="F3EFFD"/>
          </a:solidFill>
          <a:ln w="9525">
            <a:solidFill>
              <a:srgbClr val="D9CEF5"/>
            </a:solidFill>
            <a:prstDash val="solid"/>
          </a:ln>
        </p:spPr>
      </p:sp>
      <p:sp>
        <p:nvSpPr>
          <p:cNvPr id="17" name="Shape 14"/>
          <p:cNvSpPr/>
          <p:nvPr/>
        </p:nvSpPr>
        <p:spPr>
          <a:xfrm>
            <a:off x="768096" y="4042410"/>
            <a:ext cx="347472" cy="347472"/>
          </a:xfrm>
          <a:prstGeom prst="ellipse">
            <a:avLst/>
          </a:prstGeom>
          <a:solidFill>
            <a:srgbClr val="512BD4"/>
          </a:solidFill>
          <a:ln/>
        </p:spPr>
      </p:sp>
      <p:sp>
        <p:nvSpPr>
          <p:cNvPr id="18" name="Text 15"/>
          <p:cNvSpPr txBox="1"/>
          <p:nvPr/>
        </p:nvSpPr>
        <p:spPr>
          <a:xfrm>
            <a:off x="768096" y="404241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6"/>
          <p:cNvSpPr txBox="1"/>
          <p:nvPr/>
        </p:nvSpPr>
        <p:spPr>
          <a:xfrm>
            <a:off x="1298448" y="3826764"/>
            <a:ext cx="10097719" cy="77876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Продакшн   </a:t>
            </a:r>
            <a:pPr indent="0" marL="0">
              <a:buNone/>
            </a:pPr>
            <a:r>
              <a:rPr lang="en-US" sz="1250" dirty="0">
                <a:solidFill>
                  <a:srgbClr val="6E6785"/>
                </a:solidFill>
                <a:latin typeface="Calibri" pitchFamily="34" charset="0"/>
                <a:ea typeface="Calibri" pitchFamily="34" charset="-122"/>
                <a:cs typeface="Calibri" pitchFamily="34" charset="-120"/>
              </a:rPr>
              <a:t>деплой (Docker, Kubernetes, Azure), health checks, HTTPS/сертифікати</a:t>
            </a:r>
            <a:endParaRPr lang="en-US" sz="1500" dirty="0"/>
          </a:p>
        </p:txBody>
      </p:sp>
      <p:sp>
        <p:nvSpPr>
          <p:cNvPr id="20" name="Shape 17"/>
          <p:cNvSpPr/>
          <p:nvPr/>
        </p:nvSpPr>
        <p:spPr>
          <a:xfrm>
            <a:off x="566928" y="4687824"/>
            <a:ext cx="11057839" cy="778764"/>
          </a:xfrm>
          <a:prstGeom prst="roundRect">
            <a:avLst>
              <a:gd name="adj" fmla="val 5871"/>
            </a:avLst>
          </a:prstGeom>
          <a:solidFill>
            <a:srgbClr val="F3EFFD"/>
          </a:solidFill>
          <a:ln w="9525">
            <a:solidFill>
              <a:srgbClr val="D9CEF5"/>
            </a:solidFill>
            <a:prstDash val="solid"/>
          </a:ln>
        </p:spPr>
      </p:sp>
      <p:sp>
        <p:nvSpPr>
          <p:cNvPr id="21" name="Shape 18"/>
          <p:cNvSpPr/>
          <p:nvPr/>
        </p:nvSpPr>
        <p:spPr>
          <a:xfrm>
            <a:off x="768096" y="4903470"/>
            <a:ext cx="347472" cy="347472"/>
          </a:xfrm>
          <a:prstGeom prst="ellipse">
            <a:avLst/>
          </a:prstGeom>
          <a:solidFill>
            <a:srgbClr val="512BD4"/>
          </a:solidFill>
          <a:ln/>
        </p:spPr>
      </p:sp>
      <p:sp>
        <p:nvSpPr>
          <p:cNvPr id="22" name="Text 19"/>
          <p:cNvSpPr txBox="1"/>
          <p:nvPr/>
        </p:nvSpPr>
        <p:spPr>
          <a:xfrm>
            <a:off x="768096" y="490347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0"/>
          <p:cNvSpPr txBox="1"/>
          <p:nvPr/>
        </p:nvSpPr>
        <p:spPr>
          <a:xfrm>
            <a:off x="1298448" y="4687824"/>
            <a:ext cx="10097719" cy="77876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Спостережуваність   </a:t>
            </a:r>
            <a:pPr indent="0" marL="0">
              <a:buNone/>
            </a:pPr>
            <a:r>
              <a:rPr lang="en-US" sz="1250" dirty="0">
                <a:solidFill>
                  <a:srgbClr val="6E6785"/>
                </a:solidFill>
                <a:latin typeface="Calibri" pitchFamily="34" charset="0"/>
                <a:ea typeface="Calibri" pitchFamily="34" charset="-122"/>
                <a:cs typeface="Calibri" pitchFamily="34" charset="-120"/>
              </a:rPr>
              <a:t>структуроване логування (Serilog), OpenTelemetry, метрики, розподілене трасування</a:t>
            </a:r>
            <a:endParaRPr lang="en-US" sz="1500" dirty="0"/>
          </a:p>
        </p:txBody>
      </p:sp>
      <p:sp>
        <p:nvSpPr>
          <p:cNvPr id="24" name="Shape 21"/>
          <p:cNvSpPr/>
          <p:nvPr/>
        </p:nvSpPr>
        <p:spPr>
          <a:xfrm>
            <a:off x="566928" y="5548884"/>
            <a:ext cx="11057839" cy="778764"/>
          </a:xfrm>
          <a:prstGeom prst="roundRect">
            <a:avLst>
              <a:gd name="adj" fmla="val 5871"/>
            </a:avLst>
          </a:prstGeom>
          <a:solidFill>
            <a:srgbClr val="F3EFFD"/>
          </a:solidFill>
          <a:ln w="9525">
            <a:solidFill>
              <a:srgbClr val="D9CEF5"/>
            </a:solidFill>
            <a:prstDash val="solid"/>
          </a:ln>
        </p:spPr>
      </p:sp>
      <p:sp>
        <p:nvSpPr>
          <p:cNvPr id="25" name="Shape 22"/>
          <p:cNvSpPr/>
          <p:nvPr/>
        </p:nvSpPr>
        <p:spPr>
          <a:xfrm>
            <a:off x="768096" y="5764530"/>
            <a:ext cx="347472" cy="347472"/>
          </a:xfrm>
          <a:prstGeom prst="ellipse">
            <a:avLst/>
          </a:prstGeom>
          <a:solidFill>
            <a:srgbClr val="512BD4"/>
          </a:solidFill>
          <a:ln/>
        </p:spPr>
      </p:sp>
      <p:sp>
        <p:nvSpPr>
          <p:cNvPr id="26" name="Text 23"/>
          <p:cNvSpPr txBox="1"/>
          <p:nvPr/>
        </p:nvSpPr>
        <p:spPr>
          <a:xfrm>
            <a:off x="768096" y="576453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4"/>
          <p:cNvSpPr txBox="1"/>
          <p:nvPr/>
        </p:nvSpPr>
        <p:spPr>
          <a:xfrm>
            <a:off x="1298448" y="5548884"/>
            <a:ext cx="10097719" cy="778764"/>
          </a:xfrm>
          <a:prstGeom prst="rect">
            <a:avLst/>
          </a:prstGeom>
          <a:noFill/>
          <a:ln/>
        </p:spPr>
        <p:txBody>
          <a:bodyPr wrap="square" lIns="0" tIns="0" rIns="0" bIns="0" rtlCol="0" anchor="ctr"/>
          <a:lstStyle/>
          <a:p>
            <a:pPr indent="0" marL="0">
              <a:buNone/>
            </a:pPr>
            <a:r>
              <a:rPr lang="en-US" sz="1500" b="1" dirty="0">
                <a:solidFill>
                  <a:srgbClr val="241C3B"/>
                </a:solidFill>
                <a:latin typeface="Calibri" pitchFamily="34" charset="0"/>
                <a:ea typeface="Calibri" pitchFamily="34" charset="-122"/>
                <a:cs typeface="Calibri" pitchFamily="34" charset="-120"/>
              </a:rPr>
              <a:t>Стійкість   </a:t>
            </a:r>
            <a:pPr indent="0" marL="0">
              <a:buNone/>
            </a:pPr>
            <a:r>
              <a:rPr lang="en-US" sz="1250" dirty="0">
                <a:solidFill>
                  <a:srgbClr val="6E6785"/>
                </a:solidFill>
                <a:latin typeface="Calibri" pitchFamily="34" charset="0"/>
                <a:ea typeface="Calibri" pitchFamily="34" charset="-122"/>
                <a:cs typeface="Calibri" pitchFamily="34" charset="-120"/>
              </a:rPr>
              <a:t>Polly (retry, circuit breaker), rate limiting, кешування (Redis, HybridCache)</a:t>
            </a:r>
            <a:endParaRPr lang="en-US" sz="1500" dirty="0"/>
          </a:p>
        </p:txBody>
      </p:sp>
      <p:sp>
        <p:nvSpPr>
          <p:cNvPr id="28" name="Text 25"/>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89</a:t>
            </a:r>
            <a:endParaRPr lang="en-US" sz="10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84048"/>
            <a:ext cx="11057839" cy="685800"/>
          </a:xfrm>
          <a:prstGeom prst="rect">
            <a:avLst/>
          </a:prstGeom>
          <a:noFill/>
          <a:ln/>
        </p:spPr>
        <p:txBody>
          <a:bodyPr wrap="square" lIns="0" tIns="0" rIns="0" bIns="0" rtlCol="0" anchor="ctr"/>
          <a:lstStyle/>
          <a:p>
            <a:pPr indent="0" marL="0">
              <a:buNone/>
            </a:pPr>
            <a:r>
              <a:rPr lang="en-US" sz="3000" b="1" dirty="0">
                <a:solidFill>
                  <a:srgbClr val="241C3B"/>
                </a:solidFill>
                <a:latin typeface="Cambria" pitchFamily="34" charset="0"/>
                <a:ea typeface="Cambria" pitchFamily="34" charset="-122"/>
                <a:cs typeface="Cambria" pitchFamily="34" charset="-120"/>
              </a:rPr>
              <a:t>Посилання</a:t>
            </a:r>
            <a:endParaRPr lang="en-US" sz="3000" dirty="0"/>
          </a:p>
        </p:txBody>
      </p:sp>
      <p:sp>
        <p:nvSpPr>
          <p:cNvPr id="4" name="Text 1"/>
          <p:cNvSpPr txBox="1"/>
          <p:nvPr/>
        </p:nvSpPr>
        <p:spPr>
          <a:xfrm>
            <a:off x="566928" y="1243584"/>
            <a:ext cx="5300320" cy="365760"/>
          </a:xfrm>
          <a:prstGeom prst="rect">
            <a:avLst/>
          </a:prstGeom>
          <a:noFill/>
          <a:ln/>
        </p:spPr>
        <p:txBody>
          <a:bodyPr wrap="square" lIns="0" tIns="0" rIns="0" bIns="0" rtlCol="0" anchor="ctr"/>
          <a:lstStyle/>
          <a:p>
            <a:pPr indent="0" marL="0">
              <a:buNone/>
            </a:pPr>
            <a:r>
              <a:rPr lang="en-US" sz="1400" b="1" dirty="0">
                <a:solidFill>
                  <a:srgbClr val="512BD4"/>
                </a:solidFill>
                <a:latin typeface="Calibri" pitchFamily="34" charset="0"/>
                <a:ea typeface="Calibri" pitchFamily="34" charset="-122"/>
                <a:cs typeface="Calibri" pitchFamily="34" charset="-120"/>
              </a:rPr>
              <a:t>Офіційна документація</a:t>
            </a:r>
            <a:endParaRPr lang="en-US" sz="1400" dirty="0"/>
          </a:p>
        </p:txBody>
      </p:sp>
      <p:sp>
        <p:nvSpPr>
          <p:cNvPr id="5" name="Text 2"/>
          <p:cNvSpPr txBox="1"/>
          <p:nvPr/>
        </p:nvSpPr>
        <p:spPr>
          <a:xfrm>
            <a:off x="566928" y="1655064"/>
            <a:ext cx="5300320" cy="1828800"/>
          </a:xfrm>
          <a:prstGeom prst="rect">
            <a:avLst/>
          </a:prstGeom>
          <a:noFill/>
          <a:ln/>
        </p:spPr>
        <p:txBody>
          <a:bodyPr wrap="square" lIns="0" tIns="0" rIns="0" bIns="0" rtlCol="0" anchor="ctr"/>
          <a:lstStyle/>
          <a:p>
            <a:pPr marL="127000" indent="-127000">
              <a:spcAft>
                <a:spcPts val="500"/>
              </a:spcAft>
              <a:buSzPct val="100000"/>
              <a:buChar char="•"/>
            </a:pPr>
            <a:r>
              <a:rPr lang="en-US" sz="1150" dirty="0">
                <a:solidFill>
                  <a:srgbClr val="241C3B"/>
                </a:solidFill>
                <a:latin typeface="Calibri" pitchFamily="34" charset="0"/>
                <a:ea typeface="Calibri" pitchFamily="34" charset="-122"/>
                <a:cs typeface="Calibri" pitchFamily="34" charset="-120"/>
              </a:rPr>
              <a:t>learn.microsoft.com/aspnet/core — Fundamentals</a:t>
            </a:r>
            <a:endParaRPr lang="en-US" sz="1150" dirty="0"/>
          </a:p>
          <a:p>
            <a:pPr marL="127000" indent="-127000">
              <a:spcAft>
                <a:spcPts val="500"/>
              </a:spcAft>
              <a:buSzPct val="100000"/>
              <a:buChar char="•"/>
            </a:pPr>
            <a:r>
              <a:rPr lang="en-US" sz="1150" dirty="0">
                <a:solidFill>
                  <a:srgbClr val="241C3B"/>
                </a:solidFill>
                <a:latin typeface="Calibri" pitchFamily="34" charset="0"/>
                <a:ea typeface="Calibri" pitchFamily="34" charset="-122"/>
                <a:cs typeface="Calibri" pitchFamily="34" charset="-120"/>
              </a:rPr>
              <a:t>Middleware · Dependency injection · Configuration</a:t>
            </a:r>
            <a:endParaRPr lang="en-US" sz="1150" dirty="0"/>
          </a:p>
          <a:p>
            <a:pPr marL="127000" indent="-127000">
              <a:spcAft>
                <a:spcPts val="500"/>
              </a:spcAft>
              <a:buSzPct val="100000"/>
              <a:buChar char="•"/>
            </a:pPr>
            <a:r>
              <a:rPr lang="en-US" sz="1150" dirty="0">
                <a:solidFill>
                  <a:srgbClr val="241C3B"/>
                </a:solidFill>
                <a:latin typeface="Calibri" pitchFamily="34" charset="0"/>
                <a:ea typeface="Calibri" pitchFamily="34" charset="-122"/>
                <a:cs typeface="Calibri" pitchFamily="34" charset="-120"/>
              </a:rPr>
              <a:t>Routing · Minimal APIs · Web API with controllers</a:t>
            </a:r>
            <a:endParaRPr lang="en-US" sz="1150" dirty="0"/>
          </a:p>
          <a:p>
            <a:pPr marL="127000" indent="-127000">
              <a:spcAft>
                <a:spcPts val="500"/>
              </a:spcAft>
              <a:buSzPct val="100000"/>
              <a:buChar char="•"/>
            </a:pPr>
            <a:r>
              <a:rPr lang="en-US" sz="1150" dirty="0">
                <a:solidFill>
                  <a:srgbClr val="241C3B"/>
                </a:solidFill>
                <a:latin typeface="Calibri" pitchFamily="34" charset="0"/>
                <a:ea typeface="Calibri" pitchFamily="34" charset="-122"/>
                <a:cs typeface="Calibri" pitchFamily="34" charset="-120"/>
              </a:rPr>
              <a:t>OpenAPI · Testing · Security / Authentication</a:t>
            </a:r>
            <a:endParaRPr lang="en-US" sz="1150" dirty="0"/>
          </a:p>
        </p:txBody>
      </p:sp>
      <p:sp>
        <p:nvSpPr>
          <p:cNvPr id="6" name="Text 3"/>
          <p:cNvSpPr txBox="1"/>
          <p:nvPr/>
        </p:nvSpPr>
        <p:spPr>
          <a:xfrm>
            <a:off x="6324448" y="1243584"/>
            <a:ext cx="5300320" cy="365760"/>
          </a:xfrm>
          <a:prstGeom prst="rect">
            <a:avLst/>
          </a:prstGeom>
          <a:noFill/>
          <a:ln/>
        </p:spPr>
        <p:txBody>
          <a:bodyPr wrap="square" lIns="0" tIns="0" rIns="0" bIns="0" rtlCol="0" anchor="ctr"/>
          <a:lstStyle/>
          <a:p>
            <a:pPr indent="0" marL="0">
              <a:buNone/>
            </a:pPr>
            <a:r>
              <a:rPr lang="en-US" sz="1400" b="1" dirty="0">
                <a:solidFill>
                  <a:srgbClr val="512BD4"/>
                </a:solidFill>
                <a:latin typeface="Calibri" pitchFamily="34" charset="0"/>
                <a:ea typeface="Calibri" pitchFamily="34" charset="-122"/>
                <a:cs typeface="Calibri" pitchFamily="34" charset="-120"/>
              </a:rPr>
              <a:t>Специфікації та посібники</a:t>
            </a:r>
            <a:endParaRPr lang="en-US" sz="1400" dirty="0"/>
          </a:p>
        </p:txBody>
      </p:sp>
      <p:sp>
        <p:nvSpPr>
          <p:cNvPr id="7" name="Text 4"/>
          <p:cNvSpPr txBox="1"/>
          <p:nvPr/>
        </p:nvSpPr>
        <p:spPr>
          <a:xfrm>
            <a:off x="6324448" y="1655064"/>
            <a:ext cx="5300320" cy="1828800"/>
          </a:xfrm>
          <a:prstGeom prst="rect">
            <a:avLst/>
          </a:prstGeom>
          <a:noFill/>
          <a:ln/>
        </p:spPr>
        <p:txBody>
          <a:bodyPr wrap="square" lIns="0" tIns="0" rIns="0" bIns="0" rtlCol="0" anchor="ctr"/>
          <a:lstStyle/>
          <a:p>
            <a:pPr marL="127000" indent="-127000">
              <a:spcAft>
                <a:spcPts val="500"/>
              </a:spcAft>
              <a:buSzPct val="100000"/>
              <a:buChar char="•"/>
            </a:pPr>
            <a:r>
              <a:rPr lang="en-US" sz="1150" dirty="0">
                <a:solidFill>
                  <a:srgbClr val="241C3B"/>
                </a:solidFill>
                <a:latin typeface="Calibri" pitchFamily="34" charset="0"/>
                <a:ea typeface="Calibri" pitchFamily="34" charset="-122"/>
                <a:cs typeface="Calibri" pitchFamily="34" charset="-120"/>
              </a:rPr>
              <a:t>RFC 9110 — HTTP Semantics (методи, коди, ETag)</a:t>
            </a:r>
            <a:endParaRPr lang="en-US" sz="1150" dirty="0"/>
          </a:p>
          <a:p>
            <a:pPr marL="127000" indent="-127000">
              <a:spcAft>
                <a:spcPts val="500"/>
              </a:spcAft>
              <a:buSzPct val="100000"/>
              <a:buChar char="•"/>
            </a:pPr>
            <a:r>
              <a:rPr lang="en-US" sz="1150" dirty="0">
                <a:solidFill>
                  <a:srgbClr val="241C3B"/>
                </a:solidFill>
                <a:latin typeface="Calibri" pitchFamily="34" charset="0"/>
                <a:ea typeface="Calibri" pitchFamily="34" charset="-122"/>
                <a:cs typeface="Calibri" pitchFamily="34" charset="-120"/>
              </a:rPr>
              <a:t>RFC 9457 — Problem Details · RFC 6902 / 7386 — PATCH</a:t>
            </a:r>
            <a:endParaRPr lang="en-US" sz="1150" dirty="0"/>
          </a:p>
          <a:p>
            <a:pPr marL="127000" indent="-127000">
              <a:spcAft>
                <a:spcPts val="500"/>
              </a:spcAft>
              <a:buSzPct val="100000"/>
              <a:buChar char="•"/>
            </a:pPr>
            <a:r>
              <a:rPr lang="en-US" sz="1150" dirty="0">
                <a:solidFill>
                  <a:srgbClr val="241C3B"/>
                </a:solidFill>
                <a:latin typeface="Calibri" pitchFamily="34" charset="0"/>
                <a:ea typeface="Calibri" pitchFamily="34" charset="-122"/>
                <a:cs typeface="Calibri" pitchFamily="34" charset="-120"/>
              </a:rPr>
              <a:t>RFC 8288 — Web Linking · RFC 8594 — Sunset</a:t>
            </a:r>
            <a:endParaRPr lang="en-US" sz="1150" dirty="0"/>
          </a:p>
          <a:p>
            <a:pPr marL="127000" indent="-127000">
              <a:spcAft>
                <a:spcPts val="500"/>
              </a:spcAft>
              <a:buSzPct val="100000"/>
              <a:buChar char="•"/>
            </a:pPr>
            <a:r>
              <a:rPr lang="en-US" sz="1150" dirty="0">
                <a:solidFill>
                  <a:srgbClr val="241C3B"/>
                </a:solidFill>
                <a:latin typeface="Calibri" pitchFamily="34" charset="0"/>
                <a:ea typeface="Calibri" pitchFamily="34" charset="-122"/>
                <a:cs typeface="Calibri" pitchFamily="34" charset="-120"/>
              </a:rPr>
              <a:t>github.com/microsoft/api-guidelines</a:t>
            </a:r>
            <a:endParaRPr lang="en-US" sz="1150" dirty="0"/>
          </a:p>
          <a:p>
            <a:pPr marL="127000" indent="-127000">
              <a:spcAft>
                <a:spcPts val="500"/>
              </a:spcAft>
              <a:buSzPct val="100000"/>
              <a:buChar char="•"/>
            </a:pPr>
            <a:r>
              <a:rPr lang="en-US" sz="1150" dirty="0">
                <a:solidFill>
                  <a:srgbClr val="241C3B"/>
                </a:solidFill>
                <a:latin typeface="Calibri" pitchFamily="34" charset="0"/>
                <a:ea typeface="Calibri" pitchFamily="34" charset="-122"/>
                <a:cs typeface="Calibri" pitchFamily="34" charset="-120"/>
              </a:rPr>
              <a:t>Fielding, розділ 5 — ics.uci.edu/~fielding/pubs/dissertation</a:t>
            </a:r>
            <a:endParaRPr lang="en-US" sz="1150" dirty="0"/>
          </a:p>
        </p:txBody>
      </p:sp>
      <p:sp>
        <p:nvSpPr>
          <p:cNvPr id="8" name="Text 5"/>
          <p:cNvSpPr txBox="1"/>
          <p:nvPr/>
        </p:nvSpPr>
        <p:spPr>
          <a:xfrm>
            <a:off x="11323015" y="6455664"/>
            <a:ext cx="548640" cy="274320"/>
          </a:xfrm>
          <a:prstGeom prst="rect">
            <a:avLst/>
          </a:prstGeom>
          <a:noFill/>
          <a:ln/>
        </p:spPr>
        <p:txBody>
          <a:bodyPr wrap="square" lIns="0" tIns="0" rIns="0" bIns="0" rtlCol="0" anchor="ctr"/>
          <a:lstStyle/>
          <a:p>
            <a:pPr algn="r" indent="0" marL="0">
              <a:buNone/>
            </a:pPr>
            <a:r>
              <a:rPr lang="en-US" sz="1000" dirty="0">
                <a:solidFill>
                  <a:srgbClr val="6E6785"/>
                </a:solidFill>
                <a:latin typeface="Calibri" pitchFamily="34" charset="0"/>
                <a:ea typeface="Calibri" pitchFamily="34" charset="-122"/>
                <a:cs typeface="Calibri" pitchFamily="34" charset="-120"/>
              </a:rPr>
              <a:t>90</a:t>
            </a:r>
            <a:endParaRPr lang="en-US" sz="10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1A1333"/>
        </a:solidFill>
      </p:bgPr>
    </p:bg>
    <p:spTree>
      <p:nvGrpSpPr>
        <p:cNvPr id="1" name=""/>
        <p:cNvGrpSpPr/>
        <p:nvPr/>
      </p:nvGrpSpPr>
      <p:grpSpPr>
        <a:xfrm>
          <a:off x="0" y="0"/>
          <a:ext cx="0" cy="0"/>
          <a:chOff x="0" y="0"/>
          <a:chExt cx="0" cy="0"/>
        </a:xfrm>
      </p:grpSpPr>
      <p:sp>
        <p:nvSpPr>
          <p:cNvPr id="3" name="Text 0"/>
          <p:cNvSpPr txBox="1"/>
          <p:nvPr/>
        </p:nvSpPr>
        <p:spPr>
          <a:xfrm>
            <a:off x="914400" y="2377440"/>
            <a:ext cx="10332720" cy="10972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Дякую за увагу</a:t>
            </a:r>
            <a:endParaRPr lang="en-US" sz="4800" dirty="0"/>
          </a:p>
        </p:txBody>
      </p:sp>
      <p:sp>
        <p:nvSpPr>
          <p:cNvPr id="4" name="Text 1"/>
          <p:cNvSpPr txBox="1"/>
          <p:nvPr/>
        </p:nvSpPr>
        <p:spPr>
          <a:xfrm>
            <a:off x="914400" y="3566160"/>
            <a:ext cx="10332720" cy="548640"/>
          </a:xfrm>
          <a:prstGeom prst="rect">
            <a:avLst/>
          </a:prstGeom>
          <a:noFill/>
          <a:ln/>
        </p:spPr>
        <p:txBody>
          <a:bodyPr wrap="square" lIns="0" tIns="0" rIns="0" bIns="0" rtlCol="0" anchor="ctr"/>
          <a:lstStyle/>
          <a:p>
            <a:pPr indent="0" marL="0">
              <a:buNone/>
            </a:pPr>
            <a:r>
              <a:rPr lang="en-US" sz="2200" dirty="0">
                <a:solidFill>
                  <a:srgbClr val="0E9C8E"/>
                </a:solidFill>
                <a:latin typeface="Calibri" pitchFamily="34" charset="0"/>
                <a:ea typeface="Calibri" pitchFamily="34" charset="-122"/>
                <a:cs typeface="Calibri" pitchFamily="34" charset="-120"/>
              </a:rPr>
              <a:t>Запитання?</a:t>
            </a:r>
            <a:endParaRPr lang="en-US" sz="2200" dirty="0"/>
          </a:p>
        </p:txBody>
      </p:sp>
      <p:sp>
        <p:nvSpPr>
          <p:cNvPr id="5" name="Text 2"/>
          <p:cNvSpPr txBox="1"/>
          <p:nvPr/>
        </p:nvSpPr>
        <p:spPr>
          <a:xfrm>
            <a:off x="914400" y="4297680"/>
            <a:ext cx="10332720" cy="457200"/>
          </a:xfrm>
          <a:prstGeom prst="rect">
            <a:avLst/>
          </a:prstGeom>
          <a:noFill/>
          <a:ln/>
        </p:spPr>
        <p:txBody>
          <a:bodyPr wrap="square" lIns="0" tIns="0" rIns="0" bIns="0" rtlCol="0" anchor="ctr"/>
          <a:lstStyle/>
          <a:p>
            <a:pPr indent="0" marL="0">
              <a:buNone/>
            </a:pPr>
            <a:r>
              <a:rPr lang="en-US" sz="1400" dirty="0">
                <a:solidFill>
                  <a:srgbClr val="E7DFFA"/>
                </a:solidFill>
                <a:latin typeface="Calibri" pitchFamily="34" charset="0"/>
                <a:ea typeface="Calibri" pitchFamily="34" charset="-122"/>
                <a:cs typeface="Calibri" pitchFamily="34" charset="-120"/>
              </a:rPr>
              <a:t>Практика: 21 приклад в одному solution — запускайте, читайте NOTES.md, експериментуйте.</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91</Slides>
  <Notes>91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91</vt:i4>
      </vt:variant>
    </vt:vector>
  </HeadingPairs>
  <TitlesOfParts>
    <vt:vector size="9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Основи ASP.NET Core — лекція</dc:title>
  <dc:subject>PptxGenJS Presentation</dc:subject>
  <dc:creator>AspNet-Basics</dc:creator>
  <cp:lastModifiedBy>AspNet-Basics</cp:lastModifiedBy>
  <cp:revision>1</cp:revision>
  <dcterms:created xsi:type="dcterms:W3CDTF">2026-09-03T21:09:31Z</dcterms:created>
  <dcterms:modified xsi:type="dcterms:W3CDTF">2026-09-03T21:09:31Z</dcterms:modified>
</cp:coreProperties>
</file>